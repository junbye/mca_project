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93" r:id="rId3"/>
    <p:sldId id="274" r:id="rId4"/>
    <p:sldId id="294" r:id="rId5"/>
    <p:sldId id="265" r:id="rId6"/>
    <p:sldId id="295" r:id="rId7"/>
    <p:sldId id="257" r:id="rId8"/>
    <p:sldId id="325" r:id="rId9"/>
    <p:sldId id="259" r:id="rId10"/>
    <p:sldId id="326" r:id="rId11"/>
    <p:sldId id="260" r:id="rId12"/>
    <p:sldId id="327" r:id="rId13"/>
    <p:sldId id="261" r:id="rId14"/>
    <p:sldId id="328" r:id="rId15"/>
    <p:sldId id="262" r:id="rId16"/>
    <p:sldId id="329" r:id="rId17"/>
    <p:sldId id="263" r:id="rId18"/>
    <p:sldId id="330" r:id="rId19"/>
    <p:sldId id="264" r:id="rId20"/>
    <p:sldId id="331" r:id="rId21"/>
    <p:sldId id="258" r:id="rId22"/>
    <p:sldId id="332" r:id="rId23"/>
    <p:sldId id="266" r:id="rId24"/>
    <p:sldId id="304" r:id="rId25"/>
    <p:sldId id="267" r:id="rId26"/>
    <p:sldId id="319" r:id="rId27"/>
    <p:sldId id="272" r:id="rId28"/>
    <p:sldId id="320" r:id="rId29"/>
    <p:sldId id="269" r:id="rId30"/>
    <p:sldId id="321" r:id="rId31"/>
    <p:sldId id="268" r:id="rId32"/>
    <p:sldId id="322" r:id="rId33"/>
    <p:sldId id="270" r:id="rId34"/>
    <p:sldId id="323" r:id="rId35"/>
    <p:sldId id="271" r:id="rId36"/>
    <p:sldId id="324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9"/>
    <p:restoredTop sz="94694"/>
  </p:normalViewPr>
  <p:slideViewPr>
    <p:cSldViewPr snapToGrid="0">
      <p:cViewPr varScale="1">
        <p:scale>
          <a:sx n="112" d="100"/>
          <a:sy n="112" d="100"/>
        </p:scale>
        <p:origin x="22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ED6F-2593-B104-3100-FADB2738A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3635D-DA44-BFA2-AE71-8AE395982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F30-62A0-45E3-A042-2656B8AA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F9986-C5F8-FF79-C1BB-603C735EF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96952-29B3-7BF8-9A11-1621F4E8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28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93EF-0295-E230-9703-1166D791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1B2F-22ED-F6D7-C302-0CAC072B8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A650E-A2DC-F25B-E004-3600152F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3797C-5113-CEF3-6016-56FA1A334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C991C-D989-8292-301D-93FA71DA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82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83DE-6CD4-66E6-C87E-4B38C4AB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0EFB7-967B-B641-CB0C-D615293FA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DD4B6-DDE9-EABD-0608-1DEDF08F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94D68-85BF-5A7A-4ED5-39986207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BCB3E-B205-261C-F3D8-36D2FBB8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15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05DD-FED3-7CAD-AE3B-B3233DB9B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34065-8A40-39F5-66E9-A7949515D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60C78-6280-A7EB-58DB-A122D5BBD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08742-7E1C-3673-5976-C9F9D072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C62A4-FF23-3786-3CD3-3C41FB6C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FC7A8-3BA2-06D3-4673-466AEAB4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740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DD72-2A3B-2AB8-3DF8-A642C39AE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B7F2E-A953-DEFC-2CEF-2FF04B77A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07D95-5A96-B70B-B07E-E03601E2B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B62AB9-14F3-A4B1-328D-32E4A42EF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248FB-B357-E260-1B25-DBD4BD497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F8F73-A5F3-A6F0-AE8F-11DA475A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6FCAB-1FDC-AF4C-A951-ED090924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C26FA-5868-CE96-B0A9-29A0150B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13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B45B-4B52-D49C-B28D-0CF0A768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2B524-4AC6-1CB9-DE23-2352B0D71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64F06-D431-39D3-1432-ECAC845EF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83C1F-E54C-BB45-5AD5-19B97C91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80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3BDA8-FAD0-6F00-E77D-A11DBDF4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79782-78D1-B8AE-2F8A-868E0DFF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9BBF3-8275-4D61-108C-73C0BCA8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12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7906-EF87-740C-F702-B4DBCAC4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07A6-BC6C-53B2-EF0D-D15503098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34B08-B3AC-0460-15C6-487D9829E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5E8F0-0D6C-8C53-CD91-A6826647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71A3E-8B45-2A36-6EDB-7C3EEDD2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5EB0B-E047-B77A-5D5D-0638F7A0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277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0428-06EA-6222-B7D0-E4C7E35A3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58DF35-B0C1-74AD-F5D6-87EFC8CD6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77CDD-578B-4CC8-E9BD-A048AB978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508CA-96E1-430F-A919-D8F3FE91F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BBFA7-983E-B9A0-C2F3-D3D073A9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E1927-D7D9-0FFA-8284-7055835C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19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E5E3-3B04-8E6B-32B7-57C9F7CA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EDBC5-D738-AA97-3C4B-958758D7B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238F3-8768-C9F8-6A54-6AB4C3BD2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CBFF3-3F57-BEC4-5E5D-5F82FA91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2D2E8-9055-8DC1-58FE-D72607BF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46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27716-E5DB-02A3-5C1F-6CC0FF7FE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60F78-DD03-C4A1-E6BF-611EC9F04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8B2D1-A842-063D-76BE-2038C0A1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1E7ED-3C35-D4D6-1372-D159A789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C3F2-52D4-56E5-72F8-A5D3A3F9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1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5CDF8-BE7A-FE6A-7EEF-B444E7CD1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6392E-3D8D-3E5C-5D59-5223CA799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6A5CE-E819-7E82-5368-18DADFAF8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9853A-AA0C-4732-843A-D930E611094B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5215B-DC6E-6E0F-989C-B1AF84E3E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E5DF2-F7C2-A0D7-6CAD-FC6253AFC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0B5AE-8BAB-45E3-8E28-D134DCC39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29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991F-C946-D607-6C84-D171F031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수집 안내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D19A2-5A8F-CCFF-A56F-3069F743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본 데이터 수집은 컴퓨터공학부 전공 수업 </a:t>
            </a:r>
            <a:r>
              <a:rPr lang="en-US" altLang="ko-KR"/>
              <a:t>‘</a:t>
            </a:r>
            <a:r>
              <a:rPr lang="ko-KR" altLang="en-US"/>
              <a:t>모바일 컴퓨팅과 응용</a:t>
            </a:r>
            <a:r>
              <a:rPr lang="en-US" altLang="ko-KR"/>
              <a:t>’ </a:t>
            </a:r>
            <a:r>
              <a:rPr lang="ko-KR" altLang="en-US"/>
              <a:t>수업의 프로젝트를 위한 용도입니다</a:t>
            </a:r>
            <a:endParaRPr lang="en-US" altLang="ko-KR"/>
          </a:p>
          <a:p>
            <a:r>
              <a:rPr lang="ko-KR" altLang="en-US"/>
              <a:t>프로젝트는 </a:t>
            </a:r>
            <a:r>
              <a:rPr lang="en-US" altLang="ko-KR"/>
              <a:t>on device(</a:t>
            </a:r>
            <a:r>
              <a:rPr lang="ko-KR" altLang="en-US"/>
              <a:t>모바일 기기상에서</a:t>
            </a:r>
            <a:r>
              <a:rPr lang="en-US" altLang="ko-KR"/>
              <a:t>) AI </a:t>
            </a:r>
            <a:r>
              <a:rPr lang="ko-KR" altLang="en-US"/>
              <a:t>모델 학습을 목표로 하며 이외의 용도로는 사용되지 않습니다</a:t>
            </a:r>
            <a:endParaRPr lang="en-US" altLang="ko-KR"/>
          </a:p>
          <a:p>
            <a:r>
              <a:rPr lang="ko-KR" altLang="en-US"/>
              <a:t>수집되는 데이터는 성명</a:t>
            </a:r>
            <a:r>
              <a:rPr lang="en-US" altLang="ko-KR"/>
              <a:t> </a:t>
            </a:r>
            <a:r>
              <a:rPr lang="ko-KR" altLang="en-US"/>
              <a:t>등의 개인정보 없이 무기명으로 저장되며 프로젝트 완료 후 폐기 예정입니다</a:t>
            </a:r>
          </a:p>
        </p:txBody>
      </p:sp>
    </p:spTree>
    <p:extLst>
      <p:ext uri="{BB962C8B-B14F-4D97-AF65-F5344CB8AC3E}">
        <p14:creationId xmlns:p14="http://schemas.microsoft.com/office/powerpoint/2010/main" val="237033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991F-C946-D607-6C84-D171F031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D19A2-5A8F-CCFF-A56F-3069F743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data collection is for a project in the Computer Science course ‘Mobile Computing and Applications’.</a:t>
            </a:r>
          </a:p>
          <a:p>
            <a:r>
              <a:rPr lang="en-US" dirty="0"/>
              <a:t>The project aims to train an on-device (on mobile) AI model and will not be used for any other purpose.</a:t>
            </a:r>
          </a:p>
          <a:p>
            <a:r>
              <a:rPr lang="en-US" dirty="0"/>
              <a:t>All collected data will be stored anonymously without any personal information (e.g., name) and will be discarded after the project is completed.</a:t>
            </a:r>
          </a:p>
        </p:txBody>
      </p:sp>
    </p:spTree>
    <p:extLst>
      <p:ext uri="{BB962C8B-B14F-4D97-AF65-F5344CB8AC3E}">
        <p14:creationId xmlns:p14="http://schemas.microsoft.com/office/powerpoint/2010/main" val="367988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0BE6-1F61-EBF3-72A2-A22C2B3F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D505-F43A-56D5-5825-D41DAA64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수집 안내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CECAD-5DE1-DCFC-DDAD-C14DBCD0D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수집하는 데이터는 목소리</a:t>
            </a:r>
            <a:r>
              <a:rPr lang="en-US" altLang="ko-KR"/>
              <a:t>, PPG(</a:t>
            </a:r>
            <a:r>
              <a:rPr lang="ko-KR" altLang="en-US"/>
              <a:t>혈류</a:t>
            </a:r>
            <a:r>
              <a:rPr lang="en-US" altLang="ko-KR"/>
              <a:t>) 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목소리는 스마트폰 마이크로 녹음되며 </a:t>
            </a:r>
            <a:r>
              <a:rPr lang="en-US" altLang="ko-KR"/>
              <a:t>PPG </a:t>
            </a:r>
            <a:r>
              <a:rPr lang="ko-KR" altLang="en-US"/>
              <a:t>데이터는 스마트폰 카메라</a:t>
            </a:r>
            <a:r>
              <a:rPr lang="en-US" altLang="ko-KR"/>
              <a:t>(+</a:t>
            </a:r>
            <a:r>
              <a:rPr lang="ko-KR" altLang="en-US"/>
              <a:t>스마트폰 후레쉬</a:t>
            </a:r>
            <a:r>
              <a:rPr lang="en-US" altLang="ko-KR"/>
              <a:t>)</a:t>
            </a:r>
            <a:r>
              <a:rPr lang="ko-KR" altLang="en-US"/>
              <a:t>로 측정됩니다</a:t>
            </a:r>
            <a:r>
              <a:rPr lang="en-US" altLang="ko-KR"/>
              <a:t>.</a:t>
            </a:r>
          </a:p>
          <a:p>
            <a:r>
              <a:rPr lang="ko-KR" altLang="en-US"/>
              <a:t>측정하는 동안에는 스마트폰 후레쉬를 손가락이 지나면서 후면 카메라에 얹힐 수 있도록 손가락을 올려주세요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도움주셔서 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701326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0BE6-1F61-EBF3-72A2-A22C2B3F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D505-F43A-56D5-5825-D41DAA64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Being Collected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CECAD-5DE1-DCFC-DDAD-C14DBCD0D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collected consists of voice and PPG (blood flow).</a:t>
            </a:r>
          </a:p>
          <a:p>
            <a:r>
              <a:rPr lang="en-US" dirty="0"/>
              <a:t>Voice will be recorded via the smartphone microphone, and PPG data will be measured using the smartphone camera (+ flashlight).</a:t>
            </a:r>
          </a:p>
          <a:p>
            <a:r>
              <a:rPr lang="en-US" dirty="0"/>
              <a:t>During measurement, please place your finger over the rear camera so that it covers the flashlight.</a:t>
            </a:r>
          </a:p>
          <a:p>
            <a:endParaRPr lang="en-US" dirty="0"/>
          </a:p>
          <a:p>
            <a:r>
              <a:rPr lang="en-US" dirty="0"/>
              <a:t>Thank you for your participation!</a:t>
            </a:r>
          </a:p>
        </p:txBody>
      </p:sp>
    </p:spTree>
    <p:extLst>
      <p:ext uri="{BB962C8B-B14F-4D97-AF65-F5344CB8AC3E}">
        <p14:creationId xmlns:p14="http://schemas.microsoft.com/office/powerpoint/2010/main" val="265450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B739-064B-93CC-7901-81748B64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Part</a:t>
            </a:r>
            <a:r>
              <a:rPr lang="ko-KR" altLang="en-US"/>
              <a:t> </a:t>
            </a:r>
            <a:r>
              <a:rPr lang="en-US" altLang="ko-KR"/>
              <a:t>A</a:t>
            </a:r>
            <a:r>
              <a:rPr lang="ko-KR" altLang="en-US"/>
              <a:t> 감정 발화</a:t>
            </a:r>
            <a:r>
              <a:rPr lang="en-US" altLang="ko-KR"/>
              <a:t>(15~20</a:t>
            </a:r>
            <a:r>
              <a:rPr lang="ko-KR" altLang="en-US"/>
              <a:t>초</a:t>
            </a:r>
            <a:r>
              <a:rPr lang="en-US" altLang="ko-KR"/>
              <a:t>/clip)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5593-44C9-971A-878D-76464B188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음성의 말투</a:t>
            </a:r>
            <a:r>
              <a:rPr lang="en-US" altLang="ko-KR"/>
              <a:t>, </a:t>
            </a:r>
            <a:r>
              <a:rPr lang="ko-KR" altLang="en-US"/>
              <a:t>톤</a:t>
            </a:r>
            <a:r>
              <a:rPr lang="en-US" altLang="ko-KR"/>
              <a:t>, </a:t>
            </a:r>
            <a:r>
              <a:rPr lang="ko-KR" altLang="en-US"/>
              <a:t>리듬만으로 감정을 담아 발화해주십시오</a:t>
            </a:r>
            <a:r>
              <a:rPr lang="en-US" altLang="ko-KR"/>
              <a:t> (</a:t>
            </a:r>
            <a:r>
              <a:rPr lang="ko-KR" altLang="en-US"/>
              <a:t>총 </a:t>
            </a:r>
            <a:r>
              <a:rPr lang="en-US" altLang="ko-KR"/>
              <a:t>8</a:t>
            </a:r>
            <a:r>
              <a:rPr lang="ko-KR" altLang="en-US"/>
              <a:t>감정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en-US" altLang="ko-KR"/>
              <a:t>Netural</a:t>
            </a:r>
          </a:p>
          <a:p>
            <a:r>
              <a:rPr lang="en-US" altLang="ko-KR"/>
              <a:t>Happy</a:t>
            </a:r>
          </a:p>
          <a:p>
            <a:r>
              <a:rPr lang="en-US" altLang="ko-KR"/>
              <a:t>Sad</a:t>
            </a:r>
          </a:p>
          <a:p>
            <a:r>
              <a:rPr lang="en-US" altLang="ko-KR"/>
              <a:t>Surprise</a:t>
            </a:r>
          </a:p>
          <a:p>
            <a:r>
              <a:rPr lang="en-US" altLang="ko-KR"/>
              <a:t>Fear</a:t>
            </a:r>
          </a:p>
          <a:p>
            <a:r>
              <a:rPr lang="en-US" altLang="ko-KR"/>
              <a:t>Disgust</a:t>
            </a:r>
          </a:p>
          <a:p>
            <a:r>
              <a:rPr lang="en-US" altLang="ko-KR"/>
              <a:t>Anger</a:t>
            </a:r>
          </a:p>
          <a:p>
            <a:r>
              <a:rPr lang="en-US" altLang="ko-KR"/>
              <a:t>Contempt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77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B739-064B-93CC-7901-81748B64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/>
              <a:t>Part A  Emotional Speech (15~20 sec/clip)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5593-44C9-971A-878D-76464B188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Please read the script conveying the emotion through your tone, pitch, and rhythm only (8 emotions total)</a:t>
            </a:r>
          </a:p>
          <a:p>
            <a:endParaRPr lang="en-US" dirty="0"/>
          </a:p>
          <a:p>
            <a:r>
              <a:rPr lang="en-US" dirty="0"/>
              <a:t>Neutral</a:t>
            </a:r>
          </a:p>
          <a:p>
            <a:r>
              <a:rPr lang="en-US" dirty="0"/>
              <a:t>Happy</a:t>
            </a:r>
          </a:p>
          <a:p>
            <a:r>
              <a:rPr lang="en-US" dirty="0"/>
              <a:t>Sad</a:t>
            </a:r>
          </a:p>
          <a:p>
            <a:r>
              <a:rPr lang="en-US" dirty="0"/>
              <a:t>Surprise</a:t>
            </a:r>
          </a:p>
          <a:p>
            <a:r>
              <a:rPr lang="en-US" dirty="0"/>
              <a:t>Fear</a:t>
            </a:r>
          </a:p>
          <a:p>
            <a:r>
              <a:rPr lang="en-US" dirty="0"/>
              <a:t>Disgust</a:t>
            </a:r>
          </a:p>
          <a:p>
            <a:r>
              <a:rPr lang="en-US" dirty="0"/>
              <a:t>Anger</a:t>
            </a:r>
          </a:p>
          <a:p>
            <a:r>
              <a:rPr lang="en-US" dirty="0"/>
              <a:t>Contempt</a:t>
            </a:r>
          </a:p>
        </p:txBody>
      </p:sp>
    </p:spTree>
    <p:extLst>
      <p:ext uri="{BB962C8B-B14F-4D97-AF65-F5344CB8AC3E}">
        <p14:creationId xmlns:p14="http://schemas.microsoft.com/office/powerpoint/2010/main" val="226498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2A29-7171-DC1F-3A83-6ACA1444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Neutral(</a:t>
            </a:r>
            <a:r>
              <a:rPr lang="ko-KR" altLang="en-US"/>
              <a:t>중립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뉴스 앵커처럼 담담하게</a:t>
            </a:r>
            <a:r>
              <a:rPr lang="en-US" altLang="ko-KR"/>
              <a:t>, </a:t>
            </a:r>
            <a:r>
              <a:rPr lang="ko-KR" altLang="en-US"/>
              <a:t>감정 없이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D51F7-606C-852A-68FF-BF4CEBF36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오늘 저녁에 그 사람을 만나기로 했어요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ko-KR" altLang="en-US" sz="4400"/>
              <a:t>약속 장소는 강남역 근처고</a:t>
            </a:r>
            <a:r>
              <a:rPr lang="en-US" altLang="ko-KR" sz="4400"/>
              <a:t>, </a:t>
            </a:r>
            <a:r>
              <a:rPr lang="ko-KR" altLang="en-US" sz="4400"/>
              <a:t>시간은 일곱 시예요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en-US" altLang="ko-KR" sz="4400"/>
              <a:t> </a:t>
            </a:r>
            <a:r>
              <a:rPr lang="ko-KR" altLang="en-US" sz="4400"/>
              <a:t>만나서 같이 저녁을 먹고 영화를 볼 생각이에요</a:t>
            </a:r>
            <a:r>
              <a:rPr lang="en-US" altLang="ko-KR" sz="4400"/>
              <a:t>.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333469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2A29-7171-DC1F-3A83-6ACA1444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Neutral
Like a news anchor — calm, no emotion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D51F7-606C-852A-68FF-BF4CEBF36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I'm meeting that person this evening.</a:t>
            </a:r>
          </a:p>
          <a:p>
            <a:pPr marL="0" indent="0">
              <a:buNone/>
            </a:pPr>
            <a:r>
              <a:rPr lang="en-US" sz="2800" dirty="0"/>
              <a:t>The meeting place is near Gangnam Station, </a:t>
            </a:r>
          </a:p>
          <a:p>
            <a:pPr marL="0" indent="0">
              <a:buNone/>
            </a:pPr>
            <a:r>
              <a:rPr lang="en-US" sz="2800" dirty="0"/>
              <a:t>and the time is seven o'clock.</a:t>
            </a:r>
          </a:p>
          <a:p>
            <a:pPr marL="0" indent="0">
              <a:buNone/>
            </a:pPr>
            <a:r>
              <a:rPr lang="en-US" sz="2800" dirty="0"/>
              <a:t>We're planning to have dinner together and watch a movie.</a:t>
            </a:r>
          </a:p>
        </p:txBody>
      </p:sp>
    </p:spTree>
    <p:extLst>
      <p:ext uri="{BB962C8B-B14F-4D97-AF65-F5344CB8AC3E}">
        <p14:creationId xmlns:p14="http://schemas.microsoft.com/office/powerpoint/2010/main" val="1455369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743A-E845-DCD5-DC2D-A325F4A7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BADF-236F-2C79-EF86-27133509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Happy(</a:t>
            </a:r>
            <a:r>
              <a:rPr lang="ko-KR" altLang="en-US"/>
              <a:t>행복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미소 짓고 밝은 톤으로</a:t>
            </a:r>
            <a:r>
              <a:rPr lang="en-US" altLang="ko-KR"/>
              <a:t>, </a:t>
            </a:r>
            <a:r>
              <a:rPr lang="ko-KR" altLang="en-US"/>
              <a:t>들뜬 느낌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07EE8-7203-7263-BE49-C09A7E213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오늘 저녁에 그 사람을 만나기로 했어요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ko-KR" altLang="en-US" sz="4400"/>
              <a:t>약속 장소는 강남역 근처고</a:t>
            </a:r>
            <a:r>
              <a:rPr lang="en-US" altLang="ko-KR" sz="4400"/>
              <a:t>, </a:t>
            </a:r>
            <a:r>
              <a:rPr lang="ko-KR" altLang="en-US" sz="4400"/>
              <a:t>시간은 일곱 시예요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en-US" altLang="ko-KR" sz="4400"/>
              <a:t> </a:t>
            </a:r>
            <a:r>
              <a:rPr lang="ko-KR" altLang="en-US" sz="4400"/>
              <a:t>만나서 같이 저녁을 먹고 영화를 볼 생각이에요</a:t>
            </a:r>
            <a:r>
              <a:rPr lang="en-US" altLang="ko-KR" sz="4400"/>
              <a:t>.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11718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743A-E845-DCD5-DC2D-A325F4A7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BADF-236F-2C79-EF86-27133509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Happy
Smile, bright tone, excited feeling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21E494-4560-5F54-6B58-C2C502088CE6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I'm meeting that person this evening.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The meeting place is near Gangnam Station,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and the time is seven o'clock.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We're planning to have dinner together and watch a movie.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027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714D-8903-8E51-AB7B-E6BA4EC17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ABFC-C949-655A-55ED-9EFE6991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Sad(</a:t>
            </a:r>
            <a:r>
              <a:rPr lang="ko-KR" altLang="en-US"/>
              <a:t>슬픔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낮고 느린 톤</a:t>
            </a:r>
            <a:r>
              <a:rPr lang="en-US" altLang="ko-KR"/>
              <a:t>, </a:t>
            </a:r>
            <a:r>
              <a:rPr lang="ko-KR" altLang="en-US"/>
              <a:t>한숨 섞인 느낌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8CB3-661F-35AC-8939-471464564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오늘 저녁에 그 사람을 만나기로 했어요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ko-KR" altLang="en-US" sz="4400"/>
              <a:t>약속 장소는 강남역 근처고</a:t>
            </a:r>
            <a:r>
              <a:rPr lang="en-US" altLang="ko-KR" sz="4400"/>
              <a:t>, </a:t>
            </a:r>
            <a:r>
              <a:rPr lang="ko-KR" altLang="en-US" sz="4400"/>
              <a:t>시간은 일곱 시예요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en-US" altLang="ko-KR" sz="4400"/>
              <a:t> </a:t>
            </a:r>
            <a:r>
              <a:rPr lang="ko-KR" altLang="en-US" sz="4400"/>
              <a:t>만나서 같이 저녁을 먹고 영화를 볼 생각이에요</a:t>
            </a:r>
            <a:r>
              <a:rPr lang="en-US" altLang="ko-KR" sz="4400"/>
              <a:t>.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701567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714D-8903-8E51-AB7B-E6BA4EC17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ABFC-C949-655A-55ED-9EFE6991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Sad
Low, slow tone — as if sighing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8CB3-661F-35AC-8939-471464564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I'm meeting that person this evening.</a:t>
            </a:r>
          </a:p>
          <a:p>
            <a:pPr marL="0" indent="0">
              <a:buNone/>
            </a:pPr>
            <a:r>
              <a:rPr lang="en-US" sz="2800" dirty="0"/>
              <a:t>The meeting place is near Gangnam Station, </a:t>
            </a:r>
          </a:p>
          <a:p>
            <a:pPr marL="0" indent="0">
              <a:buNone/>
            </a:pPr>
            <a:r>
              <a:rPr lang="en-US" sz="2800" dirty="0"/>
              <a:t>and the time is seven o'clock.</a:t>
            </a:r>
          </a:p>
          <a:p>
            <a:pPr marL="0" indent="0">
              <a:buNone/>
            </a:pPr>
            <a:r>
              <a:rPr lang="en-US" sz="2800" dirty="0"/>
              <a:t>We're planning to have dinner together and watch a movie.</a:t>
            </a:r>
          </a:p>
        </p:txBody>
      </p:sp>
    </p:spTree>
    <p:extLst>
      <p:ext uri="{BB962C8B-B14F-4D97-AF65-F5344CB8AC3E}">
        <p14:creationId xmlns:p14="http://schemas.microsoft.com/office/powerpoint/2010/main" val="2689702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59AA-7CBC-29AA-A204-9E35A174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3160-3009-F9D7-1149-18110691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Surprise(</a:t>
            </a:r>
            <a:r>
              <a:rPr lang="ko-KR" altLang="en-US"/>
              <a:t>놀람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눈을 크게 뜨고 톤을 갑자기 높여서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37236-0989-8513-5616-D4A674607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오늘 저녁에 그 사람을 만나기로 했어요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ko-KR" altLang="en-US" sz="4400"/>
              <a:t>약속 장소는 강남역 근처고</a:t>
            </a:r>
            <a:r>
              <a:rPr lang="en-US" altLang="ko-KR" sz="4400"/>
              <a:t>, </a:t>
            </a:r>
            <a:r>
              <a:rPr lang="ko-KR" altLang="en-US" sz="4400"/>
              <a:t>시간은 일곱 시예요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en-US" altLang="ko-KR" sz="4400"/>
              <a:t> </a:t>
            </a:r>
            <a:r>
              <a:rPr lang="ko-KR" altLang="en-US" sz="4400"/>
              <a:t>만나서 같이 저녁을 먹고 영화를 볼 생각이에요</a:t>
            </a:r>
            <a:r>
              <a:rPr lang="en-US" altLang="ko-KR" sz="4400"/>
              <a:t>.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886945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59AA-7CBC-29AA-A204-9E35A174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3160-3009-F9D7-1149-18110691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Surprise
Wide eyes, pitch suddenly raised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37236-0989-8513-5616-D4A674607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I'm meeting that person this evening.</a:t>
            </a:r>
          </a:p>
          <a:p>
            <a:pPr marL="0" indent="0">
              <a:buNone/>
            </a:pPr>
            <a:r>
              <a:rPr lang="en-US" sz="2800" dirty="0"/>
              <a:t>The meeting place is near Gangnam Station, </a:t>
            </a:r>
            <a:br>
              <a:rPr lang="en-US" sz="2800" dirty="0"/>
            </a:br>
            <a:r>
              <a:rPr lang="en-US" sz="2800" dirty="0"/>
              <a:t>and the time is seven o'clock.</a:t>
            </a:r>
          </a:p>
          <a:p>
            <a:pPr marL="0" indent="0">
              <a:buNone/>
            </a:pPr>
            <a:r>
              <a:rPr lang="en-US" sz="2800" dirty="0"/>
              <a:t>We're planning to have dinner together and watch a movie.</a:t>
            </a:r>
          </a:p>
        </p:txBody>
      </p:sp>
    </p:spTree>
    <p:extLst>
      <p:ext uri="{BB962C8B-B14F-4D97-AF65-F5344CB8AC3E}">
        <p14:creationId xmlns:p14="http://schemas.microsoft.com/office/powerpoint/2010/main" val="1859689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5A85-68BE-6E36-A467-99FE4785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1310-A7CE-546D-58B5-18A953C9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Fear(</a:t>
            </a:r>
            <a:r>
              <a:rPr lang="ko-KR" altLang="en-US"/>
              <a:t>두려움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떨리는 목소리</a:t>
            </a:r>
            <a:r>
              <a:rPr lang="en-US" altLang="ko-KR"/>
              <a:t>, </a:t>
            </a:r>
            <a:r>
              <a:rPr lang="ko-KR" altLang="en-US"/>
              <a:t>작고 빠르게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E364-7F17-6D0A-A24F-56F140365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오늘 저녁에 그 사람을 만나기로 했어요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ko-KR" altLang="en-US" sz="4400"/>
              <a:t>약속 장소는 강남역 근처고</a:t>
            </a:r>
            <a:r>
              <a:rPr lang="en-US" altLang="ko-KR" sz="4400"/>
              <a:t>, </a:t>
            </a:r>
            <a:r>
              <a:rPr lang="ko-KR" altLang="en-US" sz="4400"/>
              <a:t>시간은 일곱 시예요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en-US" altLang="ko-KR" sz="4400"/>
              <a:t> </a:t>
            </a:r>
            <a:r>
              <a:rPr lang="ko-KR" altLang="en-US" sz="4400"/>
              <a:t>만나서 같이 저녁을 먹고 영화를 볼 생각이에요</a:t>
            </a:r>
            <a:r>
              <a:rPr lang="en-US" altLang="ko-KR" sz="4400"/>
              <a:t>.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237392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5A85-68BE-6E36-A467-99FE4785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1310-A7CE-546D-58B5-18A953C9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Fear
Trembling voice, soft and fast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E364-7F17-6D0A-A24F-56F140365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I'm meeting that person this evening.</a:t>
            </a:r>
          </a:p>
          <a:p>
            <a:pPr marL="0" indent="0">
              <a:buNone/>
            </a:pPr>
            <a:r>
              <a:rPr lang="en-US" sz="2800" dirty="0"/>
              <a:t>The meeting place is near Gangnam Station, </a:t>
            </a:r>
          </a:p>
          <a:p>
            <a:pPr marL="0" indent="0">
              <a:buNone/>
            </a:pPr>
            <a:r>
              <a:rPr lang="en-US" sz="2800" dirty="0"/>
              <a:t>and the time is seven o'clock.</a:t>
            </a:r>
          </a:p>
          <a:p>
            <a:pPr marL="0" indent="0">
              <a:buNone/>
            </a:pPr>
            <a:r>
              <a:rPr lang="en-US" sz="2800" dirty="0"/>
              <a:t>We're planning to have dinner together and watch a movie.</a:t>
            </a:r>
          </a:p>
        </p:txBody>
      </p:sp>
    </p:spTree>
    <p:extLst>
      <p:ext uri="{BB962C8B-B14F-4D97-AF65-F5344CB8AC3E}">
        <p14:creationId xmlns:p14="http://schemas.microsoft.com/office/powerpoint/2010/main" val="260665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5096-0BF5-8D30-DC8E-385852C1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D38E2-8ED8-524F-616D-7BD48F86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Disgust(</a:t>
            </a:r>
            <a:r>
              <a:rPr lang="ko-KR" altLang="en-US"/>
              <a:t>역겨움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인상 찌푸리고 약간 거부감 있는 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F5B67-1560-06CF-D3F3-08535C9F1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오늘 저녁에 그 사람을 만나기로 했어요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ko-KR" altLang="en-US" sz="4400"/>
              <a:t>약속 장소는 강남역 근처고</a:t>
            </a:r>
            <a:r>
              <a:rPr lang="en-US" altLang="ko-KR" sz="4400"/>
              <a:t>, </a:t>
            </a:r>
            <a:r>
              <a:rPr lang="ko-KR" altLang="en-US" sz="4400"/>
              <a:t>시간은 일곱 시예요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en-US" altLang="ko-KR" sz="4400"/>
              <a:t> </a:t>
            </a:r>
            <a:r>
              <a:rPr lang="ko-KR" altLang="en-US" sz="4400"/>
              <a:t>만나서 같이 저녁을 먹고 영화를 볼 생각이에요</a:t>
            </a:r>
            <a:r>
              <a:rPr lang="en-US" altLang="ko-KR" sz="4400"/>
              <a:t>.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3503069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5096-0BF5-8D30-DC8E-385852C1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D38E2-8ED8-524F-616D-7BD48F86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Disgust
Frowning, slightly aversive tone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F5B67-1560-06CF-D3F3-08535C9F1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I'm meeting that person this evening.</a:t>
            </a:r>
          </a:p>
          <a:p>
            <a:pPr marL="0" indent="0">
              <a:buNone/>
            </a:pPr>
            <a:r>
              <a:rPr lang="en-US" sz="2800" dirty="0"/>
              <a:t>The meeting place is near Gangnam Station, </a:t>
            </a:r>
          </a:p>
          <a:p>
            <a:pPr marL="0" indent="0">
              <a:buNone/>
            </a:pPr>
            <a:r>
              <a:rPr lang="en-US" sz="2800" dirty="0"/>
              <a:t>and the time is seven o'clock.</a:t>
            </a:r>
          </a:p>
          <a:p>
            <a:pPr marL="0" indent="0">
              <a:buNone/>
            </a:pPr>
            <a:r>
              <a:rPr lang="en-US" sz="2800" dirty="0"/>
              <a:t>We're planning to have dinner together and watch a movie.</a:t>
            </a:r>
          </a:p>
        </p:txBody>
      </p:sp>
    </p:spTree>
    <p:extLst>
      <p:ext uri="{BB962C8B-B14F-4D97-AF65-F5344CB8AC3E}">
        <p14:creationId xmlns:p14="http://schemas.microsoft.com/office/powerpoint/2010/main" val="196436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8B39-C2EC-E49F-8CEE-C798203E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C311-4B1F-982F-5E9F-637C38FF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Anger(</a:t>
            </a:r>
            <a:r>
              <a:rPr lang="ko-KR" altLang="en-US"/>
              <a:t>분노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크고 강한 톤</a:t>
            </a:r>
            <a:r>
              <a:rPr lang="en-US" altLang="ko-KR"/>
              <a:t>, </a:t>
            </a:r>
            <a:r>
              <a:rPr lang="ko-KR" altLang="en-US"/>
              <a:t>단호하게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93C2-6DD1-DD58-BD6C-07E220F89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오늘 저녁에 그 사람을 만나기로 했어요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ko-KR" altLang="en-US" sz="4400"/>
              <a:t>약속 장소는 강남역 근처고</a:t>
            </a:r>
            <a:r>
              <a:rPr lang="en-US" altLang="ko-KR" sz="4400"/>
              <a:t>, </a:t>
            </a:r>
            <a:r>
              <a:rPr lang="ko-KR" altLang="en-US" sz="4400"/>
              <a:t>시간은 일곱 시예요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en-US" altLang="ko-KR" sz="4400"/>
              <a:t> </a:t>
            </a:r>
            <a:r>
              <a:rPr lang="ko-KR" altLang="en-US" sz="4400"/>
              <a:t>만나서 같이 저녁을 먹고 영화를 볼 생각이에요</a:t>
            </a:r>
            <a:r>
              <a:rPr lang="en-US" altLang="ko-KR" sz="4400"/>
              <a:t>.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198424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8B39-C2EC-E49F-8CEE-C798203E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C311-4B1F-982F-5E9F-637C38FF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Anger
Loud, strong tone — firm and forceful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93C2-6DD1-DD58-BD6C-07E220F89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I'm meeting that person this evening.</a:t>
            </a:r>
          </a:p>
          <a:p>
            <a:pPr marL="0" indent="0">
              <a:buNone/>
            </a:pPr>
            <a:r>
              <a:rPr lang="en-US" sz="2800" dirty="0"/>
              <a:t>The meeting place is near Gangnam Station, </a:t>
            </a:r>
          </a:p>
          <a:p>
            <a:pPr marL="0" indent="0">
              <a:buNone/>
            </a:pPr>
            <a:r>
              <a:rPr lang="en-US" sz="2800" dirty="0"/>
              <a:t>and the time is seven o'clock.</a:t>
            </a:r>
          </a:p>
          <a:p>
            <a:pPr marL="0" indent="0">
              <a:buNone/>
            </a:pPr>
            <a:r>
              <a:rPr lang="en-US" sz="2800" dirty="0"/>
              <a:t>We're planning to have dinner together and watch a movie.</a:t>
            </a:r>
          </a:p>
        </p:txBody>
      </p:sp>
    </p:spTree>
    <p:extLst>
      <p:ext uri="{BB962C8B-B14F-4D97-AF65-F5344CB8AC3E}">
        <p14:creationId xmlns:p14="http://schemas.microsoft.com/office/powerpoint/2010/main" val="1360784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6352-295E-26C8-6B66-5D92AF49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B1B4-2FE3-2B38-5803-9430B5D4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Contempt(</a:t>
            </a:r>
            <a:r>
              <a:rPr lang="ko-KR" altLang="en-US"/>
              <a:t>경멸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한쪽 입꼬리만 올리고 비웃는 듯한 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8519-59EE-420E-0196-F64392E9B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오늘 저녁에 그 사람을 만나기로 했어요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ko-KR" altLang="en-US" sz="4400"/>
              <a:t>약속 장소는 강남역 근처고</a:t>
            </a:r>
            <a:r>
              <a:rPr lang="en-US" altLang="ko-KR" sz="4400"/>
              <a:t>, </a:t>
            </a:r>
            <a:r>
              <a:rPr lang="ko-KR" altLang="en-US" sz="4400"/>
              <a:t>시간은 일곱 시예요</a:t>
            </a:r>
            <a:r>
              <a:rPr lang="en-US" altLang="ko-KR" sz="4400"/>
              <a:t>.</a:t>
            </a:r>
          </a:p>
          <a:p>
            <a:pPr marL="0" indent="0">
              <a:buNone/>
            </a:pPr>
            <a:r>
              <a:rPr lang="en-US" altLang="ko-KR" sz="4400"/>
              <a:t> </a:t>
            </a:r>
            <a:r>
              <a:rPr lang="ko-KR" altLang="en-US" sz="4400"/>
              <a:t>만나서 같이 저녁을 먹고 영화를 볼 생각이에요</a:t>
            </a:r>
            <a:r>
              <a:rPr lang="en-US" altLang="ko-KR" sz="4400"/>
              <a:t>.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1364845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6352-295E-26C8-6B66-5D92AF49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B1B4-2FE3-2B38-5803-9430B5D4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Contempt
One corner of mouth raised, sneering tone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8519-59EE-420E-0196-F64392E9B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I'm meeting that person this evening.</a:t>
            </a:r>
          </a:p>
          <a:p>
            <a:pPr marL="0" indent="0">
              <a:buNone/>
            </a:pPr>
            <a:r>
              <a:rPr lang="en-US" sz="2800" dirty="0"/>
              <a:t>The meeting place is near Gangnam Station, </a:t>
            </a:r>
          </a:p>
          <a:p>
            <a:pPr marL="0" indent="0">
              <a:buNone/>
            </a:pPr>
            <a:r>
              <a:rPr lang="en-US" sz="2800" dirty="0"/>
              <a:t>and the time is seven o'clock.</a:t>
            </a:r>
          </a:p>
          <a:p>
            <a:pPr marL="0" indent="0">
              <a:buNone/>
            </a:pPr>
            <a:r>
              <a:rPr lang="en-US" sz="2800" dirty="0"/>
              <a:t>We're planning to have dinner together and watch a movie.</a:t>
            </a:r>
          </a:p>
        </p:txBody>
      </p:sp>
    </p:spTree>
    <p:extLst>
      <p:ext uri="{BB962C8B-B14F-4D97-AF65-F5344CB8AC3E}">
        <p14:creationId xmlns:p14="http://schemas.microsoft.com/office/powerpoint/2010/main" val="3387684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11BC-F73F-7D2E-A784-A79801D2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273F-23C5-B9CA-5862-52D10C47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 dirty="0"/>
              <a:t>B</a:t>
            </a:r>
            <a:r>
              <a:rPr lang="ko-KR" altLang="en-US" dirty="0"/>
              <a:t> 참</a:t>
            </a:r>
            <a:r>
              <a:rPr lang="en-US" altLang="ko-KR" dirty="0"/>
              <a:t>/</a:t>
            </a:r>
            <a:r>
              <a:rPr lang="ko-KR" altLang="en-US" dirty="0"/>
              <a:t>거짓 발화</a:t>
            </a:r>
            <a:r>
              <a:rPr lang="en-US" altLang="ko-KR" dirty="0"/>
              <a:t>(20~30</a:t>
            </a:r>
            <a:r>
              <a:rPr lang="ko-KR" altLang="en-US" dirty="0"/>
              <a:t>초</a:t>
            </a:r>
            <a:r>
              <a:rPr lang="en-US" altLang="ko-KR" dirty="0"/>
              <a:t>/clip)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AB3B2-90FA-FF02-0796-C08E4CE2C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피실험자 본인이 답을 아는 사실에 대해 참 또는 거짓으로 </a:t>
            </a:r>
            <a:r>
              <a:rPr lang="ko-KR" altLang="en-US" b="1">
                <a:effectLst/>
              </a:rPr>
              <a:t>자세히 설명</a:t>
            </a:r>
            <a:r>
              <a:rPr lang="ko-KR" altLang="en-US"/>
              <a:t>하게 해주십시오</a:t>
            </a:r>
            <a:r>
              <a:rPr lang="en-US" altLang="ko-KR"/>
              <a:t>.</a:t>
            </a:r>
          </a:p>
          <a:p>
            <a:r>
              <a:rPr lang="ko-KR" altLang="en-US"/>
              <a:t>단답이 아닌 서술형 답변을 부탁드립니다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예시</a:t>
            </a:r>
            <a:r>
              <a:rPr lang="en-US" altLang="ko-KR"/>
              <a:t>) </a:t>
            </a:r>
            <a:r>
              <a:rPr lang="ko-KR" altLang="en-US"/>
              <a:t>고향은 어디인가요</a:t>
            </a:r>
            <a:r>
              <a:rPr lang="en-US" altLang="ko-KR"/>
              <a:t>?</a:t>
            </a:r>
          </a:p>
          <a:p>
            <a:r>
              <a:rPr lang="ko-KR" altLang="en-US"/>
              <a:t>제 고향은 경상남도 창원시입니다</a:t>
            </a:r>
            <a:r>
              <a:rPr lang="en-US" altLang="ko-KR"/>
              <a:t>. </a:t>
            </a:r>
            <a:r>
              <a:rPr lang="ko-KR" altLang="en-US"/>
              <a:t>동네는 환경 도시라는 타이틀을 달고 있어서 길거리에 나무가 많아요</a:t>
            </a:r>
            <a:r>
              <a:rPr lang="en-US" altLang="ko-KR"/>
              <a:t>. </a:t>
            </a:r>
            <a:r>
              <a:rPr lang="ko-KR" altLang="en-US"/>
              <a:t>근처에 바다가 가까워서 아버지가 자주 낚시를 가서 물고기를 잡아오셨는데</a:t>
            </a:r>
            <a:r>
              <a:rPr lang="en-US" altLang="ko-KR"/>
              <a:t>, </a:t>
            </a:r>
            <a:r>
              <a:rPr lang="ko-KR" altLang="en-US"/>
              <a:t>어릴 때는 물고기를 잘 안 먹었던 기억이 있네요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2608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11BC-F73F-7D2E-A784-A79801D2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273F-23C5-B9CA-5862-52D10C47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B Truth and lie Speech (20~30 sec/clip)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AB3B2-90FA-FF02-0796-C08E4CE2C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Please </a:t>
            </a:r>
            <a:r>
              <a:rPr lang="en-US" b="1" dirty="0"/>
              <a:t>describe in detail</a:t>
            </a:r>
            <a:r>
              <a:rPr lang="en-US" dirty="0"/>
              <a:t> a fact that you personally know the answer to — either truthfully or falsely.</a:t>
            </a:r>
          </a:p>
          <a:p>
            <a:r>
              <a:rPr lang="en-US" dirty="0"/>
              <a:t>Please give a descriptive answer, not a one-word reply.</a:t>
            </a:r>
          </a:p>
          <a:p>
            <a:endParaRPr lang="en-US" dirty="0"/>
          </a:p>
          <a:p>
            <a:r>
              <a:rPr lang="en-US" dirty="0"/>
              <a:t>Example) Where is your hometown?</a:t>
            </a:r>
          </a:p>
          <a:p>
            <a:r>
              <a:rPr lang="en-US" dirty="0"/>
              <a:t>My hometown is Changwon, South Gyeongsang Province. The neighborhood is known as an eco-city, so there are many trees along the streets. The sea is nearby, so my father often went fishing and brought home fresh fish — though I remember not being a big fan of fish when I was young.</a:t>
            </a:r>
          </a:p>
        </p:txBody>
      </p:sp>
    </p:spTree>
    <p:extLst>
      <p:ext uri="{BB962C8B-B14F-4D97-AF65-F5344CB8AC3E}">
        <p14:creationId xmlns:p14="http://schemas.microsoft.com/office/powerpoint/2010/main" val="686048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4BA2-C7AE-2D1B-9479-601CB2022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D445-DF70-5DB7-5CA6-F6CCE3D1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질문 </a:t>
            </a:r>
            <a:r>
              <a:rPr lang="en-US" altLang="ko-KR"/>
              <a:t>1 (</a:t>
            </a:r>
            <a:r>
              <a:rPr lang="ko-KR" altLang="en-US"/>
              <a:t>참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진실을 말해주세요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A13CA-7FD0-1159-B932-4EEA91C7A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고향은 어디인가요</a:t>
            </a:r>
            <a:r>
              <a:rPr lang="en-US" altLang="ko-KR" sz="4400"/>
              <a:t>?</a:t>
            </a:r>
          </a:p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en-US" altLang="ko-KR" sz="4400"/>
              <a:t>(</a:t>
            </a:r>
            <a:r>
              <a:rPr lang="ko-KR" altLang="en-US" sz="4400"/>
              <a:t>어떤 동네인지</a:t>
            </a:r>
            <a:r>
              <a:rPr lang="en-US" altLang="ko-KR" sz="4400"/>
              <a:t>, </a:t>
            </a:r>
            <a:r>
              <a:rPr lang="ko-KR" altLang="en-US" sz="4400"/>
              <a:t>어떤 기억이 있는지도 함께 말해주세요</a:t>
            </a:r>
            <a:r>
              <a:rPr lang="en-US" altLang="ko-KR" sz="4400"/>
              <a:t>)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96601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4BA2-C7AE-2D1B-9479-601CB2022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D445-DF70-5DB7-5CA6-F6CCE3D1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 (Truth)
Please tell the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A13CA-7FD0-1159-B932-4EEA91C7A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Where is your hometown?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(Please also describe what the neighborhood is like </a:t>
            </a:r>
          </a:p>
          <a:p>
            <a:pPr marL="0" indent="0">
              <a:buNone/>
            </a:pPr>
            <a:r>
              <a:rPr lang="en-US" sz="3200" dirty="0"/>
              <a:t>and any memories you have of it)</a:t>
            </a:r>
          </a:p>
        </p:txBody>
      </p:sp>
    </p:spTree>
    <p:extLst>
      <p:ext uri="{BB962C8B-B14F-4D97-AF65-F5344CB8AC3E}">
        <p14:creationId xmlns:p14="http://schemas.microsoft.com/office/powerpoint/2010/main" val="2553874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57AC-34BF-34A2-5E35-D69FFBBC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25C6C-B6EA-87D7-6B36-FA4050D8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질문 </a:t>
            </a:r>
            <a:r>
              <a:rPr lang="en-US" altLang="ko-KR"/>
              <a:t>11 (</a:t>
            </a:r>
            <a:r>
              <a:rPr lang="ko-KR" altLang="en-US"/>
              <a:t>거짓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거짓을 지어내서 말해주세요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3368E-0379-E705-1B35-65453984F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요새 가지고 있는 취미는 무엇인가요</a:t>
            </a:r>
            <a:r>
              <a:rPr lang="en-US" altLang="ko-KR" sz="4400"/>
              <a:t>?</a:t>
            </a:r>
          </a:p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en-US" altLang="ko-KR" sz="4400"/>
              <a:t>(</a:t>
            </a:r>
            <a:r>
              <a:rPr lang="ko-KR" altLang="en-US" sz="4400"/>
              <a:t>어떤 점이 재미있는지</a:t>
            </a:r>
            <a:r>
              <a:rPr lang="en-US" altLang="ko-KR" sz="4400"/>
              <a:t>, </a:t>
            </a:r>
            <a:r>
              <a:rPr lang="ko-KR" altLang="en-US" sz="4400"/>
              <a:t>얼마나 자주 하는지도 말해주세요</a:t>
            </a:r>
            <a:r>
              <a:rPr lang="en-US" altLang="ko-KR" sz="4400"/>
              <a:t>)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541717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57AC-34BF-34A2-5E35-D69FFBBC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25C6C-B6EA-87D7-6B36-FA4050D8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11 (Lie)
Please make up a false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3368E-0379-E705-1B35-65453984F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What is your current hobby?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(Please also mention what is enjoyable about it and </a:t>
            </a:r>
          </a:p>
          <a:p>
            <a:pPr marL="0" indent="0">
              <a:buNone/>
            </a:pPr>
            <a:r>
              <a:rPr lang="en-US" sz="3200" dirty="0"/>
              <a:t>how often you do it)</a:t>
            </a:r>
          </a:p>
        </p:txBody>
      </p:sp>
    </p:spTree>
    <p:extLst>
      <p:ext uri="{BB962C8B-B14F-4D97-AF65-F5344CB8AC3E}">
        <p14:creationId xmlns:p14="http://schemas.microsoft.com/office/powerpoint/2010/main" val="3506024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4BACB-2747-ED44-E5BD-8383A0D3E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944A-F66F-8CAF-DC93-B447680E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질문 </a:t>
            </a:r>
            <a:r>
              <a:rPr lang="en-US" altLang="ko-KR"/>
              <a:t>2 (</a:t>
            </a:r>
            <a:r>
              <a:rPr lang="ko-KR" altLang="en-US"/>
              <a:t>참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진실을 말해주세요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65268-A788-AA42-854E-48EF38699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어제 저녁에 무엇을 먹었나요</a:t>
            </a:r>
            <a:r>
              <a:rPr lang="en-US" altLang="ko-KR" sz="4400"/>
              <a:t>?</a:t>
            </a:r>
          </a:p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en-US" altLang="ko-KR" sz="4400"/>
              <a:t>(</a:t>
            </a:r>
            <a:r>
              <a:rPr lang="ko-KR" altLang="en-US" sz="4400"/>
              <a:t>어디서</a:t>
            </a:r>
            <a:r>
              <a:rPr lang="en-US" altLang="ko-KR" sz="4400"/>
              <a:t>, </a:t>
            </a:r>
            <a:r>
              <a:rPr lang="ko-KR" altLang="en-US" sz="4400"/>
              <a:t>누구와</a:t>
            </a:r>
            <a:r>
              <a:rPr lang="en-US" altLang="ko-KR" sz="4400"/>
              <a:t>, </a:t>
            </a:r>
            <a:r>
              <a:rPr lang="ko-KR" altLang="en-US" sz="4400"/>
              <a:t>어떤 음식을 먹었는지 자세히 말해주세요</a:t>
            </a:r>
            <a:r>
              <a:rPr lang="en-US" altLang="ko-KR" sz="4400"/>
              <a:t>.)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3647888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4BACB-2747-ED44-E5BD-8383A0D3E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944A-F66F-8CAF-DC93-B447680E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 (Truth)
Please tell the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65268-A788-AA42-854E-48EF38699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What did you have for dinner yesterday?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(Please describe where you ate, who you were with, </a:t>
            </a:r>
          </a:p>
          <a:p>
            <a:pPr marL="0" indent="0">
              <a:buNone/>
            </a:pPr>
            <a:r>
              <a:rPr lang="en-US" sz="3200" dirty="0"/>
              <a:t>and what you had in detail.)</a:t>
            </a:r>
          </a:p>
        </p:txBody>
      </p:sp>
    </p:spTree>
    <p:extLst>
      <p:ext uri="{BB962C8B-B14F-4D97-AF65-F5344CB8AC3E}">
        <p14:creationId xmlns:p14="http://schemas.microsoft.com/office/powerpoint/2010/main" val="3915773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2ECC-C11E-5CF5-7D32-C96C8662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F71C-37FD-CE91-451E-0493D0D3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질문 </a:t>
            </a:r>
            <a:r>
              <a:rPr lang="en-US" altLang="ko-KR"/>
              <a:t>1 (</a:t>
            </a:r>
            <a:r>
              <a:rPr lang="ko-KR" altLang="en-US"/>
              <a:t>거짓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거짓을 지어내서 말해주세요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AECD7-1B6C-AA5B-8D79-235B9A93B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고향은 어디인가요</a:t>
            </a:r>
            <a:r>
              <a:rPr lang="en-US" altLang="ko-KR" sz="4400"/>
              <a:t>?</a:t>
            </a:r>
          </a:p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en-US" altLang="ko-KR" sz="4400"/>
              <a:t>(</a:t>
            </a:r>
            <a:r>
              <a:rPr lang="ko-KR" altLang="en-US" sz="4400"/>
              <a:t>어떤 동네인지</a:t>
            </a:r>
            <a:r>
              <a:rPr lang="en-US" altLang="ko-KR" sz="4400"/>
              <a:t>, </a:t>
            </a:r>
            <a:r>
              <a:rPr lang="ko-KR" altLang="en-US" sz="4400"/>
              <a:t>어떤 기억이 있는지도 함께 말해주세요</a:t>
            </a:r>
            <a:r>
              <a:rPr lang="en-US" altLang="ko-KR" sz="4400"/>
              <a:t>)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1001424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2ECC-C11E-5CF5-7D32-C96C8662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F71C-37FD-CE91-451E-0493D0D3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 (Lie)
Please make up a false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AECD7-1B6C-AA5B-8D79-235B9A93B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Where is your hometown?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(Please also describe what the neighborhood is like </a:t>
            </a:r>
          </a:p>
          <a:p>
            <a:pPr marL="0" indent="0">
              <a:buNone/>
            </a:pPr>
            <a:r>
              <a:rPr lang="en-US" sz="3200" dirty="0"/>
              <a:t>and any memories you have of it)</a:t>
            </a:r>
          </a:p>
        </p:txBody>
      </p:sp>
    </p:spTree>
    <p:extLst>
      <p:ext uri="{BB962C8B-B14F-4D97-AF65-F5344CB8AC3E}">
        <p14:creationId xmlns:p14="http://schemas.microsoft.com/office/powerpoint/2010/main" val="516980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4B964-F383-2C46-D41F-D9405CE0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D5562-78B1-5FF0-3E72-81B8FD87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질문 </a:t>
            </a:r>
            <a:r>
              <a:rPr lang="en-US" altLang="ko-KR"/>
              <a:t>2 (</a:t>
            </a:r>
            <a:r>
              <a:rPr lang="ko-KR" altLang="en-US"/>
              <a:t>거짓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거짓을 지어내서 말해주세요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12BB-2729-A561-0BD6-169DDF896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어제 저녁에 무엇을 먹었나요</a:t>
            </a:r>
            <a:r>
              <a:rPr lang="en-US" altLang="ko-KR" sz="4400"/>
              <a:t>?</a:t>
            </a:r>
          </a:p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en-US" altLang="ko-KR" sz="4400"/>
              <a:t>(</a:t>
            </a:r>
            <a:r>
              <a:rPr lang="ko-KR" altLang="en-US" sz="4400"/>
              <a:t>어디서</a:t>
            </a:r>
            <a:r>
              <a:rPr lang="en-US" altLang="ko-KR" sz="4400"/>
              <a:t>, </a:t>
            </a:r>
            <a:r>
              <a:rPr lang="ko-KR" altLang="en-US" sz="4400"/>
              <a:t>누구와</a:t>
            </a:r>
            <a:r>
              <a:rPr lang="en-US" altLang="ko-KR" sz="4400"/>
              <a:t>, </a:t>
            </a:r>
            <a:r>
              <a:rPr lang="ko-KR" altLang="en-US" sz="4400"/>
              <a:t>어떤 음식을 먹었는지 자세히 말해주세요</a:t>
            </a:r>
            <a:r>
              <a:rPr lang="en-US" altLang="ko-KR" sz="4400"/>
              <a:t>.)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1529690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4B964-F383-2C46-D41F-D9405CE0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D5562-78B1-5FF0-3E72-81B8FD87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 (Lie)
Please make up a false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12BB-2729-A561-0BD6-169DDF896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What did you have for dinner yesterday?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(Please describe where you ate, who you were with, </a:t>
            </a:r>
          </a:p>
          <a:p>
            <a:pPr marL="0" indent="0">
              <a:buNone/>
            </a:pPr>
            <a:r>
              <a:rPr lang="en-US" sz="3200" dirty="0"/>
              <a:t>and what you had in detail.)</a:t>
            </a:r>
          </a:p>
        </p:txBody>
      </p:sp>
    </p:spTree>
    <p:extLst>
      <p:ext uri="{BB962C8B-B14F-4D97-AF65-F5344CB8AC3E}">
        <p14:creationId xmlns:p14="http://schemas.microsoft.com/office/powerpoint/2010/main" val="3562697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5DE7-F9C7-B29C-5FC2-3819386F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4033-7C0F-1280-EEF8-78955A951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질문 </a:t>
            </a:r>
            <a:r>
              <a:rPr lang="en-US" altLang="ko-KR"/>
              <a:t>11 (</a:t>
            </a:r>
            <a:r>
              <a:rPr lang="ko-KR" altLang="en-US"/>
              <a:t>참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진실을 말해주세요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1166E-A3EF-850A-88EB-562534307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ko-KR" altLang="en-US" sz="4400"/>
              <a:t>요새 가지고 있는 취미는 무엇인가요</a:t>
            </a:r>
            <a:r>
              <a:rPr lang="en-US" altLang="ko-KR" sz="4400"/>
              <a:t>?</a:t>
            </a:r>
          </a:p>
          <a:p>
            <a:pPr marL="0" indent="0">
              <a:buNone/>
            </a:pPr>
            <a:endParaRPr lang="en-US" altLang="ko-KR" sz="4400"/>
          </a:p>
          <a:p>
            <a:pPr marL="0" indent="0">
              <a:buNone/>
            </a:pPr>
            <a:r>
              <a:rPr lang="en-US" altLang="ko-KR" sz="4400"/>
              <a:t>(</a:t>
            </a:r>
            <a:r>
              <a:rPr lang="ko-KR" altLang="en-US" sz="4400"/>
              <a:t>어떤 점이 재미있는지</a:t>
            </a:r>
            <a:r>
              <a:rPr lang="en-US" altLang="ko-KR" sz="4400"/>
              <a:t>, </a:t>
            </a:r>
            <a:r>
              <a:rPr lang="ko-KR" altLang="en-US" sz="4400"/>
              <a:t>얼마나 자주 하는지도 말해주세요</a:t>
            </a:r>
            <a:r>
              <a:rPr lang="en-US" altLang="ko-KR" sz="4400"/>
              <a:t>)</a:t>
            </a:r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3996228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5DE7-F9C7-B29C-5FC2-3819386F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4033-7C0F-1280-EEF8-78955A951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11 (Truth)
Please tell the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1166E-A3EF-850A-88EB-562534307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What is your current hobby?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(Please also mention what is enjoyable about it </a:t>
            </a:r>
          </a:p>
          <a:p>
            <a:pPr marL="0" indent="0">
              <a:buNone/>
            </a:pPr>
            <a:r>
              <a:rPr lang="en-US" sz="3200" dirty="0"/>
              <a:t>and how often you do it)</a:t>
            </a:r>
          </a:p>
        </p:txBody>
      </p:sp>
    </p:spTree>
    <p:extLst>
      <p:ext uri="{BB962C8B-B14F-4D97-AF65-F5344CB8AC3E}">
        <p14:creationId xmlns:p14="http://schemas.microsoft.com/office/powerpoint/2010/main" val="139603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027D75-0864-E74E-9522-B534AD3DC53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a27de91-5f4b-42d8-b4a5-39856c35f3f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1447</Words>
  <Application>Microsoft Macintosh PowerPoint</Application>
  <PresentationFormat>와이드스크린</PresentationFormat>
  <Paragraphs>207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맑은 고딕</vt:lpstr>
      <vt:lpstr>Arial</vt:lpstr>
      <vt:lpstr>Office Theme</vt:lpstr>
      <vt:lpstr>데이터 수집 안내</vt:lpstr>
      <vt:lpstr>Data Collection Guide</vt:lpstr>
      <vt:lpstr>데이터 수집 안내</vt:lpstr>
      <vt:lpstr>Data Being Collected</vt:lpstr>
      <vt:lpstr>Part A 감정 발화(15~20초/clip)</vt:lpstr>
      <vt:lpstr>Part A  Emotional Speech (15~20 sec/clip)</vt:lpstr>
      <vt:lpstr>Neutral(중립) 뉴스 앵커처럼 담담하게, 감정 없이</vt:lpstr>
      <vt:lpstr>Neutral
Like a news anchor — calm, no emotion</vt:lpstr>
      <vt:lpstr>Happy(행복) 미소 짓고 밝은 톤으로, 들뜬 느낌</vt:lpstr>
      <vt:lpstr>Happy
Smile, bright tone, excited feeling</vt:lpstr>
      <vt:lpstr>Sad(슬픔) 낮고 느린 톤, 한숨 섞인 느낌</vt:lpstr>
      <vt:lpstr>Sad
Low, slow tone — as if sighing</vt:lpstr>
      <vt:lpstr>Surprise(놀람) 눈을 크게 뜨고 톤을 갑자기 높여서</vt:lpstr>
      <vt:lpstr>Surprise
Wide eyes, pitch suddenly raised</vt:lpstr>
      <vt:lpstr>Fear(두려움) 떨리는 목소리, 작고 빠르게</vt:lpstr>
      <vt:lpstr>Fear
Trembling voice, soft and fast</vt:lpstr>
      <vt:lpstr>Disgust(역겨움) 인상 찌푸리고 약간 거부감 있는 톤</vt:lpstr>
      <vt:lpstr>Disgust
Frowning, slightly aversive tone</vt:lpstr>
      <vt:lpstr>Anger(분노) 크고 강한 톤, 단호하게</vt:lpstr>
      <vt:lpstr>Anger
Loud, strong tone — firm and forceful</vt:lpstr>
      <vt:lpstr>Contempt(경멸) 한쪽 입꼬리만 올리고 비웃는 듯한 톤</vt:lpstr>
      <vt:lpstr>Contempt
One corner of mouth raised, sneering tone</vt:lpstr>
      <vt:lpstr>Part B 참/거짓 발화(20~30초/clip)</vt:lpstr>
      <vt:lpstr>Part B Truth and lie Speech (20~30 sec/clip)</vt:lpstr>
      <vt:lpstr>질문 1 (참) 진실을 말해주세요</vt:lpstr>
      <vt:lpstr>Question 1 (Truth)
Please tell the truth</vt:lpstr>
      <vt:lpstr>질문 11 (거짓) 거짓을 지어내서 말해주세요</vt:lpstr>
      <vt:lpstr>Question 11 (Lie)
Please make up a false answer</vt:lpstr>
      <vt:lpstr>질문 2 (참) 진실을 말해주세요</vt:lpstr>
      <vt:lpstr>Question 2 (Truth)
Please tell the truth</vt:lpstr>
      <vt:lpstr>질문 1 (거짓) 거짓을 지어내서 말해주세요</vt:lpstr>
      <vt:lpstr>Question 1 (Lie)
Please make up a false answer</vt:lpstr>
      <vt:lpstr>질문 2 (거짓) 거짓을 지어내서 말해주세요</vt:lpstr>
      <vt:lpstr>Question 2 (Lie)
Please make up a false answer</vt:lpstr>
      <vt:lpstr>질문 11 (참) 진실을 말해주세요</vt:lpstr>
      <vt:lpstr>Question 11 (Truth)
Please tell the truth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재웅 최</dc:creator>
  <cp:lastModifiedBy>박준병</cp:lastModifiedBy>
  <cp:revision>14</cp:revision>
  <dcterms:created xsi:type="dcterms:W3CDTF">2026-05-18T06:16:19Z</dcterms:created>
  <dcterms:modified xsi:type="dcterms:W3CDTF">2026-05-20T15:29:58Z</dcterms:modified>
</cp:coreProperties>
</file>