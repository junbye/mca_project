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IBM Plex Mono" panose="020B0509050203000203" pitchFamily="49" charset="0"/>
      <p:regular r:id="rId14"/>
      <p:bold r:id="rId15"/>
      <p:italic r:id="rId16"/>
      <p:boldItalic r:id="rId17"/>
    </p:embeddedFont>
    <p:embeddedFont>
      <p:font typeface="IBM Plex Mono Medium" panose="020B0609050203000203" pitchFamily="49" charset="0"/>
      <p:regular r:id="rId18"/>
      <p:italic r:id="rId19"/>
    </p:embeddedFont>
    <p:embeddedFont>
      <p:font typeface="IBM Plex Sans" panose="020B0503050203000203" pitchFamily="34" charset="0"/>
      <p:regular r:id="rId20"/>
      <p:bold r:id="rId21"/>
      <p:italic r:id="rId22"/>
      <p:boldItalic r:id="rId23"/>
    </p:embeddedFont>
    <p:embeddedFont>
      <p:font typeface="IBM Plex Sans Bold" panose="020B0803050203000203" charset="0"/>
      <p:regular r:id="rId24"/>
      <p:bold r:id="rId25"/>
    </p:embeddedFont>
    <p:embeddedFont>
      <p:font typeface="IBM Plex Sans Medium" panose="020B0603050203000203" pitchFamily="34"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60" autoAdjust="0"/>
    <p:restoredTop sz="95726" autoAdjust="0"/>
  </p:normalViewPr>
  <p:slideViewPr>
    <p:cSldViewPr>
      <p:cViewPr varScale="1">
        <p:scale>
          <a:sx n="64" d="100"/>
          <a:sy n="64" d="100"/>
        </p:scale>
        <p:origin x="230"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ko-KR"/>
              <a:t>Model</a:t>
            </a:r>
            <a:r>
              <a:rPr lang="en-US" altLang="ko-KR" baseline="0"/>
              <a:t> size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ko-KR"/>
        </a:p>
      </c:txPr>
    </c:title>
    <c:autoTitleDeleted val="0"/>
    <c:plotArea>
      <c:layout/>
      <c:barChart>
        <c:barDir val="col"/>
        <c:grouping val="clustered"/>
        <c:varyColors val="0"/>
        <c:ser>
          <c:idx val="0"/>
          <c:order val="0"/>
          <c:tx>
            <c:strRef>
              <c:f>Sheet1!$B$1</c:f>
              <c:strCache>
                <c:ptCount val="1"/>
                <c:pt idx="0">
                  <c:v>Before</c:v>
                </c:pt>
              </c:strCache>
            </c:strRef>
          </c:tx>
          <c:spPr>
            <a:solidFill>
              <a:schemeClr val="accent1"/>
            </a:solidFill>
            <a:ln>
              <a:noFill/>
            </a:ln>
            <a:effectLst/>
          </c:spPr>
          <c:invertIfNegative val="0"/>
          <c:cat>
            <c:strRef>
              <c:f>Sheet1!$A$2:$A$6</c:f>
              <c:strCache>
                <c:ptCount val="5"/>
                <c:pt idx="0">
                  <c:v>Face Model</c:v>
                </c:pt>
                <c:pt idx="1">
                  <c:v>Voice Emotion Modle</c:v>
                </c:pt>
                <c:pt idx="2">
                  <c:v>Voice Veracity Model</c:v>
                </c:pt>
                <c:pt idx="3">
                  <c:v>Voice+PPG Emotion Model</c:v>
                </c:pt>
                <c:pt idx="4">
                  <c:v>Voice+PPG Veracity Model</c:v>
                </c:pt>
              </c:strCache>
            </c:strRef>
          </c:cat>
          <c:val>
            <c:numRef>
              <c:f>Sheet1!$B$2:$B$6</c:f>
              <c:numCache>
                <c:formatCode>General</c:formatCode>
                <c:ptCount val="5"/>
                <c:pt idx="0">
                  <c:v>2.92</c:v>
                </c:pt>
                <c:pt idx="1">
                  <c:v>3.88</c:v>
                </c:pt>
                <c:pt idx="2">
                  <c:v>3.7</c:v>
                </c:pt>
                <c:pt idx="3">
                  <c:v>4.76</c:v>
                </c:pt>
                <c:pt idx="4">
                  <c:v>4.76</c:v>
                </c:pt>
              </c:numCache>
            </c:numRef>
          </c:val>
          <c:extLst>
            <c:ext xmlns:c16="http://schemas.microsoft.com/office/drawing/2014/chart" uri="{C3380CC4-5D6E-409C-BE32-E72D297353CC}">
              <c16:uniqueId val="{00000000-1B29-4108-B900-86EE05439895}"/>
            </c:ext>
          </c:extLst>
        </c:ser>
        <c:ser>
          <c:idx val="1"/>
          <c:order val="1"/>
          <c:tx>
            <c:strRef>
              <c:f>Sheet1!$C$1</c:f>
              <c:strCache>
                <c:ptCount val="1"/>
                <c:pt idx="0">
                  <c:v>After</c:v>
                </c:pt>
              </c:strCache>
            </c:strRef>
          </c:tx>
          <c:spPr>
            <a:solidFill>
              <a:schemeClr val="accent2"/>
            </a:solidFill>
            <a:ln>
              <a:noFill/>
            </a:ln>
            <a:effectLst/>
          </c:spPr>
          <c:invertIfNegative val="0"/>
          <c:cat>
            <c:strRef>
              <c:f>Sheet1!$A$2:$A$6</c:f>
              <c:strCache>
                <c:ptCount val="5"/>
                <c:pt idx="0">
                  <c:v>Face Model</c:v>
                </c:pt>
                <c:pt idx="1">
                  <c:v>Voice Emotion Modle</c:v>
                </c:pt>
                <c:pt idx="2">
                  <c:v>Voice Veracity Model</c:v>
                </c:pt>
                <c:pt idx="3">
                  <c:v>Voice+PPG Emotion Model</c:v>
                </c:pt>
                <c:pt idx="4">
                  <c:v>Voice+PPG Veracity Model</c:v>
                </c:pt>
              </c:strCache>
            </c:strRef>
          </c:cat>
          <c:val>
            <c:numRef>
              <c:f>Sheet1!$C$2:$C$6</c:f>
              <c:numCache>
                <c:formatCode>General</c:formatCode>
                <c:ptCount val="5"/>
                <c:pt idx="0">
                  <c:v>1.32</c:v>
                </c:pt>
                <c:pt idx="1">
                  <c:v>1.21</c:v>
                </c:pt>
                <c:pt idx="2">
                  <c:v>1.1000000000000001</c:v>
                </c:pt>
                <c:pt idx="3">
                  <c:v>1.31</c:v>
                </c:pt>
                <c:pt idx="4">
                  <c:v>1.46</c:v>
                </c:pt>
              </c:numCache>
            </c:numRef>
          </c:val>
          <c:extLst>
            <c:ext xmlns:c16="http://schemas.microsoft.com/office/drawing/2014/chart" uri="{C3380CC4-5D6E-409C-BE32-E72D297353CC}">
              <c16:uniqueId val="{00000001-1B29-4108-B900-86EE05439895}"/>
            </c:ext>
          </c:extLst>
        </c:ser>
        <c:dLbls>
          <c:showLegendKey val="0"/>
          <c:showVal val="0"/>
          <c:showCatName val="0"/>
          <c:showSerName val="0"/>
          <c:showPercent val="0"/>
          <c:showBubbleSize val="0"/>
        </c:dLbls>
        <c:gapWidth val="219"/>
        <c:overlap val="-27"/>
        <c:axId val="534928960"/>
        <c:axId val="534923560"/>
      </c:barChart>
      <c:catAx>
        <c:axId val="53492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534923560"/>
        <c:crosses val="autoZero"/>
        <c:auto val="1"/>
        <c:lblAlgn val="ctr"/>
        <c:lblOffset val="100"/>
        <c:noMultiLvlLbl val="0"/>
      </c:catAx>
      <c:valAx>
        <c:axId val="534923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53492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ko-KR"/>
              <a:t>Accuracy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ko-KR"/>
        </a:p>
      </c:txPr>
    </c:title>
    <c:autoTitleDeleted val="0"/>
    <c:plotArea>
      <c:layout/>
      <c:barChart>
        <c:barDir val="col"/>
        <c:grouping val="clustered"/>
        <c:varyColors val="0"/>
        <c:ser>
          <c:idx val="0"/>
          <c:order val="0"/>
          <c:tx>
            <c:strRef>
              <c:f>Sheet1!$B$1</c:f>
              <c:strCache>
                <c:ptCount val="1"/>
                <c:pt idx="0">
                  <c:v>Before</c:v>
                </c:pt>
              </c:strCache>
            </c:strRef>
          </c:tx>
          <c:spPr>
            <a:solidFill>
              <a:schemeClr val="accent1"/>
            </a:solidFill>
            <a:ln>
              <a:noFill/>
            </a:ln>
            <a:effectLst/>
          </c:spPr>
          <c:invertIfNegative val="0"/>
          <c:cat>
            <c:strRef>
              <c:f>Sheet1!$A$2:$A$6</c:f>
              <c:strCache>
                <c:ptCount val="5"/>
                <c:pt idx="0">
                  <c:v>Face Model</c:v>
                </c:pt>
                <c:pt idx="1">
                  <c:v>Voice Emotion Modle</c:v>
                </c:pt>
                <c:pt idx="2">
                  <c:v>Voice Veracity Model</c:v>
                </c:pt>
                <c:pt idx="3">
                  <c:v>Voice+PPG Emotion Model</c:v>
                </c:pt>
                <c:pt idx="4">
                  <c:v>Voice+PPG Veracity Model</c:v>
                </c:pt>
              </c:strCache>
            </c:strRef>
          </c:cat>
          <c:val>
            <c:numRef>
              <c:f>Sheet1!$B$2:$B$6</c:f>
              <c:numCache>
                <c:formatCode>General</c:formatCode>
                <c:ptCount val="5"/>
                <c:pt idx="0">
                  <c:v>68</c:v>
                </c:pt>
                <c:pt idx="1">
                  <c:v>13</c:v>
                </c:pt>
                <c:pt idx="2">
                  <c:v>50</c:v>
                </c:pt>
                <c:pt idx="3">
                  <c:v>33</c:v>
                </c:pt>
                <c:pt idx="4">
                  <c:v>49</c:v>
                </c:pt>
              </c:numCache>
            </c:numRef>
          </c:val>
          <c:extLst>
            <c:ext xmlns:c16="http://schemas.microsoft.com/office/drawing/2014/chart" uri="{C3380CC4-5D6E-409C-BE32-E72D297353CC}">
              <c16:uniqueId val="{00000000-1E2F-4DF9-8FA9-6616F2197E3A}"/>
            </c:ext>
          </c:extLst>
        </c:ser>
        <c:ser>
          <c:idx val="1"/>
          <c:order val="1"/>
          <c:tx>
            <c:strRef>
              <c:f>Sheet1!$C$1</c:f>
              <c:strCache>
                <c:ptCount val="1"/>
                <c:pt idx="0">
                  <c:v>After</c:v>
                </c:pt>
              </c:strCache>
            </c:strRef>
          </c:tx>
          <c:spPr>
            <a:solidFill>
              <a:schemeClr val="accent2"/>
            </a:solidFill>
            <a:ln>
              <a:noFill/>
            </a:ln>
            <a:effectLst/>
          </c:spPr>
          <c:invertIfNegative val="0"/>
          <c:cat>
            <c:strRef>
              <c:f>Sheet1!$A$2:$A$6</c:f>
              <c:strCache>
                <c:ptCount val="5"/>
                <c:pt idx="0">
                  <c:v>Face Model</c:v>
                </c:pt>
                <c:pt idx="1">
                  <c:v>Voice Emotion Modle</c:v>
                </c:pt>
                <c:pt idx="2">
                  <c:v>Voice Veracity Model</c:v>
                </c:pt>
                <c:pt idx="3">
                  <c:v>Voice+PPG Emotion Model</c:v>
                </c:pt>
                <c:pt idx="4">
                  <c:v>Voice+PPG Veracity Model</c:v>
                </c:pt>
              </c:strCache>
            </c:strRef>
          </c:cat>
          <c:val>
            <c:numRef>
              <c:f>Sheet1!$C$2:$C$6</c:f>
              <c:numCache>
                <c:formatCode>General</c:formatCode>
                <c:ptCount val="5"/>
                <c:pt idx="0">
                  <c:v>40</c:v>
                </c:pt>
                <c:pt idx="1">
                  <c:v>13</c:v>
                </c:pt>
                <c:pt idx="2">
                  <c:v>50</c:v>
                </c:pt>
                <c:pt idx="3">
                  <c:v>14</c:v>
                </c:pt>
                <c:pt idx="4">
                  <c:v>47</c:v>
                </c:pt>
              </c:numCache>
            </c:numRef>
          </c:val>
          <c:extLst>
            <c:ext xmlns:c16="http://schemas.microsoft.com/office/drawing/2014/chart" uri="{C3380CC4-5D6E-409C-BE32-E72D297353CC}">
              <c16:uniqueId val="{00000001-1E2F-4DF9-8FA9-6616F2197E3A}"/>
            </c:ext>
          </c:extLst>
        </c:ser>
        <c:dLbls>
          <c:showLegendKey val="0"/>
          <c:showVal val="0"/>
          <c:showCatName val="0"/>
          <c:showSerName val="0"/>
          <c:showPercent val="0"/>
          <c:showBubbleSize val="0"/>
        </c:dLbls>
        <c:gapWidth val="219"/>
        <c:overlap val="-27"/>
        <c:axId val="534928960"/>
        <c:axId val="534923560"/>
      </c:barChart>
      <c:catAx>
        <c:axId val="53492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534923560"/>
        <c:crosses val="autoZero"/>
        <c:auto val="1"/>
        <c:lblAlgn val="ctr"/>
        <c:lblOffset val="100"/>
        <c:noMultiLvlLbl val="0"/>
      </c:catAx>
      <c:valAx>
        <c:axId val="534923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53492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Emotion Detector is an on-device Android app that reads whether what a person says matches what their body reveals. Two things to keep in mind as we go: everything runs locally with no cloud, and the system is split into two interaction modes — a Job Interview mode and a Blind Date mode — that use slightly different sensor and model combinations. I'll point out where our implementation differs from the original plan as we move through the deck.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usage scenarios. In Job Interview mode you can point the camera at the person, we read their voice and facial expression continuously. </a:t>
            </a:r>
          </a:p>
          <a:p>
            <a:endParaRPr lang="en-US"/>
          </a:p>
          <a:p>
            <a:r>
              <a:rPr lang="en-US"/>
              <a:t>For example in settings like a video interview, you could leave the camera pointed at the screen and read emotion from their voice and facial expressions.</a:t>
            </a:r>
          </a:p>
          <a:p>
            <a:endParaRPr lang="en-US"/>
          </a:p>
          <a:p>
            <a:r>
              <a:rPr lang="en-US"/>
              <a:t>In the second scenario, such as a Blind date, the other person rests a fingertip on the rear camera and flash.</a:t>
            </a:r>
          </a:p>
          <a:p>
            <a:r>
              <a:rPr lang="en-US"/>
              <a:t>This will give a real fingertip PPG signal, and by combining it with ther voice, we can continuously read whether they're genuine or fake</a:t>
            </a:r>
          </a:p>
          <a:p>
            <a:endParaRPr lang="en-US"/>
          </a:p>
          <a:p>
            <a:endParaRPr lang="en-US"/>
          </a:p>
          <a:p>
            <a:endParaRPr lang="en-US"/>
          </a:p>
          <a:p>
            <a:r>
              <a:rPr lang="en-US"/>
              <a:t>Note the change here: we originally planned to also pull heart rate from the face with rPPG, but we did not implement facial rPPG — so Interview mode is voice plus face only. In Blind Date mode the other person rests a fingertip on the rear camera and flash; that gives us a real fingertip PPG pulse signal, which we combine with their voice. So PPG is still in the project — it just lives in Blind Date as a fingertip sensor, not as a contact-free facial reading.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pillars: the model side and the application side. On the model side — rather than one giant fused network, we trained per-signal models and combine the relevant ones per scenario. </a:t>
            </a:r>
          </a:p>
          <a:p>
            <a:endParaRPr lang="en-US"/>
          </a:p>
          <a:p>
            <a:r>
              <a:rPr lang="en-US"/>
              <a:t>In Detail, we use a log-mel spectrogram(voice data) and a face image as input. Each goees through a CNN backbone into a feature map, and then a small head on top predicts emotion or veracity. We built these per modality - a voice model, voice-ppg model and a face model. </a:t>
            </a:r>
          </a:p>
          <a:p>
            <a:r>
              <a:rPr lang="en-US"/>
              <a:t>The app just pick the right ones per scenario</a:t>
            </a:r>
          </a:p>
          <a:p>
            <a:endParaRPr lang="en-US"/>
          </a:p>
          <a:p>
            <a:r>
              <a:rPr lang="en-US"/>
              <a:t>The voice branch takes a log-mel spectrogram into a CNN; </a:t>
            </a:r>
          </a:p>
          <a:p>
            <a:r>
              <a:rPr lang="en-US"/>
              <a:t>the face branch takes a cropped face image into a CNN; </a:t>
            </a:r>
          </a:p>
          <a:p>
            <a:r>
              <a:rPr lang="en-US"/>
              <a:t>and for Blind Date we add a fingertip-PPG branch. </a:t>
            </a:r>
          </a:p>
          <a:p>
            <a:endParaRPr lang="en-US"/>
          </a:p>
          <a:p>
            <a:r>
              <a:rPr lang="en-US"/>
              <a:t>On the application side, From ic and rear camera, we senses fingertip PPG and camera, microphone </a:t>
            </a:r>
          </a:p>
          <a:p>
            <a:r>
              <a:rPr lang="en-US"/>
              <a:t>and infers with sliding-window technique.</a:t>
            </a:r>
          </a:p>
          <a:p>
            <a:endParaRPr lang="en-US"/>
          </a:p>
          <a:p>
            <a:r>
              <a:rPr lang="en-US"/>
              <a:t>The key correction versus our proposal: PPG is fingertip-based, and there is no single end-to-end fusion model — it's modality models assembled per mode.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&gt; Here's the model side in detail. </a:t>
            </a:r>
          </a:p>
          <a:p>
            <a:r>
              <a:rPr lang="en-US"/>
              <a:t>Every model follows the same shape: an input — a log-mel spectrogram for voice, or a 96×96 face crop — goes through a CNN backbone that produces a feature map, and a small head on top reads that feature for one task. </a:t>
            </a:r>
          </a:p>
          <a:p>
            <a:r>
              <a:rPr lang="en-US"/>
              <a:t>We split the heads by task, so one head predicts 8-class emotion (angry, contempt, disgust, fear, happy, neutral, sad, surprise) and other head predicts veracity — genuine versus fake. </a:t>
            </a:r>
          </a:p>
          <a:p>
            <a:r>
              <a:rPr lang="en-US"/>
              <a:t>We built these per modality , which gives us five models in total. Different from out first plan, there is no feature-fusion network due to its accuracy. Each model runs independently, and we combine their outputs at the app level, per scenario: Job Interview runs voice→emotion, voice→veracity, and face→emotion, then shows the face and voice emotions side by side with a face–voice mismatch score; Blind Date runs the voice+fingertip-PPG emotion and veracity models for a continuous genuine/fake read. </a:t>
            </a:r>
          </a:p>
          <a:p>
            <a:endParaRPr lang="en-US"/>
          </a:p>
          <a:p>
            <a:r>
              <a:rPr lang="en-US"/>
              <a:t>(이 내용은 뒤에서)</a:t>
            </a:r>
          </a:p>
          <a:p>
            <a:r>
              <a:rPr lang="en-US"/>
              <a:t>Two notes for accuracy: the voice mel is generated with the exact same preprocessing as training (librosa-equivalent log-mel, n_fft 2048, hop 1024, Slaney filterbank, dB, per-window z-score)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sensing channels, all on-device. Voice from the microphone — prosody and tremor. And the microphone audio isn't fed to the model raw: we keep a rolling buffer and take the most recent 5-second window (a sliding window with a 2.5-second stride), convert it into a log-mel spectrogram — the exact same transform used in training (n_fft 2048, hop 1024, Slaney mel, dB, per-window z-score) — and that spectrogram is what goes into the voice model. We run that mel front-end with an FFT on-device so it's fast enough to keep up in real time. Face from the camera — but here's a change: instead of facial landmark or mesh tracking, we use ML Kit face detection to find the face bounding box, then crop that region to 96×96 for the emotion model. And fingertip PPG — the third card used to say "PPG &amp; rPPG" with contact-free facial reading; that was a misconception on our part. In reality the pulse comes from a fingertip resting on the rear camera and flash, and we extract the heart rate from the red-channel variation across frames. There is no facial rPPG. Privacy by design still holds — all three streams are processed and discarded on the phone.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inference modes sharing one live read-out. Blind Date is the lightweight one: a fingertip pulse lock plus the mic, giving a genuine/fake read. Interview is camera plus voice — and note it does not use PPG anymore</a:t>
            </a:r>
          </a:p>
          <a:p>
            <a:endParaRPr lang="en-US"/>
          </a:p>
          <a:p>
            <a:r>
              <a:rPr lang="en-US"/>
              <a:t>the live deception gauge, recent window's fake-class probability is driven by the voice veracity model, and we additionally show the face emotion and the voice emotion side by side, plus a face–voice mismatch score. We use the consine distance between the two emotion distributions(voice and face) as the tell-tale signal.</a:t>
            </a:r>
          </a:p>
          <a:p>
            <a:endParaRPr lang="en-US"/>
          </a:p>
          <a:p>
            <a:r>
              <a:rPr lang="en-US"/>
              <a:t>A heart rate via fingertip PPG only appears in Blind Date.</a:t>
            </a:r>
          </a:p>
          <a:p>
            <a:endParaRPr lang="en-US"/>
          </a:p>
          <a:p>
            <a:r>
              <a:rPr lang="en-US"/>
              <a:t>Also, both veracity model infer on a 5-second sliding window with a 2.5-second stride, matching how the model was trained.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the left, sliding-window inference: we slice the continuous voice into overlapping 5-second windows with a 2.5-second stride, so the verdict refreshes roughly every step instead of waiting for the</a:t>
            </a:r>
          </a:p>
          <a:p>
            <a:r>
              <a:rPr lang="en-US"/>
              <a:t>person to finish. </a:t>
            </a:r>
          </a:p>
          <a:p>
            <a:r>
              <a:rPr lang="en-US"/>
              <a:t>That window size is exactly what the model was trained on. On the right, the fingertip-PPG sensing policy. </a:t>
            </a:r>
          </a:p>
          <a:p>
            <a:endParaRPr lang="en-US"/>
          </a:p>
          <a:p>
            <a:r>
              <a:rPr lang="en-US"/>
              <a:t>We only trust the pulse when the finger is actually covering the lens and start the inference.</a:t>
            </a:r>
          </a:p>
          <a:p>
            <a:endParaRPr lang="en-US"/>
          </a:p>
          <a:p>
            <a:r>
              <a:rPr lang="en-US"/>
              <a:t>when the red-channel signal is steady we lock on and refresh the BPM.</a:t>
            </a:r>
          </a:p>
          <a:p>
            <a:endParaRPr lang="en-US"/>
          </a:p>
          <a:p>
            <a:r>
              <a:rPr lang="en-US"/>
              <a:t>The BPM itself is computed from peak-to-peak intervals, smoothed with a 10-second median so the number stays stable instead of jumping every frame.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Optimization to fit the phone. Two levers: pruning to drop low-importance weights, and quantization to shrink and speed up the math. One accuracy note specific to our build: the shipped TFLite models are float16-quantized. If we present INT8 numbers, make sure the table matches what we actually measured. Also worth mentioning: a real-time bottleneck we hit was the spectrogram, not the model — a naive DFT blocked the audio thread, so we switched the mel front-end to a radix-2 FFT, which is what made live windows actually appear. Fill the table with our measured size, latency-per-window, peak memory, and accuracy before and after.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Live demo. Three things to show: in Interview, the camera preview with the ML Kit face-detection box drawn live, plus the face emotion and voice emotion read out together with the face–voice mismatch gauge. In Blind Date, the fingertip PPG lock and the stabilized BPM. And on the Result screen, the emotion timeline heatmap — eight emotion rows across the session's sliding windows, with the dominant emotion per window highlighted. If the lie score looks flat, that's expected — call out that emotion is the stronger signal.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we built it across four phases — data and model design, training, the app and sensing layer, then optimization and demo. Contributions: 재웅 led the model side — training the per-modality networks and the size and speed optimization. 준병 built the application — the Compose UI, the sensing pipeline (mic mel front-end, fingertip PPG, ML Kit face detection), and the on-device TFLite inference. One framing note: where the proposal said multimodal fusion, in practice it's per-modality models assembled per scenario, with the voice front-end carefully matched to training.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close — Emotion Detector reads the truth beneath the surface: on-device, private by design, combining voice, face, and a fingertip pulse. The honest version of our story is that we scoped PPG down to a fingertip sensor in Blind Date, dropped facial rPPG, kept Interview to voice and face, and spent real effort making the on-device audio front-end faithful to training. Happy to take questions on the model, the sensing pipeline, or the accuracy trade-offs.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19.png"/><Relationship Id="rId7"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dirty="0"/>
          </a:p>
        </p:txBody>
      </p:sp>
      <p:sp>
        <p:nvSpPr>
          <p:cNvPr id="3" name="TextBox 3"/>
          <p:cNvSpPr txBox="1"/>
          <p:nvPr/>
        </p:nvSpPr>
        <p:spPr>
          <a:xfrm>
            <a:off x="1143000" y="2846356"/>
            <a:ext cx="5029200" cy="264795"/>
          </a:xfrm>
          <a:prstGeom prst="rect">
            <a:avLst/>
          </a:prstGeom>
        </p:spPr>
        <p:txBody>
          <a:bodyPr lIns="0" tIns="0" rIns="0" bIns="0" rtlCol="0" anchor="t">
            <a:spAutoFit/>
          </a:bodyPr>
          <a:lstStyle/>
          <a:p>
            <a:pPr algn="l">
              <a:lnSpc>
                <a:spcPts val="2204"/>
              </a:lnSpc>
            </a:pPr>
            <a:r>
              <a:rPr lang="en-US" sz="1575" b="1" spc="225">
                <a:solidFill>
                  <a:srgbClr val="9AA0FF"/>
                </a:solidFill>
                <a:latin typeface="IBM Plex Mono Medium"/>
                <a:ea typeface="IBM Plex Mono Medium"/>
                <a:cs typeface="IBM Plex Mono Medium"/>
                <a:sym typeface="IBM Plex Mono Medium"/>
              </a:rPr>
              <a:t>ON-DEVICE · VOICE · FACE · PPG</a:t>
            </a:r>
          </a:p>
        </p:txBody>
      </p:sp>
      <p:sp>
        <p:nvSpPr>
          <p:cNvPr id="4" name="TextBox 4"/>
          <p:cNvSpPr txBox="1"/>
          <p:nvPr/>
        </p:nvSpPr>
        <p:spPr>
          <a:xfrm>
            <a:off x="1143000" y="3570256"/>
            <a:ext cx="11049000" cy="1764411"/>
          </a:xfrm>
          <a:prstGeom prst="rect">
            <a:avLst/>
          </a:prstGeom>
        </p:spPr>
        <p:txBody>
          <a:bodyPr lIns="0" tIns="0" rIns="0" bIns="0" rtlCol="0" anchor="t">
            <a:spAutoFit/>
          </a:bodyPr>
          <a:lstStyle/>
          <a:p>
            <a:pPr algn="l">
              <a:lnSpc>
                <a:spcPts val="6762"/>
              </a:lnSpc>
            </a:pPr>
            <a:r>
              <a:rPr lang="en-US" sz="6900" b="1" spc="-227">
                <a:solidFill>
                  <a:srgbClr val="EEF0FF"/>
                </a:solidFill>
                <a:latin typeface="IBM Plex Sans Bold"/>
                <a:ea typeface="IBM Plex Sans Bold"/>
                <a:cs typeface="IBM Plex Sans Bold"/>
                <a:sym typeface="IBM Plex Sans Bold"/>
              </a:rPr>
              <a:t>Emotion and Deception</a:t>
            </a:r>
          </a:p>
          <a:p>
            <a:pPr algn="l">
              <a:lnSpc>
                <a:spcPts val="6762"/>
              </a:lnSpc>
            </a:pPr>
            <a:r>
              <a:rPr lang="en-US" sz="6900" b="1" spc="-227">
                <a:solidFill>
                  <a:srgbClr val="9AA0FF"/>
                </a:solidFill>
                <a:latin typeface="IBM Plex Sans Bold"/>
                <a:ea typeface="IBM Plex Sans Bold"/>
                <a:cs typeface="IBM Plex Sans Bold"/>
                <a:sym typeface="IBM Plex Sans Bold"/>
              </a:rPr>
              <a:t>Detector</a:t>
            </a:r>
          </a:p>
        </p:txBody>
      </p:sp>
      <p:sp>
        <p:nvSpPr>
          <p:cNvPr id="5" name="TextBox 5"/>
          <p:cNvSpPr txBox="1"/>
          <p:nvPr/>
        </p:nvSpPr>
        <p:spPr>
          <a:xfrm>
            <a:off x="1143000" y="5373434"/>
            <a:ext cx="9715500" cy="828675"/>
          </a:xfrm>
          <a:prstGeom prst="rect">
            <a:avLst/>
          </a:prstGeom>
        </p:spPr>
        <p:txBody>
          <a:bodyPr lIns="0" tIns="0" rIns="0" bIns="0" rtlCol="0" anchor="t">
            <a:spAutoFit/>
          </a:bodyPr>
          <a:lstStyle/>
          <a:p>
            <a:pPr algn="l">
              <a:lnSpc>
                <a:spcPts val="3375"/>
              </a:lnSpc>
            </a:pPr>
            <a:r>
              <a:rPr lang="en-US" sz="2250">
                <a:solidFill>
                  <a:srgbClr val="A6ABCE"/>
                </a:solidFill>
                <a:latin typeface="IBM Plex Sans"/>
                <a:ea typeface="IBM Plex Sans"/>
                <a:cs typeface="IBM Plex Sans"/>
                <a:sym typeface="IBM Plex Sans"/>
              </a:rPr>
              <a:t>A private, on-device system that reads </a:t>
            </a:r>
            <a:r>
              <a:rPr lang="en-US" sz="2250" b="1">
                <a:solidFill>
                  <a:srgbClr val="EEF0FF"/>
                </a:solidFill>
                <a:latin typeface="IBM Plex Sans Medium"/>
                <a:ea typeface="IBM Plex Sans Medium"/>
                <a:cs typeface="IBM Plex Sans Medium"/>
                <a:sym typeface="IBM Plex Sans Medium"/>
              </a:rPr>
              <a:t>emotion and deception</a:t>
            </a:r>
            <a:r>
              <a:rPr lang="en-US" sz="2250">
                <a:solidFill>
                  <a:srgbClr val="A6ABCE"/>
                </a:solidFill>
                <a:latin typeface="IBM Plex Sans"/>
                <a:ea typeface="IBM Plex Sans"/>
                <a:cs typeface="IBM Plex Sans"/>
                <a:sym typeface="IBM Plex Sans"/>
              </a:rPr>
              <a:t> by fusing voice, facial expression, and heart-rate signals</a:t>
            </a:r>
          </a:p>
        </p:txBody>
      </p:sp>
      <p:grpSp>
        <p:nvGrpSpPr>
          <p:cNvPr id="6" name="Group 6"/>
          <p:cNvGrpSpPr/>
          <p:nvPr/>
        </p:nvGrpSpPr>
        <p:grpSpPr>
          <a:xfrm>
            <a:off x="1143000" y="7078408"/>
            <a:ext cx="776288" cy="342900"/>
            <a:chOff x="0" y="0"/>
            <a:chExt cx="1035050" cy="457200"/>
          </a:xfrm>
        </p:grpSpPr>
        <p:sp>
          <p:nvSpPr>
            <p:cNvPr id="7" name="Freeform 7"/>
            <p:cNvSpPr/>
            <p:nvPr/>
          </p:nvSpPr>
          <p:spPr>
            <a:xfrm>
              <a:off x="0" y="0"/>
              <a:ext cx="1035050" cy="457200"/>
            </a:xfrm>
            <a:custGeom>
              <a:avLst/>
              <a:gdLst/>
              <a:ahLst/>
              <a:cxnLst/>
              <a:rect l="l" t="t" r="r" b="b"/>
              <a:pathLst>
                <a:path w="1035050" h="457200">
                  <a:moveTo>
                    <a:pt x="228600" y="0"/>
                  </a:moveTo>
                  <a:lnTo>
                    <a:pt x="806450" y="0"/>
                  </a:lnTo>
                  <a:cubicBezTo>
                    <a:pt x="932688" y="0"/>
                    <a:pt x="1035050" y="102362"/>
                    <a:pt x="1035050" y="228600"/>
                  </a:cubicBezTo>
                  <a:cubicBezTo>
                    <a:pt x="1035050" y="354838"/>
                    <a:pt x="932688" y="457200"/>
                    <a:pt x="806450" y="457200"/>
                  </a:cubicBezTo>
                  <a:lnTo>
                    <a:pt x="228600" y="457200"/>
                  </a:lnTo>
                  <a:cubicBezTo>
                    <a:pt x="102362" y="457200"/>
                    <a:pt x="0" y="354838"/>
                    <a:pt x="0" y="228600"/>
                  </a:cubicBezTo>
                  <a:cubicBezTo>
                    <a:pt x="0" y="102362"/>
                    <a:pt x="102362" y="0"/>
                    <a:pt x="228600" y="0"/>
                  </a:cubicBezTo>
                  <a:close/>
                </a:path>
              </a:pathLst>
            </a:custGeom>
            <a:solidFill>
              <a:srgbClr val="7C83FF">
                <a:alpha val="38000"/>
              </a:srgbClr>
            </a:solidFill>
          </p:spPr>
          <p:txBody>
            <a:bodyPr/>
            <a:lstStyle/>
            <a:p>
              <a:endParaRPr lang="ko-KR" altLang="en-US"/>
            </a:p>
          </p:txBody>
        </p:sp>
        <p:sp>
          <p:nvSpPr>
            <p:cNvPr id="8" name="TextBox 8"/>
            <p:cNvSpPr txBox="1"/>
            <p:nvPr/>
          </p:nvSpPr>
          <p:spPr>
            <a:xfrm>
              <a:off x="0" y="-19050"/>
              <a:ext cx="1035050" cy="476250"/>
            </a:xfrm>
            <a:prstGeom prst="rect">
              <a:avLst/>
            </a:prstGeom>
          </p:spPr>
          <p:txBody>
            <a:bodyPr lIns="88900" tIns="88900" rIns="88900" bIns="88900" rtlCol="0" anchor="ctr"/>
            <a:lstStyle/>
            <a:p>
              <a:pPr algn="l">
                <a:lnSpc>
                  <a:spcPts val="1784"/>
                </a:lnSpc>
              </a:pPr>
              <a:r>
                <a:rPr lang="en-US" sz="1275" b="1" spc="36" dirty="0">
                  <a:solidFill>
                    <a:srgbClr val="9AA0FF"/>
                  </a:solidFill>
                  <a:latin typeface="IBM Plex Mono Medium"/>
                  <a:ea typeface="IBM Plex Mono Medium"/>
                  <a:cs typeface="IBM Plex Mono Medium"/>
                  <a:sym typeface="IBM Plex Mono Medium"/>
                </a:rPr>
                <a:t>VOICE</a:t>
              </a:r>
            </a:p>
          </p:txBody>
        </p:sp>
      </p:grpSp>
      <p:grpSp>
        <p:nvGrpSpPr>
          <p:cNvPr id="9" name="Group 9"/>
          <p:cNvGrpSpPr/>
          <p:nvPr/>
        </p:nvGrpSpPr>
        <p:grpSpPr>
          <a:xfrm>
            <a:off x="2033588" y="7078408"/>
            <a:ext cx="674465" cy="342900"/>
            <a:chOff x="0" y="0"/>
            <a:chExt cx="899287" cy="457200"/>
          </a:xfrm>
        </p:grpSpPr>
        <p:sp>
          <p:nvSpPr>
            <p:cNvPr id="10" name="Freeform 10"/>
            <p:cNvSpPr/>
            <p:nvPr/>
          </p:nvSpPr>
          <p:spPr>
            <a:xfrm>
              <a:off x="0" y="0"/>
              <a:ext cx="899287" cy="457200"/>
            </a:xfrm>
            <a:custGeom>
              <a:avLst/>
              <a:gdLst/>
              <a:ahLst/>
              <a:cxnLst/>
              <a:rect l="l" t="t" r="r" b="b"/>
              <a:pathLst>
                <a:path w="899287" h="457200">
                  <a:moveTo>
                    <a:pt x="228600" y="0"/>
                  </a:moveTo>
                  <a:lnTo>
                    <a:pt x="670687" y="0"/>
                  </a:lnTo>
                  <a:cubicBezTo>
                    <a:pt x="796925" y="0"/>
                    <a:pt x="899287" y="102362"/>
                    <a:pt x="899287" y="228600"/>
                  </a:cubicBezTo>
                  <a:cubicBezTo>
                    <a:pt x="899287" y="354838"/>
                    <a:pt x="796925" y="457200"/>
                    <a:pt x="670687" y="457200"/>
                  </a:cubicBezTo>
                  <a:lnTo>
                    <a:pt x="228600" y="457200"/>
                  </a:lnTo>
                  <a:cubicBezTo>
                    <a:pt x="102362" y="457200"/>
                    <a:pt x="0" y="354838"/>
                    <a:pt x="0" y="228600"/>
                  </a:cubicBezTo>
                  <a:cubicBezTo>
                    <a:pt x="0" y="102362"/>
                    <a:pt x="102362" y="0"/>
                    <a:pt x="228600" y="0"/>
                  </a:cubicBezTo>
                  <a:close/>
                </a:path>
              </a:pathLst>
            </a:custGeom>
            <a:solidFill>
              <a:srgbClr val="7C83FF">
                <a:alpha val="38000"/>
              </a:srgbClr>
            </a:solidFill>
          </p:spPr>
          <p:txBody>
            <a:bodyPr/>
            <a:lstStyle/>
            <a:p>
              <a:endParaRPr lang="ko-KR" altLang="en-US" dirty="0"/>
            </a:p>
          </p:txBody>
        </p:sp>
        <p:sp>
          <p:nvSpPr>
            <p:cNvPr id="11" name="TextBox 11"/>
            <p:cNvSpPr txBox="1"/>
            <p:nvPr/>
          </p:nvSpPr>
          <p:spPr>
            <a:xfrm>
              <a:off x="0" y="-19050"/>
              <a:ext cx="89928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FACE</a:t>
              </a:r>
            </a:p>
          </p:txBody>
        </p:sp>
      </p:grpSp>
      <p:grpSp>
        <p:nvGrpSpPr>
          <p:cNvPr id="12" name="Group 12"/>
          <p:cNvGrpSpPr/>
          <p:nvPr/>
        </p:nvGrpSpPr>
        <p:grpSpPr>
          <a:xfrm>
            <a:off x="2822353" y="7078408"/>
            <a:ext cx="572548" cy="342900"/>
            <a:chOff x="0" y="0"/>
            <a:chExt cx="763397" cy="457200"/>
          </a:xfrm>
        </p:grpSpPr>
        <p:sp>
          <p:nvSpPr>
            <p:cNvPr id="13" name="Freeform 13"/>
            <p:cNvSpPr/>
            <p:nvPr/>
          </p:nvSpPr>
          <p:spPr>
            <a:xfrm>
              <a:off x="0" y="0"/>
              <a:ext cx="763397" cy="457200"/>
            </a:xfrm>
            <a:custGeom>
              <a:avLst/>
              <a:gdLst/>
              <a:ahLst/>
              <a:cxnLst/>
              <a:rect l="l" t="t" r="r" b="b"/>
              <a:pathLst>
                <a:path w="763397" h="457200">
                  <a:moveTo>
                    <a:pt x="228600" y="0"/>
                  </a:moveTo>
                  <a:lnTo>
                    <a:pt x="534797" y="0"/>
                  </a:lnTo>
                  <a:cubicBezTo>
                    <a:pt x="661035" y="0"/>
                    <a:pt x="763397" y="102362"/>
                    <a:pt x="763397" y="228600"/>
                  </a:cubicBezTo>
                  <a:cubicBezTo>
                    <a:pt x="763397" y="354838"/>
                    <a:pt x="661035" y="457200"/>
                    <a:pt x="534797" y="457200"/>
                  </a:cubicBezTo>
                  <a:lnTo>
                    <a:pt x="228600" y="457200"/>
                  </a:lnTo>
                  <a:cubicBezTo>
                    <a:pt x="102362" y="457200"/>
                    <a:pt x="0" y="354838"/>
                    <a:pt x="0" y="228600"/>
                  </a:cubicBezTo>
                  <a:cubicBezTo>
                    <a:pt x="0" y="102362"/>
                    <a:pt x="102362" y="0"/>
                    <a:pt x="228600" y="0"/>
                  </a:cubicBezTo>
                  <a:close/>
                </a:path>
              </a:pathLst>
            </a:custGeom>
            <a:solidFill>
              <a:srgbClr val="7C83FF">
                <a:alpha val="38000"/>
              </a:srgbClr>
            </a:solidFill>
          </p:spPr>
          <p:txBody>
            <a:bodyPr/>
            <a:lstStyle/>
            <a:p>
              <a:endParaRPr lang="ko-KR" altLang="en-US" dirty="0"/>
            </a:p>
          </p:txBody>
        </p:sp>
        <p:sp>
          <p:nvSpPr>
            <p:cNvPr id="14" name="TextBox 14"/>
            <p:cNvSpPr txBox="1"/>
            <p:nvPr/>
          </p:nvSpPr>
          <p:spPr>
            <a:xfrm>
              <a:off x="0" y="-19050"/>
              <a:ext cx="76339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PPG</a:t>
              </a:r>
            </a:p>
          </p:txBody>
        </p:sp>
      </p:grpSp>
      <p:grpSp>
        <p:nvGrpSpPr>
          <p:cNvPr id="15" name="Group 15"/>
          <p:cNvGrpSpPr/>
          <p:nvPr/>
        </p:nvGrpSpPr>
        <p:grpSpPr>
          <a:xfrm>
            <a:off x="3509200" y="7078408"/>
            <a:ext cx="1184053" cy="342900"/>
            <a:chOff x="0" y="0"/>
            <a:chExt cx="1578737" cy="457200"/>
          </a:xfrm>
        </p:grpSpPr>
        <p:sp>
          <p:nvSpPr>
            <p:cNvPr id="16" name="Freeform 16"/>
            <p:cNvSpPr/>
            <p:nvPr/>
          </p:nvSpPr>
          <p:spPr>
            <a:xfrm>
              <a:off x="0" y="0"/>
              <a:ext cx="1578737" cy="457200"/>
            </a:xfrm>
            <a:custGeom>
              <a:avLst/>
              <a:gdLst/>
              <a:ahLst/>
              <a:cxnLst/>
              <a:rect l="l" t="t" r="r" b="b"/>
              <a:pathLst>
                <a:path w="1578737" h="457200">
                  <a:moveTo>
                    <a:pt x="228600" y="0"/>
                  </a:moveTo>
                  <a:lnTo>
                    <a:pt x="1350137" y="0"/>
                  </a:lnTo>
                  <a:cubicBezTo>
                    <a:pt x="1476375" y="0"/>
                    <a:pt x="1578737" y="102362"/>
                    <a:pt x="1578737" y="228600"/>
                  </a:cubicBezTo>
                  <a:cubicBezTo>
                    <a:pt x="1578737" y="354838"/>
                    <a:pt x="1476375" y="457200"/>
                    <a:pt x="1350137" y="457200"/>
                  </a:cubicBezTo>
                  <a:lnTo>
                    <a:pt x="228600" y="457200"/>
                  </a:lnTo>
                  <a:cubicBezTo>
                    <a:pt x="102362" y="457200"/>
                    <a:pt x="0" y="354838"/>
                    <a:pt x="0" y="228600"/>
                  </a:cubicBezTo>
                  <a:cubicBezTo>
                    <a:pt x="0" y="102362"/>
                    <a:pt x="102362" y="0"/>
                    <a:pt x="228600" y="0"/>
                  </a:cubicBezTo>
                  <a:close/>
                </a:path>
              </a:pathLst>
            </a:custGeom>
            <a:solidFill>
              <a:srgbClr val="FF6B6B">
                <a:alpha val="1569"/>
              </a:srgbClr>
            </a:solidFill>
          </p:spPr>
          <p:txBody>
            <a:bodyPr/>
            <a:lstStyle/>
            <a:p>
              <a:endParaRPr lang="ko-KR" altLang="en-US"/>
            </a:p>
          </p:txBody>
        </p:sp>
        <p:sp>
          <p:nvSpPr>
            <p:cNvPr id="17" name="TextBox 17"/>
            <p:cNvSpPr txBox="1"/>
            <p:nvPr/>
          </p:nvSpPr>
          <p:spPr>
            <a:xfrm>
              <a:off x="0" y="-19050"/>
              <a:ext cx="1578737" cy="476250"/>
            </a:xfrm>
            <a:prstGeom prst="rect">
              <a:avLst/>
            </a:prstGeom>
          </p:spPr>
          <p:txBody>
            <a:bodyPr lIns="88900" tIns="88900" rIns="88900" bIns="88900" rtlCol="0" anchor="ctr"/>
            <a:lstStyle/>
            <a:p>
              <a:pPr algn="l">
                <a:lnSpc>
                  <a:spcPts val="1784"/>
                </a:lnSpc>
              </a:pPr>
              <a:r>
                <a:rPr lang="en-US" sz="1275" b="1" spc="36" dirty="0">
                  <a:solidFill>
                    <a:srgbClr val="FF6B6B"/>
                  </a:solidFill>
                  <a:latin typeface="IBM Plex Mono Medium"/>
                  <a:ea typeface="IBM Plex Mono Medium"/>
                  <a:cs typeface="IBM Plex Mono Medium"/>
                  <a:sym typeface="IBM Plex Mono Medium"/>
                </a:rPr>
                <a:t>DECEPTION</a:t>
              </a:r>
            </a:p>
          </p:txBody>
        </p:sp>
      </p:grpSp>
      <p:grpSp>
        <p:nvGrpSpPr>
          <p:cNvPr id="18" name="Group 18"/>
          <p:cNvGrpSpPr/>
          <p:nvPr/>
        </p:nvGrpSpPr>
        <p:grpSpPr>
          <a:xfrm>
            <a:off x="13239750" y="1390936"/>
            <a:ext cx="3429000" cy="7504938"/>
            <a:chOff x="0" y="0"/>
            <a:chExt cx="4572000" cy="10006584"/>
          </a:xfrm>
        </p:grpSpPr>
        <p:sp>
          <p:nvSpPr>
            <p:cNvPr id="19" name="Freeform 19"/>
            <p:cNvSpPr/>
            <p:nvPr/>
          </p:nvSpPr>
          <p:spPr>
            <a:xfrm>
              <a:off x="0" y="0"/>
              <a:ext cx="4572000" cy="10006584"/>
            </a:xfrm>
            <a:custGeom>
              <a:avLst/>
              <a:gdLst/>
              <a:ahLst/>
              <a:cxnLst/>
              <a:rect l="l" t="t" r="r" b="b"/>
              <a:pathLst>
                <a:path w="4572000" h="10006584">
                  <a:moveTo>
                    <a:pt x="381000" y="0"/>
                  </a:moveTo>
                  <a:lnTo>
                    <a:pt x="4191000" y="0"/>
                  </a:lnTo>
                  <a:cubicBezTo>
                    <a:pt x="4401439" y="0"/>
                    <a:pt x="4572000" y="170561"/>
                    <a:pt x="4572000" y="381000"/>
                  </a:cubicBezTo>
                  <a:lnTo>
                    <a:pt x="4572000" y="9625584"/>
                  </a:lnTo>
                  <a:cubicBezTo>
                    <a:pt x="4572000" y="9836023"/>
                    <a:pt x="4401439" y="10006584"/>
                    <a:pt x="4191000" y="10006584"/>
                  </a:cubicBezTo>
                  <a:lnTo>
                    <a:pt x="381000" y="10006584"/>
                  </a:lnTo>
                  <a:cubicBezTo>
                    <a:pt x="170561" y="10006584"/>
                    <a:pt x="0" y="9836023"/>
                    <a:pt x="0" y="9625584"/>
                  </a:cubicBezTo>
                  <a:lnTo>
                    <a:pt x="0" y="381000"/>
                  </a:lnTo>
                  <a:cubicBezTo>
                    <a:pt x="0" y="170561"/>
                    <a:pt x="170561" y="0"/>
                    <a:pt x="381000" y="0"/>
                  </a:cubicBezTo>
                  <a:close/>
                </a:path>
              </a:pathLst>
            </a:custGeom>
            <a:blipFill>
              <a:blip r:embed="rId3"/>
              <a:stretch>
                <a:fillRect/>
              </a:stretch>
            </a:blipFill>
          </p:spPr>
          <p:txBody>
            <a:bodyPr/>
            <a:lstStyle/>
            <a:p>
              <a:endParaRPr lang="ko-KR" altLang="en-US"/>
            </a:p>
          </p:txBody>
        </p:sp>
      </p:grpSp>
      <p:sp>
        <p:nvSpPr>
          <p:cNvPr id="20" name="AutoShape 20"/>
          <p:cNvSpPr/>
          <p:nvPr/>
        </p:nvSpPr>
        <p:spPr>
          <a:xfrm>
            <a:off x="1143000" y="2998756"/>
            <a:ext cx="438150" cy="19050"/>
          </a:xfrm>
          <a:prstGeom prst="rect">
            <a:avLst/>
          </a:prstGeom>
          <a:solidFill>
            <a:srgbClr val="7C83FF">
              <a:alpha val="69804"/>
            </a:srgbClr>
          </a:solidFill>
        </p:spPr>
        <p:txBody>
          <a:bodyPr/>
          <a:lstStyle/>
          <a:p>
            <a:endParaRPr lang="ko-KR" altLang="en-US"/>
          </a:p>
        </p:txBody>
      </p:sp>
      <p:sp>
        <p:nvSpPr>
          <p:cNvPr id="21" name="TextBox 21"/>
          <p:cNvSpPr txBox="1"/>
          <p:nvPr/>
        </p:nvSpPr>
        <p:spPr>
          <a:xfrm>
            <a:off x="1362075" y="9563100"/>
            <a:ext cx="2640330" cy="247650"/>
          </a:xfrm>
          <a:prstGeom prst="rect">
            <a:avLst/>
          </a:prstGeom>
        </p:spPr>
        <p:txBody>
          <a:bodyPr lIns="0" tIns="0" rIns="0" bIns="0" rtlCol="0" anchor="t">
            <a:spAutoFit/>
          </a:bodyPr>
          <a:lstStyle/>
          <a:p>
            <a:pPr algn="l">
              <a:lnSpc>
                <a:spcPts val="1889"/>
              </a:lnSpc>
            </a:pPr>
            <a:r>
              <a:rPr lang="en-US" sz="1350">
                <a:solidFill>
                  <a:srgbClr val="6B7099"/>
                </a:solidFill>
                <a:latin typeface="IBM Plex Mono"/>
                <a:ea typeface="IBM Plex Mono"/>
                <a:cs typeface="IBM Plex Mono"/>
                <a:sym typeface="IBM Plex Mono"/>
              </a:rPr>
              <a:t>MCA · Final Presentation</a:t>
            </a:r>
          </a:p>
        </p:txBody>
      </p:sp>
      <p:grpSp>
        <p:nvGrpSpPr>
          <p:cNvPr id="22" name="Group 22"/>
          <p:cNvGrpSpPr/>
          <p:nvPr/>
        </p:nvGrpSpPr>
        <p:grpSpPr>
          <a:xfrm>
            <a:off x="1143000" y="9663112"/>
            <a:ext cx="76200" cy="76200"/>
            <a:chOff x="0" y="0"/>
            <a:chExt cx="101600" cy="101600"/>
          </a:xfrm>
        </p:grpSpPr>
        <p:sp>
          <p:nvSpPr>
            <p:cNvPr id="23" name="Freeform 23"/>
            <p:cNvSpPr/>
            <p:nvPr/>
          </p:nvSpPr>
          <p:spPr>
            <a:xfrm>
              <a:off x="0" y="0"/>
              <a:ext cx="101600" cy="101600"/>
            </a:xfrm>
            <a:custGeom>
              <a:avLst/>
              <a:gdLst/>
              <a:ahLst/>
              <a:cxnLst/>
              <a:rect l="l" t="t" r="r" b="b"/>
              <a:pathLst>
                <a:path w="101600" h="101600">
                  <a:moveTo>
                    <a:pt x="50800" y="0"/>
                  </a:moveTo>
                  <a:cubicBezTo>
                    <a:pt x="78867" y="0"/>
                    <a:pt x="101600" y="22733"/>
                    <a:pt x="101600" y="50800"/>
                  </a:cubicBezTo>
                  <a:cubicBezTo>
                    <a:pt x="101600" y="78867"/>
                    <a:pt x="78867" y="101600"/>
                    <a:pt x="50800" y="101600"/>
                  </a:cubicBezTo>
                  <a:cubicBezTo>
                    <a:pt x="22733" y="101600"/>
                    <a:pt x="0" y="78867"/>
                    <a:pt x="0" y="50800"/>
                  </a:cubicBezTo>
                  <a:cubicBezTo>
                    <a:pt x="0" y="22733"/>
                    <a:pt x="22733" y="0"/>
                    <a:pt x="50800" y="0"/>
                  </a:cubicBezTo>
                  <a:close/>
                </a:path>
              </a:pathLst>
            </a:custGeom>
            <a:solidFill>
              <a:srgbClr val="7C83FF"/>
            </a:solidFill>
          </p:spPr>
          <p:txBody>
            <a:bodyPr/>
            <a:lstStyle/>
            <a:p>
              <a:endParaRPr lang="ko-KR" altLang="en-US"/>
            </a:p>
          </p:txBody>
        </p:sp>
      </p:grpSp>
      <p:sp>
        <p:nvSpPr>
          <p:cNvPr id="24" name="TextBox 24"/>
          <p:cNvSpPr txBox="1"/>
          <p:nvPr/>
        </p:nvSpPr>
        <p:spPr>
          <a:xfrm>
            <a:off x="14813185" y="9563100"/>
            <a:ext cx="2865215" cy="225446"/>
          </a:xfrm>
          <a:prstGeom prst="rect">
            <a:avLst/>
          </a:prstGeom>
        </p:spPr>
        <p:txBody>
          <a:bodyPr wrap="square" lIns="0" tIns="0" rIns="0" bIns="0" rtlCol="0" anchor="t">
            <a:spAutoFit/>
          </a:bodyPr>
          <a:lstStyle/>
          <a:p>
            <a:pPr algn="l">
              <a:lnSpc>
                <a:spcPts val="1889"/>
              </a:lnSpc>
            </a:pPr>
            <a:r>
              <a:rPr lang="en-US" sz="1350" dirty="0" err="1">
                <a:solidFill>
                  <a:srgbClr val="6B7099"/>
                </a:solidFill>
                <a:latin typeface="IBM Plex Mono"/>
                <a:ea typeface="IBM Plex Mono"/>
                <a:cs typeface="IBM Plex Mono"/>
                <a:sym typeface="IBM Plex Mono"/>
              </a:rPr>
              <a:t>준병</a:t>
            </a:r>
            <a:r>
              <a:rPr lang="en-US" sz="1350" dirty="0">
                <a:solidFill>
                  <a:srgbClr val="6B7099"/>
                </a:solidFill>
                <a:latin typeface="IBM Plex Mono"/>
                <a:ea typeface="IBM Plex Mono"/>
                <a:cs typeface="IBM Plex Mono"/>
                <a:sym typeface="IBM Plex Mono"/>
              </a:rPr>
              <a:t> · </a:t>
            </a:r>
            <a:r>
              <a:rPr lang="en-US" sz="1350" dirty="0" err="1">
                <a:solidFill>
                  <a:srgbClr val="6B7099"/>
                </a:solidFill>
                <a:latin typeface="IBM Plex Mono"/>
                <a:ea typeface="IBM Plex Mono"/>
                <a:cs typeface="IBM Plex Mono"/>
                <a:sym typeface="IBM Plex Mono"/>
              </a:rPr>
              <a:t>재웅</a:t>
            </a:r>
            <a:r>
              <a:rPr lang="en-US" sz="1350" dirty="0">
                <a:solidFill>
                  <a:srgbClr val="6B7099"/>
                </a:solidFill>
                <a:latin typeface="IBM Plex Mono"/>
                <a:ea typeface="IBM Plex Mono"/>
                <a:cs typeface="IBM Plex Mono"/>
                <a:sym typeface="IBM Plex Mono"/>
              </a:rPr>
              <a:t>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3000" y="885825"/>
            <a:ext cx="43053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01</a:t>
            </a:r>
          </a:p>
        </p:txBody>
      </p:sp>
      <p:sp>
        <p:nvSpPr>
          <p:cNvPr id="4" name="TextBox 4"/>
          <p:cNvSpPr txBox="1"/>
          <p:nvPr/>
        </p:nvSpPr>
        <p:spPr>
          <a:xfrm>
            <a:off x="2145030" y="885825"/>
            <a:ext cx="471297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GOAL &amp; USAGE SCENARIO</a:t>
            </a:r>
          </a:p>
        </p:txBody>
      </p:sp>
      <p:sp>
        <p:nvSpPr>
          <p:cNvPr id="5" name="TextBox 5"/>
          <p:cNvSpPr txBox="1"/>
          <p:nvPr/>
        </p:nvSpPr>
        <p:spPr>
          <a:xfrm>
            <a:off x="1143000" y="1466850"/>
            <a:ext cx="16002000" cy="597408"/>
          </a:xfrm>
          <a:prstGeom prst="rect">
            <a:avLst/>
          </a:prstGeom>
        </p:spPr>
        <p:txBody>
          <a:bodyPr lIns="0" tIns="0" rIns="0" bIns="0" rtlCol="0" anchor="t">
            <a:spAutoFit/>
          </a:bodyPr>
          <a:lstStyle/>
          <a:p>
            <a:pPr algn="l">
              <a:lnSpc>
                <a:spcPts val="5304"/>
              </a:lnSpc>
            </a:pPr>
            <a:r>
              <a:rPr lang="en-US" sz="5100" b="1" spc="-122" dirty="0">
                <a:solidFill>
                  <a:srgbClr val="EEF0FF"/>
                </a:solidFill>
                <a:latin typeface="IBM Plex Sans Bold"/>
                <a:ea typeface="IBM Plex Sans Bold"/>
                <a:cs typeface="IBM Plex Sans Bold"/>
                <a:sym typeface="IBM Plex Sans Bold"/>
              </a:rPr>
              <a:t>Authenticity, read in real time</a:t>
            </a:r>
          </a:p>
        </p:txBody>
      </p:sp>
      <p:sp>
        <p:nvSpPr>
          <p:cNvPr id="6" name="TextBox 6"/>
          <p:cNvSpPr txBox="1"/>
          <p:nvPr/>
        </p:nvSpPr>
        <p:spPr>
          <a:xfrm>
            <a:off x="1143000" y="2207133"/>
            <a:ext cx="9715500" cy="751523"/>
          </a:xfrm>
          <a:prstGeom prst="rect">
            <a:avLst/>
          </a:prstGeom>
        </p:spPr>
        <p:txBody>
          <a:bodyPr lIns="0" tIns="0" rIns="0" bIns="0" rtlCol="0" anchor="t">
            <a:spAutoFit/>
          </a:bodyPr>
          <a:lstStyle/>
          <a:p>
            <a:pPr algn="l">
              <a:lnSpc>
                <a:spcPts val="3037"/>
              </a:lnSpc>
            </a:pPr>
            <a:r>
              <a:rPr lang="en-US" sz="2025">
                <a:solidFill>
                  <a:srgbClr val="A6ABCE"/>
                </a:solidFill>
                <a:latin typeface="IBM Plex Sans"/>
                <a:ea typeface="IBM Plex Sans"/>
                <a:cs typeface="IBM Plex Sans"/>
                <a:sym typeface="IBM Plex Sans"/>
              </a:rPr>
              <a:t>The goal: an on-device application that acts as a </a:t>
            </a:r>
            <a:r>
              <a:rPr lang="en-US" sz="2025" b="1">
                <a:solidFill>
                  <a:srgbClr val="EEF0FF"/>
                </a:solidFill>
                <a:latin typeface="IBM Plex Sans Medium"/>
                <a:ea typeface="IBM Plex Sans Medium"/>
                <a:cs typeface="IBM Plex Sans Medium"/>
                <a:sym typeface="IBM Plex Sans Medium"/>
              </a:rPr>
              <a:t>lie &amp; emotion detector</a:t>
            </a:r>
            <a:r>
              <a:rPr lang="en-US" sz="2025">
                <a:solidFill>
                  <a:srgbClr val="A6ABCE"/>
                </a:solidFill>
                <a:latin typeface="IBM Plex Sans"/>
                <a:ea typeface="IBM Plex Sans"/>
                <a:cs typeface="IBM Plex Sans"/>
                <a:sym typeface="IBM Plex Sans"/>
              </a:rPr>
              <a:t>, surfacing whether what a person says matches what their body reveals.</a:t>
            </a:r>
          </a:p>
        </p:txBody>
      </p:sp>
      <p:grpSp>
        <p:nvGrpSpPr>
          <p:cNvPr id="7" name="Group 7"/>
          <p:cNvGrpSpPr/>
          <p:nvPr/>
        </p:nvGrpSpPr>
        <p:grpSpPr>
          <a:xfrm>
            <a:off x="1143000" y="3797808"/>
            <a:ext cx="7848600" cy="3067050"/>
            <a:chOff x="0" y="0"/>
            <a:chExt cx="10464800" cy="4089400"/>
          </a:xfrm>
        </p:grpSpPr>
        <p:sp>
          <p:nvSpPr>
            <p:cNvPr id="8" name="Freeform 8"/>
            <p:cNvSpPr/>
            <p:nvPr/>
          </p:nvSpPr>
          <p:spPr>
            <a:xfrm>
              <a:off x="0" y="0"/>
              <a:ext cx="10464800" cy="4089400"/>
            </a:xfrm>
            <a:custGeom>
              <a:avLst/>
              <a:gdLst/>
              <a:ahLst/>
              <a:cxnLst/>
              <a:rect l="l" t="t" r="r" b="b"/>
              <a:pathLst>
                <a:path w="10464800" h="4089400">
                  <a:moveTo>
                    <a:pt x="279400" y="0"/>
                  </a:moveTo>
                  <a:lnTo>
                    <a:pt x="10185400" y="0"/>
                  </a:lnTo>
                  <a:cubicBezTo>
                    <a:pt x="10339705" y="0"/>
                    <a:pt x="10464800" y="125095"/>
                    <a:pt x="10464800" y="279400"/>
                  </a:cubicBezTo>
                  <a:lnTo>
                    <a:pt x="10464800" y="3810000"/>
                  </a:lnTo>
                  <a:cubicBezTo>
                    <a:pt x="10464800" y="3964305"/>
                    <a:pt x="10339705" y="4089400"/>
                    <a:pt x="10185400" y="4089400"/>
                  </a:cubicBezTo>
                  <a:lnTo>
                    <a:pt x="279400" y="4089400"/>
                  </a:lnTo>
                  <a:cubicBezTo>
                    <a:pt x="125095" y="4089400"/>
                    <a:pt x="0" y="3964305"/>
                    <a:pt x="0" y="3810000"/>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9" name="AutoShape 9"/>
          <p:cNvSpPr/>
          <p:nvPr/>
        </p:nvSpPr>
        <p:spPr>
          <a:xfrm>
            <a:off x="1143000" y="3797808"/>
            <a:ext cx="7848600" cy="9525"/>
          </a:xfrm>
          <a:prstGeom prst="rect">
            <a:avLst/>
          </a:prstGeom>
          <a:solidFill>
            <a:srgbClr val="FFFFFF">
              <a:alpha val="7843"/>
            </a:srgbClr>
          </a:solidFill>
        </p:spPr>
        <p:txBody>
          <a:bodyPr/>
          <a:lstStyle/>
          <a:p>
            <a:endParaRPr lang="ko-KR" altLang="en-US"/>
          </a:p>
        </p:txBody>
      </p:sp>
      <p:sp>
        <p:nvSpPr>
          <p:cNvPr id="10" name="AutoShape 10"/>
          <p:cNvSpPr/>
          <p:nvPr/>
        </p:nvSpPr>
        <p:spPr>
          <a:xfrm>
            <a:off x="8982075" y="3807333"/>
            <a:ext cx="9525" cy="3048000"/>
          </a:xfrm>
          <a:prstGeom prst="rect">
            <a:avLst/>
          </a:prstGeom>
          <a:solidFill>
            <a:srgbClr val="FFFFFF">
              <a:alpha val="7843"/>
            </a:srgbClr>
          </a:solidFill>
        </p:spPr>
        <p:txBody>
          <a:bodyPr/>
          <a:lstStyle/>
          <a:p>
            <a:endParaRPr lang="ko-KR" altLang="en-US"/>
          </a:p>
        </p:txBody>
      </p:sp>
      <p:sp>
        <p:nvSpPr>
          <p:cNvPr id="11" name="AutoShape 11"/>
          <p:cNvSpPr/>
          <p:nvPr/>
        </p:nvSpPr>
        <p:spPr>
          <a:xfrm>
            <a:off x="1143000" y="6855333"/>
            <a:ext cx="7848600" cy="9525"/>
          </a:xfrm>
          <a:prstGeom prst="rect">
            <a:avLst/>
          </a:prstGeom>
          <a:solidFill>
            <a:srgbClr val="FFFFFF">
              <a:alpha val="7843"/>
            </a:srgbClr>
          </a:solidFill>
        </p:spPr>
        <p:txBody>
          <a:bodyPr/>
          <a:lstStyle/>
          <a:p>
            <a:endParaRPr lang="ko-KR" altLang="en-US"/>
          </a:p>
        </p:txBody>
      </p:sp>
      <p:sp>
        <p:nvSpPr>
          <p:cNvPr id="12" name="AutoShape 12"/>
          <p:cNvSpPr/>
          <p:nvPr/>
        </p:nvSpPr>
        <p:spPr>
          <a:xfrm>
            <a:off x="1143000" y="3807333"/>
            <a:ext cx="9525" cy="3048000"/>
          </a:xfrm>
          <a:prstGeom prst="rect">
            <a:avLst/>
          </a:prstGeom>
          <a:solidFill>
            <a:srgbClr val="FFFFFF">
              <a:alpha val="7843"/>
            </a:srgbClr>
          </a:solidFill>
        </p:spPr>
        <p:txBody>
          <a:bodyPr/>
          <a:lstStyle/>
          <a:p>
            <a:endParaRPr lang="ko-KR" altLang="en-US"/>
          </a:p>
        </p:txBody>
      </p:sp>
      <p:grpSp>
        <p:nvGrpSpPr>
          <p:cNvPr id="13" name="Group 13"/>
          <p:cNvGrpSpPr/>
          <p:nvPr/>
        </p:nvGrpSpPr>
        <p:grpSpPr>
          <a:xfrm>
            <a:off x="1476375" y="4131183"/>
            <a:ext cx="609600" cy="609600"/>
            <a:chOff x="0" y="0"/>
            <a:chExt cx="812800" cy="812800"/>
          </a:xfrm>
        </p:grpSpPr>
        <p:sp>
          <p:nvSpPr>
            <p:cNvPr id="14" name="Freeform 14"/>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7C83FF">
                <a:alpha val="1569"/>
              </a:srgbClr>
            </a:solidFill>
          </p:spPr>
          <p:txBody>
            <a:bodyPr/>
            <a:lstStyle/>
            <a:p>
              <a:endParaRPr lang="ko-KR" altLang="en-US"/>
            </a:p>
          </p:txBody>
        </p:sp>
      </p:grpSp>
      <p:sp>
        <p:nvSpPr>
          <p:cNvPr id="15" name="TextBox 15"/>
          <p:cNvSpPr txBox="1"/>
          <p:nvPr/>
        </p:nvSpPr>
        <p:spPr>
          <a:xfrm>
            <a:off x="1476375" y="4912233"/>
            <a:ext cx="7181850"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Job Interview</a:t>
            </a:r>
          </a:p>
        </p:txBody>
      </p:sp>
      <p:sp>
        <p:nvSpPr>
          <p:cNvPr id="16" name="TextBox 16"/>
          <p:cNvSpPr txBox="1"/>
          <p:nvPr/>
        </p:nvSpPr>
        <p:spPr>
          <a:xfrm>
            <a:off x="1476375" y="5378958"/>
            <a:ext cx="7181850" cy="597215"/>
          </a:xfrm>
          <a:prstGeom prst="rect">
            <a:avLst/>
          </a:prstGeom>
        </p:spPr>
        <p:txBody>
          <a:bodyPr lIns="0" tIns="0" rIns="0" bIns="0" rtlCol="0" anchor="t">
            <a:spAutoFit/>
          </a:bodyPr>
          <a:lstStyle/>
          <a:p>
            <a:pPr algn="l">
              <a:lnSpc>
                <a:spcPts val="2362"/>
              </a:lnSpc>
            </a:pPr>
            <a:r>
              <a:rPr lang="en-US">
                <a:solidFill>
                  <a:srgbClr val="A6ABCE"/>
                </a:solidFill>
                <a:latin typeface="IBM Plex Sans"/>
                <a:ea typeface="IBM Plex Sans"/>
                <a:cs typeface="IBM Plex Sans"/>
                <a:sym typeface="IBM Plex Sans"/>
              </a:rPr>
              <a:t>Capture the person's face.</a:t>
            </a:r>
          </a:p>
          <a:p>
            <a:pPr algn="l">
              <a:lnSpc>
                <a:spcPts val="2362"/>
              </a:lnSpc>
            </a:pPr>
            <a:r>
              <a:rPr lang="en-US">
                <a:solidFill>
                  <a:srgbClr val="A6ABCE"/>
                </a:solidFill>
                <a:latin typeface="IBM Plex Sans"/>
                <a:ea typeface="IBM Plex Sans"/>
                <a:cs typeface="IBM Plex Sans"/>
                <a:sym typeface="IBM Plex Sans"/>
              </a:rPr>
              <a:t>Voice and facial expression are read </a:t>
            </a:r>
            <a:r>
              <a:rPr lang="en-US">
                <a:solidFill>
                  <a:srgbClr val="9AA0FF"/>
                </a:solidFill>
                <a:latin typeface="IBM Plex Sans"/>
                <a:ea typeface="IBM Plex Sans"/>
                <a:cs typeface="IBM Plex Sans"/>
                <a:sym typeface="IBM Plex Sans"/>
              </a:rPr>
              <a:t>continuously</a:t>
            </a:r>
            <a:r>
              <a:rPr lang="en-US">
                <a:solidFill>
                  <a:srgbClr val="A6ABCE"/>
                </a:solidFill>
                <a:latin typeface="IBM Plex Sans"/>
                <a:ea typeface="IBM Plex Sans"/>
                <a:cs typeface="IBM Plex Sans"/>
                <a:sym typeface="IBM Plex Sans"/>
              </a:rPr>
              <a:t> as they answer.</a:t>
            </a:r>
          </a:p>
        </p:txBody>
      </p:sp>
      <p:grpSp>
        <p:nvGrpSpPr>
          <p:cNvPr id="17" name="Group 17"/>
          <p:cNvGrpSpPr/>
          <p:nvPr/>
        </p:nvGrpSpPr>
        <p:grpSpPr>
          <a:xfrm>
            <a:off x="1476375" y="6188583"/>
            <a:ext cx="776288" cy="342900"/>
            <a:chOff x="0" y="0"/>
            <a:chExt cx="1035050" cy="457200"/>
          </a:xfrm>
        </p:grpSpPr>
        <p:sp>
          <p:nvSpPr>
            <p:cNvPr id="18" name="Freeform 18"/>
            <p:cNvSpPr/>
            <p:nvPr/>
          </p:nvSpPr>
          <p:spPr>
            <a:xfrm>
              <a:off x="0" y="0"/>
              <a:ext cx="1035050" cy="457200"/>
            </a:xfrm>
            <a:custGeom>
              <a:avLst/>
              <a:gdLst/>
              <a:ahLst/>
              <a:cxnLst/>
              <a:rect l="l" t="t" r="r" b="b"/>
              <a:pathLst>
                <a:path w="1035050" h="457200">
                  <a:moveTo>
                    <a:pt x="228600" y="0"/>
                  </a:moveTo>
                  <a:lnTo>
                    <a:pt x="806450" y="0"/>
                  </a:lnTo>
                  <a:cubicBezTo>
                    <a:pt x="932688" y="0"/>
                    <a:pt x="1035050" y="102362"/>
                    <a:pt x="1035050" y="228600"/>
                  </a:cubicBezTo>
                  <a:cubicBezTo>
                    <a:pt x="1035050" y="354838"/>
                    <a:pt x="932688" y="457200"/>
                    <a:pt x="806450"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19" name="TextBox 19"/>
            <p:cNvSpPr txBox="1"/>
            <p:nvPr/>
          </p:nvSpPr>
          <p:spPr>
            <a:xfrm>
              <a:off x="0" y="-19050"/>
              <a:ext cx="1035050"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VOICE</a:t>
              </a:r>
            </a:p>
          </p:txBody>
        </p:sp>
      </p:grpSp>
      <p:grpSp>
        <p:nvGrpSpPr>
          <p:cNvPr id="20" name="Group 20"/>
          <p:cNvGrpSpPr/>
          <p:nvPr/>
        </p:nvGrpSpPr>
        <p:grpSpPr>
          <a:xfrm>
            <a:off x="2347912" y="6188583"/>
            <a:ext cx="674465" cy="342900"/>
            <a:chOff x="0" y="0"/>
            <a:chExt cx="899287" cy="457200"/>
          </a:xfrm>
        </p:grpSpPr>
        <p:sp>
          <p:nvSpPr>
            <p:cNvPr id="21" name="Freeform 21"/>
            <p:cNvSpPr/>
            <p:nvPr/>
          </p:nvSpPr>
          <p:spPr>
            <a:xfrm>
              <a:off x="0" y="0"/>
              <a:ext cx="899287" cy="457200"/>
            </a:xfrm>
            <a:custGeom>
              <a:avLst/>
              <a:gdLst/>
              <a:ahLst/>
              <a:cxnLst/>
              <a:rect l="l" t="t" r="r" b="b"/>
              <a:pathLst>
                <a:path w="899287" h="457200">
                  <a:moveTo>
                    <a:pt x="228600" y="0"/>
                  </a:moveTo>
                  <a:lnTo>
                    <a:pt x="670687" y="0"/>
                  </a:lnTo>
                  <a:cubicBezTo>
                    <a:pt x="796925" y="0"/>
                    <a:pt x="899287" y="102362"/>
                    <a:pt x="899287" y="228600"/>
                  </a:cubicBezTo>
                  <a:cubicBezTo>
                    <a:pt x="899287" y="354838"/>
                    <a:pt x="796925" y="457200"/>
                    <a:pt x="670687"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22" name="TextBox 22"/>
            <p:cNvSpPr txBox="1"/>
            <p:nvPr/>
          </p:nvSpPr>
          <p:spPr>
            <a:xfrm>
              <a:off x="0" y="-19050"/>
              <a:ext cx="89928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FACE</a:t>
              </a:r>
            </a:p>
          </p:txBody>
        </p:sp>
      </p:grpSp>
      <p:grpSp>
        <p:nvGrpSpPr>
          <p:cNvPr id="23" name="Group 23"/>
          <p:cNvGrpSpPr/>
          <p:nvPr/>
        </p:nvGrpSpPr>
        <p:grpSpPr>
          <a:xfrm>
            <a:off x="9296400" y="3797808"/>
            <a:ext cx="7848600" cy="3067050"/>
            <a:chOff x="0" y="0"/>
            <a:chExt cx="10464800" cy="4089400"/>
          </a:xfrm>
        </p:grpSpPr>
        <p:sp>
          <p:nvSpPr>
            <p:cNvPr id="24" name="Freeform 24"/>
            <p:cNvSpPr/>
            <p:nvPr/>
          </p:nvSpPr>
          <p:spPr>
            <a:xfrm>
              <a:off x="0" y="0"/>
              <a:ext cx="10464800" cy="4089400"/>
            </a:xfrm>
            <a:custGeom>
              <a:avLst/>
              <a:gdLst/>
              <a:ahLst/>
              <a:cxnLst/>
              <a:rect l="l" t="t" r="r" b="b"/>
              <a:pathLst>
                <a:path w="10464800" h="4089400">
                  <a:moveTo>
                    <a:pt x="279400" y="0"/>
                  </a:moveTo>
                  <a:lnTo>
                    <a:pt x="10185400" y="0"/>
                  </a:lnTo>
                  <a:cubicBezTo>
                    <a:pt x="10339705" y="0"/>
                    <a:pt x="10464800" y="125095"/>
                    <a:pt x="10464800" y="279400"/>
                  </a:cubicBezTo>
                  <a:lnTo>
                    <a:pt x="10464800" y="3810000"/>
                  </a:lnTo>
                  <a:cubicBezTo>
                    <a:pt x="10464800" y="3964305"/>
                    <a:pt x="10339705" y="4089400"/>
                    <a:pt x="10185400" y="4089400"/>
                  </a:cubicBezTo>
                  <a:lnTo>
                    <a:pt x="279400" y="4089400"/>
                  </a:lnTo>
                  <a:cubicBezTo>
                    <a:pt x="125095" y="4089400"/>
                    <a:pt x="0" y="3964305"/>
                    <a:pt x="0" y="3810000"/>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25" name="AutoShape 25"/>
          <p:cNvSpPr/>
          <p:nvPr/>
        </p:nvSpPr>
        <p:spPr>
          <a:xfrm>
            <a:off x="9296400" y="3797808"/>
            <a:ext cx="7848600" cy="9525"/>
          </a:xfrm>
          <a:prstGeom prst="rect">
            <a:avLst/>
          </a:prstGeom>
          <a:solidFill>
            <a:srgbClr val="FFFFFF">
              <a:alpha val="7843"/>
            </a:srgbClr>
          </a:solidFill>
        </p:spPr>
        <p:txBody>
          <a:bodyPr/>
          <a:lstStyle/>
          <a:p>
            <a:endParaRPr lang="ko-KR" altLang="en-US"/>
          </a:p>
        </p:txBody>
      </p:sp>
      <p:sp>
        <p:nvSpPr>
          <p:cNvPr id="26" name="AutoShape 26"/>
          <p:cNvSpPr/>
          <p:nvPr/>
        </p:nvSpPr>
        <p:spPr>
          <a:xfrm>
            <a:off x="17135475" y="3807333"/>
            <a:ext cx="9525" cy="3048000"/>
          </a:xfrm>
          <a:prstGeom prst="rect">
            <a:avLst/>
          </a:prstGeom>
          <a:solidFill>
            <a:srgbClr val="FFFFFF">
              <a:alpha val="7843"/>
            </a:srgbClr>
          </a:solidFill>
        </p:spPr>
        <p:txBody>
          <a:bodyPr/>
          <a:lstStyle/>
          <a:p>
            <a:endParaRPr lang="ko-KR" altLang="en-US"/>
          </a:p>
        </p:txBody>
      </p:sp>
      <p:sp>
        <p:nvSpPr>
          <p:cNvPr id="27" name="AutoShape 27"/>
          <p:cNvSpPr/>
          <p:nvPr/>
        </p:nvSpPr>
        <p:spPr>
          <a:xfrm>
            <a:off x="9296400" y="6855333"/>
            <a:ext cx="7848600" cy="9525"/>
          </a:xfrm>
          <a:prstGeom prst="rect">
            <a:avLst/>
          </a:prstGeom>
          <a:solidFill>
            <a:srgbClr val="FFFFFF">
              <a:alpha val="7843"/>
            </a:srgbClr>
          </a:solidFill>
        </p:spPr>
        <p:txBody>
          <a:bodyPr/>
          <a:lstStyle/>
          <a:p>
            <a:endParaRPr lang="ko-KR" altLang="en-US"/>
          </a:p>
        </p:txBody>
      </p:sp>
      <p:sp>
        <p:nvSpPr>
          <p:cNvPr id="28" name="AutoShape 28"/>
          <p:cNvSpPr/>
          <p:nvPr/>
        </p:nvSpPr>
        <p:spPr>
          <a:xfrm>
            <a:off x="9296400" y="3807333"/>
            <a:ext cx="9525" cy="3048000"/>
          </a:xfrm>
          <a:prstGeom prst="rect">
            <a:avLst/>
          </a:prstGeom>
          <a:solidFill>
            <a:srgbClr val="FFFFFF">
              <a:alpha val="7843"/>
            </a:srgbClr>
          </a:solidFill>
        </p:spPr>
        <p:txBody>
          <a:bodyPr/>
          <a:lstStyle/>
          <a:p>
            <a:endParaRPr lang="ko-KR" altLang="en-US"/>
          </a:p>
        </p:txBody>
      </p:sp>
      <p:grpSp>
        <p:nvGrpSpPr>
          <p:cNvPr id="29" name="Group 29"/>
          <p:cNvGrpSpPr/>
          <p:nvPr/>
        </p:nvGrpSpPr>
        <p:grpSpPr>
          <a:xfrm>
            <a:off x="9629775" y="4131183"/>
            <a:ext cx="609600" cy="609600"/>
            <a:chOff x="0" y="0"/>
            <a:chExt cx="812800" cy="812800"/>
          </a:xfrm>
        </p:grpSpPr>
        <p:sp>
          <p:nvSpPr>
            <p:cNvPr id="30" name="Freeform 30"/>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7C83FF">
                <a:alpha val="1569"/>
              </a:srgbClr>
            </a:solidFill>
          </p:spPr>
          <p:txBody>
            <a:bodyPr/>
            <a:lstStyle/>
            <a:p>
              <a:endParaRPr lang="ko-KR" altLang="en-US"/>
            </a:p>
          </p:txBody>
        </p:sp>
      </p:grpSp>
      <p:sp>
        <p:nvSpPr>
          <p:cNvPr id="31" name="TextBox 31"/>
          <p:cNvSpPr txBox="1"/>
          <p:nvPr/>
        </p:nvSpPr>
        <p:spPr>
          <a:xfrm>
            <a:off x="9629775" y="4912233"/>
            <a:ext cx="7181850"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Blind Date</a:t>
            </a:r>
          </a:p>
        </p:txBody>
      </p:sp>
      <p:sp>
        <p:nvSpPr>
          <p:cNvPr id="32" name="TextBox 32"/>
          <p:cNvSpPr txBox="1"/>
          <p:nvPr/>
        </p:nvSpPr>
        <p:spPr>
          <a:xfrm>
            <a:off x="9629775" y="5378958"/>
            <a:ext cx="7181850" cy="590675"/>
          </a:xfrm>
          <a:prstGeom prst="rect">
            <a:avLst/>
          </a:prstGeom>
        </p:spPr>
        <p:txBody>
          <a:bodyPr lIns="0" tIns="0" rIns="0" bIns="0" rtlCol="0" anchor="t">
            <a:spAutoFit/>
          </a:bodyPr>
          <a:lstStyle/>
          <a:p>
            <a:pPr algn="l">
              <a:lnSpc>
                <a:spcPts val="2362"/>
              </a:lnSpc>
            </a:pPr>
            <a:r>
              <a:rPr lang="en-US" sz="1600">
                <a:solidFill>
                  <a:srgbClr val="A6ABCE"/>
                </a:solidFill>
                <a:latin typeface="IBM Plex Sans"/>
                <a:ea typeface="IBM Plex Sans"/>
                <a:cs typeface="IBM Plex Sans"/>
                <a:sym typeface="IBM Plex Sans"/>
              </a:rPr>
              <a:t>The other person rests a fingertip over the rear camera and flash. We pair that </a:t>
            </a:r>
            <a:r>
              <a:rPr lang="en-US" sz="1600">
                <a:solidFill>
                  <a:srgbClr val="9AA0FF"/>
                </a:solidFill>
                <a:latin typeface="IBM Plex Sans"/>
                <a:ea typeface="IBM Plex Sans"/>
                <a:cs typeface="IBM Plex Sans"/>
                <a:sym typeface="IBM Plex Sans"/>
              </a:rPr>
              <a:t>fingertip pulse</a:t>
            </a:r>
            <a:r>
              <a:rPr lang="en-US" sz="1600">
                <a:solidFill>
                  <a:srgbClr val="A6ABCE"/>
                </a:solidFill>
                <a:latin typeface="IBM Plex Sans"/>
                <a:ea typeface="IBM Plex Sans"/>
                <a:cs typeface="IBM Plex Sans"/>
                <a:sym typeface="IBM Plex Sans"/>
              </a:rPr>
              <a:t> with their voice for a continuous genuine / fake read.</a:t>
            </a:r>
          </a:p>
        </p:txBody>
      </p:sp>
      <p:grpSp>
        <p:nvGrpSpPr>
          <p:cNvPr id="33" name="Group 33"/>
          <p:cNvGrpSpPr/>
          <p:nvPr/>
        </p:nvGrpSpPr>
        <p:grpSpPr>
          <a:xfrm>
            <a:off x="9629775" y="6188583"/>
            <a:ext cx="776288" cy="342900"/>
            <a:chOff x="0" y="0"/>
            <a:chExt cx="1035050" cy="457200"/>
          </a:xfrm>
        </p:grpSpPr>
        <p:sp>
          <p:nvSpPr>
            <p:cNvPr id="34" name="Freeform 34"/>
            <p:cNvSpPr/>
            <p:nvPr/>
          </p:nvSpPr>
          <p:spPr>
            <a:xfrm>
              <a:off x="0" y="0"/>
              <a:ext cx="1035050" cy="457200"/>
            </a:xfrm>
            <a:custGeom>
              <a:avLst/>
              <a:gdLst/>
              <a:ahLst/>
              <a:cxnLst/>
              <a:rect l="l" t="t" r="r" b="b"/>
              <a:pathLst>
                <a:path w="1035050" h="457200">
                  <a:moveTo>
                    <a:pt x="228600" y="0"/>
                  </a:moveTo>
                  <a:lnTo>
                    <a:pt x="806450" y="0"/>
                  </a:lnTo>
                  <a:cubicBezTo>
                    <a:pt x="932688" y="0"/>
                    <a:pt x="1035050" y="102362"/>
                    <a:pt x="1035050" y="228600"/>
                  </a:cubicBezTo>
                  <a:cubicBezTo>
                    <a:pt x="1035050" y="354838"/>
                    <a:pt x="932688" y="457200"/>
                    <a:pt x="806450"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35" name="TextBox 35"/>
            <p:cNvSpPr txBox="1"/>
            <p:nvPr/>
          </p:nvSpPr>
          <p:spPr>
            <a:xfrm>
              <a:off x="0" y="-19050"/>
              <a:ext cx="1035050"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VOICE</a:t>
              </a:r>
            </a:p>
          </p:txBody>
        </p:sp>
      </p:grpSp>
      <p:grpSp>
        <p:nvGrpSpPr>
          <p:cNvPr id="36" name="Group 36"/>
          <p:cNvGrpSpPr/>
          <p:nvPr/>
        </p:nvGrpSpPr>
        <p:grpSpPr>
          <a:xfrm>
            <a:off x="10501312" y="6188583"/>
            <a:ext cx="572548" cy="342900"/>
            <a:chOff x="0" y="0"/>
            <a:chExt cx="763397" cy="457200"/>
          </a:xfrm>
        </p:grpSpPr>
        <p:sp>
          <p:nvSpPr>
            <p:cNvPr id="37" name="Freeform 37"/>
            <p:cNvSpPr/>
            <p:nvPr/>
          </p:nvSpPr>
          <p:spPr>
            <a:xfrm>
              <a:off x="0" y="0"/>
              <a:ext cx="763397" cy="457200"/>
            </a:xfrm>
            <a:custGeom>
              <a:avLst/>
              <a:gdLst/>
              <a:ahLst/>
              <a:cxnLst/>
              <a:rect l="l" t="t" r="r" b="b"/>
              <a:pathLst>
                <a:path w="763397" h="457200">
                  <a:moveTo>
                    <a:pt x="228600" y="0"/>
                  </a:moveTo>
                  <a:lnTo>
                    <a:pt x="534797" y="0"/>
                  </a:lnTo>
                  <a:cubicBezTo>
                    <a:pt x="661035" y="0"/>
                    <a:pt x="763397" y="102362"/>
                    <a:pt x="763397" y="228600"/>
                  </a:cubicBezTo>
                  <a:cubicBezTo>
                    <a:pt x="763397" y="354838"/>
                    <a:pt x="661035" y="457200"/>
                    <a:pt x="534797"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38" name="TextBox 38"/>
            <p:cNvSpPr txBox="1"/>
            <p:nvPr/>
          </p:nvSpPr>
          <p:spPr>
            <a:xfrm>
              <a:off x="0" y="-19050"/>
              <a:ext cx="76339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PPG</a:t>
              </a:r>
            </a:p>
          </p:txBody>
        </p:sp>
      </p:grpSp>
      <p:sp>
        <p:nvSpPr>
          <p:cNvPr id="39" name="Freeform 39"/>
          <p:cNvSpPr/>
          <p:nvPr/>
        </p:nvSpPr>
        <p:spPr>
          <a:xfrm>
            <a:off x="1619250" y="4274058"/>
            <a:ext cx="323850" cy="323850"/>
          </a:xfrm>
          <a:custGeom>
            <a:avLst/>
            <a:gdLst/>
            <a:ahLst/>
            <a:cxnLst/>
            <a:rect l="l" t="t" r="r" b="b"/>
            <a:pathLst>
              <a:path w="323850" h="323850">
                <a:moveTo>
                  <a:pt x="0" y="0"/>
                </a:moveTo>
                <a:lnTo>
                  <a:pt x="323850" y="0"/>
                </a:lnTo>
                <a:lnTo>
                  <a:pt x="323850" y="323850"/>
                </a:lnTo>
                <a:lnTo>
                  <a:pt x="0" y="3238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ko-KR" altLang="en-US"/>
          </a:p>
        </p:txBody>
      </p:sp>
      <p:sp>
        <p:nvSpPr>
          <p:cNvPr id="40" name="Freeform 40"/>
          <p:cNvSpPr/>
          <p:nvPr/>
        </p:nvSpPr>
        <p:spPr>
          <a:xfrm>
            <a:off x="9772650" y="4274058"/>
            <a:ext cx="323850" cy="323850"/>
          </a:xfrm>
          <a:custGeom>
            <a:avLst/>
            <a:gdLst/>
            <a:ahLst/>
            <a:cxnLst/>
            <a:rect l="l" t="t" r="r" b="b"/>
            <a:pathLst>
              <a:path w="323850" h="323850">
                <a:moveTo>
                  <a:pt x="0" y="0"/>
                </a:moveTo>
                <a:lnTo>
                  <a:pt x="323850" y="0"/>
                </a:lnTo>
                <a:lnTo>
                  <a:pt x="323850" y="323850"/>
                </a:lnTo>
                <a:lnTo>
                  <a:pt x="0" y="3238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ko-KR" altLang="en-US"/>
          </a:p>
        </p:txBody>
      </p:sp>
      <p:sp>
        <p:nvSpPr>
          <p:cNvPr id="41" name="AutoShape 41"/>
          <p:cNvSpPr/>
          <p:nvPr/>
        </p:nvSpPr>
        <p:spPr>
          <a:xfrm>
            <a:off x="1573530" y="1038225"/>
            <a:ext cx="438150" cy="19050"/>
          </a:xfrm>
          <a:prstGeom prst="rect">
            <a:avLst/>
          </a:prstGeom>
          <a:solidFill>
            <a:srgbClr val="7C83FF">
              <a:alpha val="69804"/>
            </a:srgbClr>
          </a:solidFill>
        </p:spPr>
        <p:txBody>
          <a:bodyPr/>
          <a:lstStyle/>
          <a:p>
            <a:endParaRPr lang="ko-KR" altLang="en-US"/>
          </a:p>
        </p:txBody>
      </p:sp>
      <p:sp>
        <p:nvSpPr>
          <p:cNvPr id="42" name="TextBox 42"/>
          <p:cNvSpPr txBox="1"/>
          <p:nvPr/>
        </p:nvSpPr>
        <p:spPr>
          <a:xfrm>
            <a:off x="16811625" y="9563100"/>
            <a:ext cx="33337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3000" y="885825"/>
            <a:ext cx="100203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02</a:t>
            </a:r>
          </a:p>
        </p:txBody>
      </p:sp>
      <p:sp>
        <p:nvSpPr>
          <p:cNvPr id="4" name="TextBox 4"/>
          <p:cNvSpPr txBox="1"/>
          <p:nvPr/>
        </p:nvSpPr>
        <p:spPr>
          <a:xfrm>
            <a:off x="2145030" y="885825"/>
            <a:ext cx="303657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KEY IDEA</a:t>
            </a:r>
          </a:p>
        </p:txBody>
      </p:sp>
      <p:sp>
        <p:nvSpPr>
          <p:cNvPr id="5" name="TextBox 5"/>
          <p:cNvSpPr txBox="1"/>
          <p:nvPr/>
        </p:nvSpPr>
        <p:spPr>
          <a:xfrm>
            <a:off x="1143000" y="1466850"/>
            <a:ext cx="16002000" cy="597408"/>
          </a:xfrm>
          <a:prstGeom prst="rect">
            <a:avLst/>
          </a:prstGeom>
        </p:spPr>
        <p:txBody>
          <a:bodyPr lIns="0" tIns="0" rIns="0" bIns="0" rtlCol="0" anchor="t">
            <a:spAutoFit/>
          </a:bodyPr>
          <a:lstStyle/>
          <a:p>
            <a:pPr algn="l">
              <a:lnSpc>
                <a:spcPts val="5304"/>
              </a:lnSpc>
            </a:pPr>
            <a:r>
              <a:rPr lang="en-US" sz="5100" b="1" spc="-122">
                <a:solidFill>
                  <a:srgbClr val="EEF0FF"/>
                </a:solidFill>
                <a:latin typeface="IBM Plex Sans Bold"/>
                <a:ea typeface="IBM Plex Sans Bold"/>
                <a:cs typeface="IBM Plex Sans Bold"/>
                <a:sym typeface="IBM Plex Sans Bold"/>
              </a:rPr>
              <a:t>Two pillars: per-signal models, a sensing app</a:t>
            </a:r>
          </a:p>
        </p:txBody>
      </p:sp>
      <p:grpSp>
        <p:nvGrpSpPr>
          <p:cNvPr id="6" name="Group 6"/>
          <p:cNvGrpSpPr/>
          <p:nvPr/>
        </p:nvGrpSpPr>
        <p:grpSpPr>
          <a:xfrm>
            <a:off x="1143000" y="2502408"/>
            <a:ext cx="7848600" cy="6870192"/>
            <a:chOff x="0" y="0"/>
            <a:chExt cx="10464800" cy="9160256"/>
          </a:xfrm>
        </p:grpSpPr>
        <p:sp>
          <p:nvSpPr>
            <p:cNvPr id="7" name="Freeform 7"/>
            <p:cNvSpPr/>
            <p:nvPr/>
          </p:nvSpPr>
          <p:spPr>
            <a:xfrm>
              <a:off x="0" y="0"/>
              <a:ext cx="10464800" cy="9160256"/>
            </a:xfrm>
            <a:custGeom>
              <a:avLst/>
              <a:gdLst/>
              <a:ahLst/>
              <a:cxnLst/>
              <a:rect l="l" t="t" r="r" b="b"/>
              <a:pathLst>
                <a:path w="10464800" h="9160256">
                  <a:moveTo>
                    <a:pt x="279400" y="0"/>
                  </a:moveTo>
                  <a:lnTo>
                    <a:pt x="10185400" y="0"/>
                  </a:lnTo>
                  <a:cubicBezTo>
                    <a:pt x="10339705" y="0"/>
                    <a:pt x="10464800" y="125095"/>
                    <a:pt x="10464800" y="279400"/>
                  </a:cubicBezTo>
                  <a:lnTo>
                    <a:pt x="10464800" y="8880856"/>
                  </a:lnTo>
                  <a:cubicBezTo>
                    <a:pt x="10464800" y="9035162"/>
                    <a:pt x="10339705" y="9160256"/>
                    <a:pt x="10185400" y="9160256"/>
                  </a:cubicBezTo>
                  <a:lnTo>
                    <a:pt x="279400" y="9160256"/>
                  </a:lnTo>
                  <a:cubicBezTo>
                    <a:pt x="125095" y="9160256"/>
                    <a:pt x="0" y="9035162"/>
                    <a:pt x="0" y="8880856"/>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8" name="AutoShape 8"/>
          <p:cNvSpPr/>
          <p:nvPr/>
        </p:nvSpPr>
        <p:spPr>
          <a:xfrm>
            <a:off x="1143000" y="2502408"/>
            <a:ext cx="7848600" cy="9525"/>
          </a:xfrm>
          <a:prstGeom prst="rect">
            <a:avLst/>
          </a:prstGeom>
          <a:solidFill>
            <a:srgbClr val="FFFFFF">
              <a:alpha val="7843"/>
            </a:srgbClr>
          </a:solidFill>
        </p:spPr>
        <p:txBody>
          <a:bodyPr/>
          <a:lstStyle/>
          <a:p>
            <a:endParaRPr lang="ko-KR" altLang="en-US"/>
          </a:p>
        </p:txBody>
      </p:sp>
      <p:sp>
        <p:nvSpPr>
          <p:cNvPr id="9" name="AutoShape 9"/>
          <p:cNvSpPr/>
          <p:nvPr/>
        </p:nvSpPr>
        <p:spPr>
          <a:xfrm>
            <a:off x="8982075" y="2511933"/>
            <a:ext cx="9525" cy="6851142"/>
          </a:xfrm>
          <a:prstGeom prst="rect">
            <a:avLst/>
          </a:prstGeom>
          <a:solidFill>
            <a:srgbClr val="FFFFFF">
              <a:alpha val="7843"/>
            </a:srgbClr>
          </a:solidFill>
        </p:spPr>
        <p:txBody>
          <a:bodyPr/>
          <a:lstStyle/>
          <a:p>
            <a:endParaRPr lang="ko-KR" altLang="en-US"/>
          </a:p>
        </p:txBody>
      </p:sp>
      <p:sp>
        <p:nvSpPr>
          <p:cNvPr id="10" name="AutoShape 10"/>
          <p:cNvSpPr/>
          <p:nvPr/>
        </p:nvSpPr>
        <p:spPr>
          <a:xfrm>
            <a:off x="1143000" y="9363075"/>
            <a:ext cx="7848600" cy="9525"/>
          </a:xfrm>
          <a:prstGeom prst="rect">
            <a:avLst/>
          </a:prstGeom>
          <a:solidFill>
            <a:srgbClr val="FFFFFF">
              <a:alpha val="7843"/>
            </a:srgbClr>
          </a:solidFill>
        </p:spPr>
        <p:txBody>
          <a:bodyPr/>
          <a:lstStyle/>
          <a:p>
            <a:endParaRPr lang="ko-KR" altLang="en-US"/>
          </a:p>
        </p:txBody>
      </p:sp>
      <p:sp>
        <p:nvSpPr>
          <p:cNvPr id="11" name="AutoShape 11"/>
          <p:cNvSpPr/>
          <p:nvPr/>
        </p:nvSpPr>
        <p:spPr>
          <a:xfrm>
            <a:off x="1143000" y="2511933"/>
            <a:ext cx="9525" cy="6851142"/>
          </a:xfrm>
          <a:prstGeom prst="rect">
            <a:avLst/>
          </a:prstGeom>
          <a:solidFill>
            <a:srgbClr val="FFFFFF">
              <a:alpha val="7843"/>
            </a:srgbClr>
          </a:solidFill>
        </p:spPr>
        <p:txBody>
          <a:bodyPr/>
          <a:lstStyle/>
          <a:p>
            <a:endParaRPr lang="ko-KR" altLang="en-US"/>
          </a:p>
        </p:txBody>
      </p:sp>
      <p:grpSp>
        <p:nvGrpSpPr>
          <p:cNvPr id="12" name="Group 12"/>
          <p:cNvGrpSpPr/>
          <p:nvPr/>
        </p:nvGrpSpPr>
        <p:grpSpPr>
          <a:xfrm>
            <a:off x="1476375" y="2835783"/>
            <a:ext cx="609600" cy="609600"/>
            <a:chOff x="0" y="0"/>
            <a:chExt cx="812800" cy="812800"/>
          </a:xfrm>
        </p:grpSpPr>
        <p:sp>
          <p:nvSpPr>
            <p:cNvPr id="13" name="Freeform 13"/>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7C83FF">
                <a:alpha val="1569"/>
              </a:srgbClr>
            </a:solidFill>
          </p:spPr>
          <p:txBody>
            <a:bodyPr/>
            <a:lstStyle/>
            <a:p>
              <a:endParaRPr lang="ko-KR" altLang="en-US"/>
            </a:p>
          </p:txBody>
        </p:sp>
      </p:grpSp>
      <p:sp>
        <p:nvSpPr>
          <p:cNvPr id="14" name="TextBox 14"/>
          <p:cNvSpPr txBox="1"/>
          <p:nvPr/>
        </p:nvSpPr>
        <p:spPr>
          <a:xfrm>
            <a:off x="2238374" y="2916746"/>
            <a:ext cx="1933573" cy="371448"/>
          </a:xfrm>
          <a:prstGeom prst="rect">
            <a:avLst/>
          </a:prstGeom>
        </p:spPr>
        <p:txBody>
          <a:bodyPr wrap="square" lIns="0" tIns="0" rIns="0" bIns="0" rtlCol="0" anchor="t">
            <a:spAutoFit/>
          </a:bodyPr>
          <a:lstStyle/>
          <a:p>
            <a:pPr algn="l">
              <a:lnSpc>
                <a:spcPts val="3149"/>
              </a:lnSpc>
            </a:pPr>
            <a:r>
              <a:rPr lang="en-US" sz="2250" b="1" spc="-29" dirty="0">
                <a:solidFill>
                  <a:srgbClr val="EEF0FF"/>
                </a:solidFill>
                <a:latin typeface="IBM Plex Sans Bold"/>
                <a:ea typeface="IBM Plex Sans Bold"/>
                <a:cs typeface="IBM Plex Sans Bold"/>
                <a:sym typeface="IBM Plex Sans Bold"/>
              </a:rPr>
              <a:t>The Model</a:t>
            </a:r>
          </a:p>
        </p:txBody>
      </p:sp>
      <p:sp>
        <p:nvSpPr>
          <p:cNvPr id="15" name="TextBox 15"/>
          <p:cNvSpPr txBox="1"/>
          <p:nvPr/>
        </p:nvSpPr>
        <p:spPr>
          <a:xfrm>
            <a:off x="1476375" y="3483483"/>
            <a:ext cx="7181850" cy="597215"/>
          </a:xfrm>
          <a:prstGeom prst="rect">
            <a:avLst/>
          </a:prstGeom>
        </p:spPr>
        <p:txBody>
          <a:bodyPr lIns="0" tIns="0" rIns="0" bIns="0" rtlCol="0" anchor="t">
            <a:spAutoFit/>
          </a:bodyPr>
          <a:lstStyle/>
          <a:p>
            <a:pPr algn="l">
              <a:lnSpc>
                <a:spcPts val="2362"/>
              </a:lnSpc>
            </a:pPr>
            <a:r>
              <a:rPr lang="en-US">
                <a:solidFill>
                  <a:srgbClr val="A6ABCE"/>
                </a:solidFill>
                <a:latin typeface="IBM Plex Sans"/>
                <a:ea typeface="IBM Plex Sans"/>
                <a:cs typeface="IBM Plex Sans"/>
                <a:sym typeface="IBM Plex Sans"/>
              </a:rPr>
              <a:t>Per-signal models, </a:t>
            </a:r>
            <a:r>
              <a:rPr lang="en-US" b="1">
                <a:solidFill>
                  <a:srgbClr val="EEF0FF"/>
                </a:solidFill>
                <a:latin typeface="IBM Plex Sans Medium"/>
                <a:ea typeface="IBM Plex Sans Medium"/>
                <a:cs typeface="IBM Plex Sans Medium"/>
                <a:sym typeface="IBM Plex Sans Medium"/>
              </a:rPr>
              <a:t>combined per scenario</a:t>
            </a:r>
            <a:r>
              <a:rPr lang="en-US">
                <a:solidFill>
                  <a:srgbClr val="A6ABCE"/>
                </a:solidFill>
                <a:latin typeface="IBM Plex Sans"/>
                <a:ea typeface="IBM Plex Sans"/>
                <a:cs typeface="IBM Plex Sans"/>
                <a:sym typeface="IBM Plex Sans"/>
              </a:rPr>
              <a:t> rather than one end-to-end fused net.</a:t>
            </a:r>
          </a:p>
        </p:txBody>
      </p:sp>
      <p:sp>
        <p:nvSpPr>
          <p:cNvPr id="16" name="TextBox 16"/>
          <p:cNvSpPr txBox="1"/>
          <p:nvPr/>
        </p:nvSpPr>
        <p:spPr>
          <a:xfrm>
            <a:off x="1476375" y="4312158"/>
            <a:ext cx="7181850" cy="1754583"/>
          </a:xfrm>
          <a:prstGeom prst="rect">
            <a:avLst/>
          </a:prstGeom>
        </p:spPr>
        <p:txBody>
          <a:bodyPr lIns="0" tIns="0" rIns="0" bIns="0" rtlCol="0" anchor="t">
            <a:spAutoFit/>
          </a:bodyPr>
          <a:lstStyle/>
          <a:p>
            <a:pPr algn="l">
              <a:lnSpc>
                <a:spcPts val="2310"/>
              </a:lnSpc>
            </a:pPr>
            <a:endParaRPr lang="en-US" b="1">
              <a:solidFill>
                <a:srgbClr val="EEF0FF"/>
              </a:solidFill>
              <a:latin typeface="IBM Plex Sans Medium"/>
              <a:ea typeface="IBM Plex Sans Medium"/>
              <a:cs typeface="IBM Plex Sans Medium"/>
              <a:sym typeface="IBM Plex Sans Medium"/>
            </a:endParaRPr>
          </a:p>
          <a:p>
            <a:pPr algn="l">
              <a:lnSpc>
                <a:spcPts val="2310"/>
              </a:lnSpc>
            </a:pPr>
            <a:r>
              <a:rPr lang="en-US" b="1">
                <a:solidFill>
                  <a:srgbClr val="EEF0FF"/>
                </a:solidFill>
                <a:latin typeface="IBM Plex Sans Medium"/>
                <a:ea typeface="IBM Plex Sans Medium"/>
                <a:cs typeface="IBM Plex Sans Medium"/>
                <a:sym typeface="IBM Plex Sans Medium"/>
              </a:rPr>
              <a:t>How it is trained</a:t>
            </a:r>
            <a:r>
              <a:rPr lang="en-US">
                <a:solidFill>
                  <a:srgbClr val="A6ABCE"/>
                </a:solidFill>
                <a:latin typeface="IBM Plex Sans"/>
                <a:ea typeface="IBM Plex Sans"/>
                <a:cs typeface="IBM Plex Sans"/>
                <a:sym typeface="IBM Plex Sans"/>
              </a:rPr>
              <a:t> — per-modality models on labelled affect data.</a:t>
            </a:r>
          </a:p>
          <a:p>
            <a:pPr algn="l">
              <a:lnSpc>
                <a:spcPts val="2310"/>
              </a:lnSpc>
            </a:pPr>
            <a:endParaRPr lang="en-US">
              <a:solidFill>
                <a:srgbClr val="A6ABCE"/>
              </a:solidFill>
              <a:latin typeface="IBM Plex Sans"/>
              <a:ea typeface="IBM Plex Sans"/>
              <a:cs typeface="IBM Plex Sans"/>
              <a:sym typeface="IBM Plex Sans"/>
            </a:endParaRPr>
          </a:p>
          <a:p>
            <a:pPr algn="l">
              <a:lnSpc>
                <a:spcPts val="2310"/>
              </a:lnSpc>
            </a:pPr>
            <a:endParaRPr lang="en-US">
              <a:solidFill>
                <a:srgbClr val="A6ABCE"/>
              </a:solidFill>
              <a:latin typeface="IBM Plex Sans"/>
              <a:ea typeface="IBM Plex Sans"/>
              <a:cs typeface="IBM Plex Sans"/>
              <a:sym typeface="IBM Plex Sans"/>
            </a:endParaRPr>
          </a:p>
          <a:p>
            <a:pPr algn="l">
              <a:lnSpc>
                <a:spcPts val="2310"/>
              </a:lnSpc>
            </a:pPr>
            <a:r>
              <a:rPr lang="en-US" b="1">
                <a:solidFill>
                  <a:srgbClr val="EEF0FF"/>
                </a:solidFill>
                <a:latin typeface="IBM Plex Sans Medium"/>
                <a:ea typeface="IBM Plex Sans Medium"/>
                <a:cs typeface="IBM Plex Sans Medium"/>
                <a:sym typeface="IBM Plex Sans Medium"/>
              </a:rPr>
              <a:t>How it is combined</a:t>
            </a:r>
            <a:r>
              <a:rPr lang="en-US">
                <a:solidFill>
                  <a:srgbClr val="A6ABCE"/>
                </a:solidFill>
                <a:latin typeface="IBM Plex Sans"/>
                <a:ea typeface="IBM Plex Sans"/>
                <a:cs typeface="IBM Plex Sans"/>
                <a:sym typeface="IBM Plex Sans"/>
              </a:rPr>
              <a:t> — voice+face for Interview, voice+fingertip-PPG for Blind Date.</a:t>
            </a:r>
          </a:p>
        </p:txBody>
      </p:sp>
      <p:grpSp>
        <p:nvGrpSpPr>
          <p:cNvPr id="17" name="Group 17"/>
          <p:cNvGrpSpPr/>
          <p:nvPr/>
        </p:nvGrpSpPr>
        <p:grpSpPr>
          <a:xfrm>
            <a:off x="9296400" y="2502408"/>
            <a:ext cx="7848600" cy="6870192"/>
            <a:chOff x="0" y="0"/>
            <a:chExt cx="10464800" cy="9160256"/>
          </a:xfrm>
        </p:grpSpPr>
        <p:sp>
          <p:nvSpPr>
            <p:cNvPr id="18" name="Freeform 18"/>
            <p:cNvSpPr/>
            <p:nvPr/>
          </p:nvSpPr>
          <p:spPr>
            <a:xfrm>
              <a:off x="0" y="0"/>
              <a:ext cx="10464800" cy="9160256"/>
            </a:xfrm>
            <a:custGeom>
              <a:avLst/>
              <a:gdLst/>
              <a:ahLst/>
              <a:cxnLst/>
              <a:rect l="l" t="t" r="r" b="b"/>
              <a:pathLst>
                <a:path w="10464800" h="9160256">
                  <a:moveTo>
                    <a:pt x="279400" y="0"/>
                  </a:moveTo>
                  <a:lnTo>
                    <a:pt x="10185400" y="0"/>
                  </a:lnTo>
                  <a:cubicBezTo>
                    <a:pt x="10339705" y="0"/>
                    <a:pt x="10464800" y="125095"/>
                    <a:pt x="10464800" y="279400"/>
                  </a:cubicBezTo>
                  <a:lnTo>
                    <a:pt x="10464800" y="8880856"/>
                  </a:lnTo>
                  <a:cubicBezTo>
                    <a:pt x="10464800" y="9035162"/>
                    <a:pt x="10339705" y="9160256"/>
                    <a:pt x="10185400" y="9160256"/>
                  </a:cubicBezTo>
                  <a:lnTo>
                    <a:pt x="279400" y="9160256"/>
                  </a:lnTo>
                  <a:cubicBezTo>
                    <a:pt x="125095" y="9160256"/>
                    <a:pt x="0" y="9035162"/>
                    <a:pt x="0" y="8880856"/>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19" name="AutoShape 19"/>
          <p:cNvSpPr/>
          <p:nvPr/>
        </p:nvSpPr>
        <p:spPr>
          <a:xfrm>
            <a:off x="9296400" y="2502408"/>
            <a:ext cx="7848600" cy="9525"/>
          </a:xfrm>
          <a:prstGeom prst="rect">
            <a:avLst/>
          </a:prstGeom>
          <a:solidFill>
            <a:srgbClr val="FFFFFF">
              <a:alpha val="7843"/>
            </a:srgbClr>
          </a:solidFill>
        </p:spPr>
        <p:txBody>
          <a:bodyPr/>
          <a:lstStyle/>
          <a:p>
            <a:endParaRPr lang="ko-KR" altLang="en-US"/>
          </a:p>
        </p:txBody>
      </p:sp>
      <p:sp>
        <p:nvSpPr>
          <p:cNvPr id="20" name="AutoShape 20"/>
          <p:cNvSpPr/>
          <p:nvPr/>
        </p:nvSpPr>
        <p:spPr>
          <a:xfrm>
            <a:off x="17135475" y="2511933"/>
            <a:ext cx="9525" cy="6851142"/>
          </a:xfrm>
          <a:prstGeom prst="rect">
            <a:avLst/>
          </a:prstGeom>
          <a:solidFill>
            <a:srgbClr val="FFFFFF">
              <a:alpha val="7843"/>
            </a:srgbClr>
          </a:solidFill>
        </p:spPr>
        <p:txBody>
          <a:bodyPr/>
          <a:lstStyle/>
          <a:p>
            <a:endParaRPr lang="ko-KR" altLang="en-US"/>
          </a:p>
        </p:txBody>
      </p:sp>
      <p:sp>
        <p:nvSpPr>
          <p:cNvPr id="21" name="AutoShape 21"/>
          <p:cNvSpPr/>
          <p:nvPr/>
        </p:nvSpPr>
        <p:spPr>
          <a:xfrm>
            <a:off x="9296400" y="9363075"/>
            <a:ext cx="7848600" cy="9525"/>
          </a:xfrm>
          <a:prstGeom prst="rect">
            <a:avLst/>
          </a:prstGeom>
          <a:solidFill>
            <a:srgbClr val="FFFFFF">
              <a:alpha val="7843"/>
            </a:srgbClr>
          </a:solidFill>
        </p:spPr>
        <p:txBody>
          <a:bodyPr/>
          <a:lstStyle/>
          <a:p>
            <a:endParaRPr lang="ko-KR" altLang="en-US"/>
          </a:p>
        </p:txBody>
      </p:sp>
      <p:sp>
        <p:nvSpPr>
          <p:cNvPr id="22" name="AutoShape 22"/>
          <p:cNvSpPr/>
          <p:nvPr/>
        </p:nvSpPr>
        <p:spPr>
          <a:xfrm>
            <a:off x="9296400" y="2511933"/>
            <a:ext cx="9525" cy="6851142"/>
          </a:xfrm>
          <a:prstGeom prst="rect">
            <a:avLst/>
          </a:prstGeom>
          <a:solidFill>
            <a:srgbClr val="FFFFFF">
              <a:alpha val="7843"/>
            </a:srgbClr>
          </a:solidFill>
        </p:spPr>
        <p:txBody>
          <a:bodyPr/>
          <a:lstStyle/>
          <a:p>
            <a:endParaRPr lang="ko-KR" altLang="en-US"/>
          </a:p>
        </p:txBody>
      </p:sp>
      <p:grpSp>
        <p:nvGrpSpPr>
          <p:cNvPr id="23" name="Group 23"/>
          <p:cNvGrpSpPr/>
          <p:nvPr/>
        </p:nvGrpSpPr>
        <p:grpSpPr>
          <a:xfrm>
            <a:off x="9629775" y="2835783"/>
            <a:ext cx="609600" cy="609600"/>
            <a:chOff x="0" y="0"/>
            <a:chExt cx="812800" cy="812800"/>
          </a:xfrm>
        </p:grpSpPr>
        <p:sp>
          <p:nvSpPr>
            <p:cNvPr id="24" name="Freeform 24"/>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7C83FF">
                <a:alpha val="1569"/>
              </a:srgbClr>
            </a:solidFill>
          </p:spPr>
          <p:txBody>
            <a:bodyPr/>
            <a:lstStyle/>
            <a:p>
              <a:endParaRPr lang="ko-KR" altLang="en-US"/>
            </a:p>
          </p:txBody>
        </p:sp>
      </p:grpSp>
      <p:sp>
        <p:nvSpPr>
          <p:cNvPr id="25" name="TextBox 25"/>
          <p:cNvSpPr txBox="1"/>
          <p:nvPr/>
        </p:nvSpPr>
        <p:spPr>
          <a:xfrm>
            <a:off x="10391774" y="2916746"/>
            <a:ext cx="2838447" cy="371448"/>
          </a:xfrm>
          <a:prstGeom prst="rect">
            <a:avLst/>
          </a:prstGeom>
        </p:spPr>
        <p:txBody>
          <a:bodyPr wrap="square" lIns="0" tIns="0" rIns="0" bIns="0" rtlCol="0" anchor="t">
            <a:spAutoFit/>
          </a:bodyPr>
          <a:lstStyle/>
          <a:p>
            <a:pPr algn="l">
              <a:lnSpc>
                <a:spcPts val="3149"/>
              </a:lnSpc>
            </a:pPr>
            <a:r>
              <a:rPr lang="en-US" sz="2250" b="1" spc="-29" dirty="0">
                <a:solidFill>
                  <a:srgbClr val="EEF0FF"/>
                </a:solidFill>
                <a:latin typeface="IBM Plex Sans Bold"/>
                <a:ea typeface="IBM Plex Sans Bold"/>
                <a:cs typeface="IBM Plex Sans Bold"/>
                <a:sym typeface="IBM Plex Sans Bold"/>
              </a:rPr>
              <a:t>The Application</a:t>
            </a:r>
          </a:p>
        </p:txBody>
      </p:sp>
      <p:sp>
        <p:nvSpPr>
          <p:cNvPr id="26" name="TextBox 26"/>
          <p:cNvSpPr txBox="1"/>
          <p:nvPr/>
        </p:nvSpPr>
        <p:spPr>
          <a:xfrm>
            <a:off x="9629775" y="3483483"/>
            <a:ext cx="7181850" cy="597215"/>
          </a:xfrm>
          <a:prstGeom prst="rect">
            <a:avLst/>
          </a:prstGeom>
        </p:spPr>
        <p:txBody>
          <a:bodyPr lIns="0" tIns="0" rIns="0" bIns="0" rtlCol="0" anchor="t">
            <a:spAutoFit/>
          </a:bodyPr>
          <a:lstStyle/>
          <a:p>
            <a:pPr algn="l">
              <a:lnSpc>
                <a:spcPts val="2362"/>
              </a:lnSpc>
            </a:pPr>
            <a:r>
              <a:rPr lang="en-US" dirty="0">
                <a:solidFill>
                  <a:srgbClr val="A6ABCE"/>
                </a:solidFill>
                <a:latin typeface="IBM Plex Sans"/>
                <a:ea typeface="IBM Plex Sans"/>
                <a:cs typeface="IBM Plex Sans"/>
                <a:sym typeface="IBM Plex Sans"/>
              </a:rPr>
              <a:t>An Android app that </a:t>
            </a:r>
            <a:r>
              <a:rPr lang="en-US" b="1" dirty="0">
                <a:solidFill>
                  <a:srgbClr val="EEF0FF"/>
                </a:solidFill>
                <a:latin typeface="IBM Plex Sans Medium"/>
                <a:ea typeface="IBM Plex Sans Medium"/>
                <a:cs typeface="IBM Plex Sans Medium"/>
                <a:sym typeface="IBM Plex Sans Medium"/>
              </a:rPr>
              <a:t>senses</a:t>
            </a:r>
            <a:r>
              <a:rPr lang="en-US" dirty="0">
                <a:solidFill>
                  <a:srgbClr val="A6ABCE"/>
                </a:solidFill>
                <a:latin typeface="IBM Plex Sans"/>
                <a:ea typeface="IBM Plex Sans"/>
                <a:cs typeface="IBM Plex Sans"/>
                <a:sym typeface="IBM Plex Sans"/>
              </a:rPr>
              <a:t> live signals and runs inference fully on-device.</a:t>
            </a:r>
          </a:p>
        </p:txBody>
      </p:sp>
      <p:sp>
        <p:nvSpPr>
          <p:cNvPr id="27" name="TextBox 27"/>
          <p:cNvSpPr txBox="1"/>
          <p:nvPr/>
        </p:nvSpPr>
        <p:spPr>
          <a:xfrm>
            <a:off x="9629775" y="4012121"/>
            <a:ext cx="7181850" cy="1754583"/>
          </a:xfrm>
          <a:prstGeom prst="rect">
            <a:avLst/>
          </a:prstGeom>
        </p:spPr>
        <p:txBody>
          <a:bodyPr lIns="0" tIns="0" rIns="0" bIns="0" rtlCol="0" anchor="t">
            <a:spAutoFit/>
          </a:bodyPr>
          <a:lstStyle/>
          <a:p>
            <a:pPr algn="l">
              <a:lnSpc>
                <a:spcPts val="2310"/>
              </a:lnSpc>
            </a:pPr>
            <a:endParaRPr lang="en-US" b="1">
              <a:solidFill>
                <a:srgbClr val="EEF0FF"/>
              </a:solidFill>
              <a:latin typeface="IBM Plex Sans Medium"/>
              <a:ea typeface="IBM Plex Sans Medium"/>
              <a:cs typeface="IBM Plex Sans Medium"/>
              <a:sym typeface="IBM Plex Sans Medium"/>
            </a:endParaRPr>
          </a:p>
          <a:p>
            <a:pPr algn="l">
              <a:lnSpc>
                <a:spcPts val="2310"/>
              </a:lnSpc>
            </a:pPr>
            <a:endParaRPr lang="en-US" b="1">
              <a:solidFill>
                <a:srgbClr val="EEF0FF"/>
              </a:solidFill>
              <a:latin typeface="IBM Plex Sans Medium"/>
              <a:ea typeface="IBM Plex Sans Medium"/>
              <a:cs typeface="IBM Plex Sans Medium"/>
              <a:sym typeface="IBM Plex Sans Medium"/>
            </a:endParaRPr>
          </a:p>
          <a:p>
            <a:pPr algn="l">
              <a:lnSpc>
                <a:spcPts val="2310"/>
              </a:lnSpc>
            </a:pPr>
            <a:r>
              <a:rPr lang="en-US" b="1">
                <a:solidFill>
                  <a:srgbClr val="EEF0FF"/>
                </a:solidFill>
                <a:latin typeface="IBM Plex Sans Medium"/>
                <a:ea typeface="IBM Plex Sans Medium"/>
                <a:cs typeface="IBM Plex Sans Medium"/>
                <a:sym typeface="IBM Plex Sans Medium"/>
              </a:rPr>
              <a:t>What it senses</a:t>
            </a:r>
            <a:r>
              <a:rPr lang="en-US">
                <a:solidFill>
                  <a:srgbClr val="A6ABCE"/>
                </a:solidFill>
                <a:latin typeface="IBM Plex Sans"/>
                <a:ea typeface="IBM Plex Sans"/>
                <a:cs typeface="IBM Plex Sans"/>
                <a:sym typeface="IBM Plex Sans"/>
              </a:rPr>
              <a:t> — microphone, camera, and fingertip PPG heart-rate.</a:t>
            </a:r>
          </a:p>
          <a:p>
            <a:pPr algn="l">
              <a:lnSpc>
                <a:spcPts val="2310"/>
              </a:lnSpc>
            </a:pPr>
            <a:endParaRPr lang="en-US">
              <a:solidFill>
                <a:srgbClr val="A6ABCE"/>
              </a:solidFill>
              <a:latin typeface="IBM Plex Sans"/>
              <a:ea typeface="IBM Plex Sans"/>
              <a:cs typeface="IBM Plex Sans"/>
              <a:sym typeface="IBM Plex Sans"/>
            </a:endParaRPr>
          </a:p>
          <a:p>
            <a:pPr algn="l">
              <a:lnSpc>
                <a:spcPts val="2310"/>
              </a:lnSpc>
            </a:pPr>
            <a:endParaRPr lang="en-US">
              <a:solidFill>
                <a:srgbClr val="A6ABCE"/>
              </a:solidFill>
              <a:latin typeface="IBM Plex Sans"/>
              <a:ea typeface="IBM Plex Sans"/>
              <a:cs typeface="IBM Plex Sans"/>
              <a:sym typeface="IBM Plex Sans"/>
            </a:endParaRPr>
          </a:p>
          <a:p>
            <a:pPr algn="l">
              <a:lnSpc>
                <a:spcPts val="2310"/>
              </a:lnSpc>
            </a:pPr>
            <a:r>
              <a:rPr lang="en-US" b="1">
                <a:solidFill>
                  <a:srgbClr val="EEF0FF"/>
                </a:solidFill>
                <a:latin typeface="IBM Plex Sans Medium"/>
                <a:ea typeface="IBM Plex Sans Medium"/>
                <a:cs typeface="IBM Plex Sans Medium"/>
                <a:sym typeface="IBM Plex Sans Medium"/>
              </a:rPr>
              <a:t>How it serves</a:t>
            </a:r>
            <a:r>
              <a:rPr lang="en-US">
                <a:solidFill>
                  <a:srgbClr val="A6ABCE"/>
                </a:solidFill>
                <a:latin typeface="IBM Plex Sans"/>
                <a:ea typeface="IBM Plex Sans"/>
                <a:cs typeface="IBM Plex Sans"/>
                <a:sym typeface="IBM Plex Sans"/>
              </a:rPr>
              <a:t> — sliding-window inference, no network round-trip.</a:t>
            </a:r>
          </a:p>
        </p:txBody>
      </p:sp>
      <p:sp>
        <p:nvSpPr>
          <p:cNvPr id="28" name="Freeform 28"/>
          <p:cNvSpPr/>
          <p:nvPr/>
        </p:nvSpPr>
        <p:spPr>
          <a:xfrm>
            <a:off x="1619250" y="2978658"/>
            <a:ext cx="323850" cy="323850"/>
          </a:xfrm>
          <a:custGeom>
            <a:avLst/>
            <a:gdLst/>
            <a:ahLst/>
            <a:cxnLst/>
            <a:rect l="l" t="t" r="r" b="b"/>
            <a:pathLst>
              <a:path w="323850" h="323850">
                <a:moveTo>
                  <a:pt x="0" y="0"/>
                </a:moveTo>
                <a:lnTo>
                  <a:pt x="323850" y="0"/>
                </a:lnTo>
                <a:lnTo>
                  <a:pt x="323850" y="323850"/>
                </a:lnTo>
                <a:lnTo>
                  <a:pt x="0" y="3238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ko-KR" altLang="en-US"/>
          </a:p>
        </p:txBody>
      </p:sp>
      <p:sp>
        <p:nvSpPr>
          <p:cNvPr id="29" name="Freeform 29"/>
          <p:cNvSpPr/>
          <p:nvPr/>
        </p:nvSpPr>
        <p:spPr>
          <a:xfrm>
            <a:off x="9772650" y="2978658"/>
            <a:ext cx="323850" cy="323850"/>
          </a:xfrm>
          <a:custGeom>
            <a:avLst/>
            <a:gdLst/>
            <a:ahLst/>
            <a:cxnLst/>
            <a:rect l="l" t="t" r="r" b="b"/>
            <a:pathLst>
              <a:path w="323850" h="323850">
                <a:moveTo>
                  <a:pt x="0" y="0"/>
                </a:moveTo>
                <a:lnTo>
                  <a:pt x="323850" y="0"/>
                </a:lnTo>
                <a:lnTo>
                  <a:pt x="323850" y="323850"/>
                </a:lnTo>
                <a:lnTo>
                  <a:pt x="0" y="3238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ko-KR" altLang="en-US"/>
          </a:p>
        </p:txBody>
      </p:sp>
      <p:sp>
        <p:nvSpPr>
          <p:cNvPr id="30" name="AutoShape 30"/>
          <p:cNvSpPr/>
          <p:nvPr/>
        </p:nvSpPr>
        <p:spPr>
          <a:xfrm>
            <a:off x="1573530" y="1038225"/>
            <a:ext cx="438150" cy="19050"/>
          </a:xfrm>
          <a:prstGeom prst="rect">
            <a:avLst/>
          </a:prstGeom>
          <a:solidFill>
            <a:srgbClr val="7C83FF">
              <a:alpha val="69804"/>
            </a:srgbClr>
          </a:solidFill>
        </p:spPr>
        <p:txBody>
          <a:bodyPr/>
          <a:lstStyle/>
          <a:p>
            <a:endParaRPr lang="ko-KR" altLang="en-US"/>
          </a:p>
        </p:txBody>
      </p:sp>
      <p:sp>
        <p:nvSpPr>
          <p:cNvPr id="31" name="TextBox 31"/>
          <p:cNvSpPr txBox="1"/>
          <p:nvPr/>
        </p:nvSpPr>
        <p:spPr>
          <a:xfrm>
            <a:off x="16939165" y="9563100"/>
            <a:ext cx="205835" cy="247650"/>
          </a:xfrm>
          <a:prstGeom prst="rect">
            <a:avLst/>
          </a:prstGeom>
        </p:spPr>
        <p:txBody>
          <a:bodyPr lIns="0" tIns="0" rIns="0" bIns="0" rtlCol="0" anchor="t">
            <a:spAutoFit/>
          </a:bodyPr>
          <a:lstStyle/>
          <a:p>
            <a:pPr algn="l">
              <a:lnSpc>
                <a:spcPts val="1889"/>
              </a:lnSpc>
            </a:pPr>
            <a:r>
              <a:rPr lang="en-US" sz="1350">
                <a:solidFill>
                  <a:srgbClr val="6B7099"/>
                </a:solidFill>
                <a:latin typeface="IBM Plex Mono"/>
                <a:ea typeface="IBM Plex Mono"/>
                <a:cs typeface="IBM Plex Mono"/>
                <a:sym typeface="IBM Plex Mono"/>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047750" y="733425"/>
            <a:ext cx="70485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03</a:t>
            </a:r>
          </a:p>
        </p:txBody>
      </p:sp>
      <p:sp>
        <p:nvSpPr>
          <p:cNvPr id="4" name="TextBox 4"/>
          <p:cNvSpPr txBox="1"/>
          <p:nvPr/>
        </p:nvSpPr>
        <p:spPr>
          <a:xfrm>
            <a:off x="2049780" y="733425"/>
            <a:ext cx="336042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KEY IDEA · MODEL</a:t>
            </a:r>
          </a:p>
        </p:txBody>
      </p:sp>
      <p:sp>
        <p:nvSpPr>
          <p:cNvPr id="5" name="TextBox 5"/>
          <p:cNvSpPr txBox="1"/>
          <p:nvPr/>
        </p:nvSpPr>
        <p:spPr>
          <a:xfrm>
            <a:off x="1047750" y="1295400"/>
            <a:ext cx="16192500" cy="569964"/>
          </a:xfrm>
          <a:prstGeom prst="rect">
            <a:avLst/>
          </a:prstGeom>
        </p:spPr>
        <p:txBody>
          <a:bodyPr lIns="0" tIns="0" rIns="0" bIns="0" rtlCol="0" anchor="t">
            <a:spAutoFit/>
          </a:bodyPr>
          <a:lstStyle/>
          <a:p>
            <a:pPr algn="l">
              <a:lnSpc>
                <a:spcPts val="4212"/>
              </a:lnSpc>
            </a:pPr>
            <a:r>
              <a:rPr lang="en-US" sz="5100" b="1" spc="-121">
                <a:solidFill>
                  <a:srgbClr val="EEF0FF"/>
                </a:solidFill>
                <a:latin typeface="IBM Plex Sans Bold"/>
                <a:ea typeface="IBM Plex Sans Bold"/>
                <a:cs typeface="IBM Plex Sans Bold"/>
                <a:sym typeface="IBM Plex Sans Bold"/>
              </a:rPr>
              <a:t>Trained per signal, read per scenario</a:t>
            </a:r>
          </a:p>
        </p:txBody>
      </p:sp>
      <p:grpSp>
        <p:nvGrpSpPr>
          <p:cNvPr id="6" name="Group 6"/>
          <p:cNvGrpSpPr/>
          <p:nvPr/>
        </p:nvGrpSpPr>
        <p:grpSpPr>
          <a:xfrm>
            <a:off x="1047750" y="3755422"/>
            <a:ext cx="7943850" cy="3787426"/>
            <a:chOff x="0" y="0"/>
            <a:chExt cx="10591800" cy="5049901"/>
          </a:xfrm>
        </p:grpSpPr>
        <p:sp>
          <p:nvSpPr>
            <p:cNvPr id="7" name="Freeform 7"/>
            <p:cNvSpPr/>
            <p:nvPr/>
          </p:nvSpPr>
          <p:spPr>
            <a:xfrm>
              <a:off x="0" y="0"/>
              <a:ext cx="10591800" cy="5049901"/>
            </a:xfrm>
            <a:custGeom>
              <a:avLst/>
              <a:gdLst/>
              <a:ahLst/>
              <a:cxnLst/>
              <a:rect l="l" t="t" r="r" b="b"/>
              <a:pathLst>
                <a:path w="10591800" h="5049901">
                  <a:moveTo>
                    <a:pt x="279400" y="0"/>
                  </a:moveTo>
                  <a:lnTo>
                    <a:pt x="10312400" y="0"/>
                  </a:lnTo>
                  <a:cubicBezTo>
                    <a:pt x="10466705" y="0"/>
                    <a:pt x="10591800" y="125095"/>
                    <a:pt x="10591800" y="279400"/>
                  </a:cubicBezTo>
                  <a:lnTo>
                    <a:pt x="10591800" y="4770501"/>
                  </a:lnTo>
                  <a:cubicBezTo>
                    <a:pt x="10591800" y="4924806"/>
                    <a:pt x="10466705" y="5049901"/>
                    <a:pt x="10312400" y="5049901"/>
                  </a:cubicBezTo>
                  <a:lnTo>
                    <a:pt x="279400" y="5049901"/>
                  </a:lnTo>
                  <a:cubicBezTo>
                    <a:pt x="125095" y="5049901"/>
                    <a:pt x="0" y="4924806"/>
                    <a:pt x="0" y="4770501"/>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8" name="AutoShape 8"/>
          <p:cNvSpPr/>
          <p:nvPr/>
        </p:nvSpPr>
        <p:spPr>
          <a:xfrm>
            <a:off x="1047750" y="3755422"/>
            <a:ext cx="7943850" cy="9525"/>
          </a:xfrm>
          <a:prstGeom prst="rect">
            <a:avLst/>
          </a:prstGeom>
          <a:solidFill>
            <a:srgbClr val="FFFFFF">
              <a:alpha val="7843"/>
            </a:srgbClr>
          </a:solidFill>
        </p:spPr>
        <p:txBody>
          <a:bodyPr/>
          <a:lstStyle/>
          <a:p>
            <a:endParaRPr lang="ko-KR" altLang="en-US"/>
          </a:p>
        </p:txBody>
      </p:sp>
      <p:sp>
        <p:nvSpPr>
          <p:cNvPr id="9" name="AutoShape 9"/>
          <p:cNvSpPr/>
          <p:nvPr/>
        </p:nvSpPr>
        <p:spPr>
          <a:xfrm>
            <a:off x="8982075" y="3764947"/>
            <a:ext cx="9525" cy="3768376"/>
          </a:xfrm>
          <a:prstGeom prst="rect">
            <a:avLst/>
          </a:prstGeom>
          <a:solidFill>
            <a:srgbClr val="FFFFFF">
              <a:alpha val="7843"/>
            </a:srgbClr>
          </a:solidFill>
        </p:spPr>
        <p:txBody>
          <a:bodyPr/>
          <a:lstStyle/>
          <a:p>
            <a:endParaRPr lang="ko-KR" altLang="en-US"/>
          </a:p>
        </p:txBody>
      </p:sp>
      <p:sp>
        <p:nvSpPr>
          <p:cNvPr id="10" name="AutoShape 10"/>
          <p:cNvSpPr/>
          <p:nvPr/>
        </p:nvSpPr>
        <p:spPr>
          <a:xfrm>
            <a:off x="1047750" y="7533322"/>
            <a:ext cx="7943850" cy="9525"/>
          </a:xfrm>
          <a:prstGeom prst="rect">
            <a:avLst/>
          </a:prstGeom>
          <a:solidFill>
            <a:srgbClr val="FFFFFF">
              <a:alpha val="7843"/>
            </a:srgbClr>
          </a:solidFill>
        </p:spPr>
        <p:txBody>
          <a:bodyPr/>
          <a:lstStyle/>
          <a:p>
            <a:endParaRPr lang="ko-KR" altLang="en-US"/>
          </a:p>
        </p:txBody>
      </p:sp>
      <p:sp>
        <p:nvSpPr>
          <p:cNvPr id="11" name="AutoShape 11"/>
          <p:cNvSpPr/>
          <p:nvPr/>
        </p:nvSpPr>
        <p:spPr>
          <a:xfrm>
            <a:off x="1047750" y="3764947"/>
            <a:ext cx="9525" cy="3768376"/>
          </a:xfrm>
          <a:prstGeom prst="rect">
            <a:avLst/>
          </a:prstGeom>
          <a:solidFill>
            <a:srgbClr val="FFFFFF">
              <a:alpha val="7843"/>
            </a:srgbClr>
          </a:solidFill>
        </p:spPr>
        <p:txBody>
          <a:bodyPr/>
          <a:lstStyle/>
          <a:p>
            <a:endParaRPr lang="ko-KR" altLang="en-US"/>
          </a:p>
        </p:txBody>
      </p:sp>
      <p:sp>
        <p:nvSpPr>
          <p:cNvPr id="12" name="TextBox 12"/>
          <p:cNvSpPr txBox="1"/>
          <p:nvPr/>
        </p:nvSpPr>
        <p:spPr>
          <a:xfrm>
            <a:off x="1323975" y="3974497"/>
            <a:ext cx="3429000" cy="323165"/>
          </a:xfrm>
          <a:prstGeom prst="rect">
            <a:avLst/>
          </a:prstGeom>
        </p:spPr>
        <p:txBody>
          <a:bodyPr wrap="square" lIns="0" tIns="0" rIns="0" bIns="0" rtlCol="0" anchor="t">
            <a:spAutoFit/>
          </a:bodyPr>
          <a:lstStyle/>
          <a:p>
            <a:pPr algn="l">
              <a:lnSpc>
                <a:spcPts val="2729"/>
              </a:lnSpc>
            </a:pPr>
            <a:r>
              <a:rPr lang="en-US" sz="1950" b="1" spc="-29" dirty="0">
                <a:solidFill>
                  <a:srgbClr val="EEF0FF"/>
                </a:solidFill>
                <a:latin typeface="IBM Plex Sans Bold"/>
                <a:ea typeface="IBM Plex Sans Bold"/>
                <a:cs typeface="IBM Plex Sans Bold"/>
                <a:sym typeface="IBM Plex Sans Bold"/>
              </a:rPr>
              <a:t>Job Interview</a:t>
            </a:r>
          </a:p>
        </p:txBody>
      </p:sp>
      <p:grpSp>
        <p:nvGrpSpPr>
          <p:cNvPr id="13" name="Group 13"/>
          <p:cNvGrpSpPr/>
          <p:nvPr/>
        </p:nvGrpSpPr>
        <p:grpSpPr>
          <a:xfrm>
            <a:off x="7978045" y="4031647"/>
            <a:ext cx="737330" cy="285750"/>
            <a:chOff x="0" y="0"/>
            <a:chExt cx="983107" cy="381000"/>
          </a:xfrm>
        </p:grpSpPr>
        <p:sp>
          <p:nvSpPr>
            <p:cNvPr id="14" name="Freeform 14"/>
            <p:cNvSpPr/>
            <p:nvPr/>
          </p:nvSpPr>
          <p:spPr>
            <a:xfrm>
              <a:off x="0" y="0"/>
              <a:ext cx="983107" cy="381000"/>
            </a:xfrm>
            <a:custGeom>
              <a:avLst/>
              <a:gdLst/>
              <a:ahLst/>
              <a:cxnLst/>
              <a:rect l="l" t="t" r="r" b="b"/>
              <a:pathLst>
                <a:path w="983107" h="381000">
                  <a:moveTo>
                    <a:pt x="190500" y="0"/>
                  </a:moveTo>
                  <a:lnTo>
                    <a:pt x="792607" y="0"/>
                  </a:lnTo>
                  <a:cubicBezTo>
                    <a:pt x="897763" y="0"/>
                    <a:pt x="983107" y="85344"/>
                    <a:pt x="983107" y="190500"/>
                  </a:cubicBezTo>
                  <a:cubicBezTo>
                    <a:pt x="983107" y="295656"/>
                    <a:pt x="897763" y="381000"/>
                    <a:pt x="792607" y="381000"/>
                  </a:cubicBezTo>
                  <a:lnTo>
                    <a:pt x="190500" y="381000"/>
                  </a:lnTo>
                  <a:cubicBezTo>
                    <a:pt x="85344" y="381000"/>
                    <a:pt x="0" y="295656"/>
                    <a:pt x="0" y="190500"/>
                  </a:cubicBezTo>
                  <a:cubicBezTo>
                    <a:pt x="0" y="85344"/>
                    <a:pt x="85344" y="0"/>
                    <a:pt x="190500" y="0"/>
                  </a:cubicBezTo>
                  <a:close/>
                </a:path>
              </a:pathLst>
            </a:custGeom>
            <a:solidFill>
              <a:srgbClr val="262C54"/>
            </a:solidFill>
          </p:spPr>
          <p:txBody>
            <a:bodyPr/>
            <a:lstStyle/>
            <a:p>
              <a:endParaRPr lang="ko-KR" altLang="en-US"/>
            </a:p>
          </p:txBody>
        </p:sp>
        <p:sp>
          <p:nvSpPr>
            <p:cNvPr id="15" name="TextBox 15"/>
            <p:cNvSpPr txBox="1"/>
            <p:nvPr/>
          </p:nvSpPr>
          <p:spPr>
            <a:xfrm>
              <a:off x="0" y="-28575"/>
              <a:ext cx="983107" cy="409575"/>
            </a:xfrm>
            <a:prstGeom prst="rect">
              <a:avLst/>
            </a:prstGeom>
          </p:spPr>
          <p:txBody>
            <a:bodyPr lIns="76200" tIns="76200" rIns="76200" bIns="76200" rtlCol="0" anchor="ctr"/>
            <a:lstStyle/>
            <a:p>
              <a:pPr algn="l">
                <a:lnSpc>
                  <a:spcPts val="1470"/>
                </a:lnSpc>
              </a:pPr>
              <a:r>
                <a:rPr lang="en-US" sz="1050" b="1" spc="37">
                  <a:solidFill>
                    <a:srgbClr val="A6ABCE"/>
                  </a:solidFill>
                  <a:latin typeface="IBM Plex Mono Medium"/>
                  <a:ea typeface="IBM Plex Mono Medium"/>
                  <a:cs typeface="IBM Plex Mono Medium"/>
                  <a:sym typeface="IBM Plex Mono Medium"/>
                </a:rPr>
                <a:t>NO PPG</a:t>
              </a:r>
            </a:p>
          </p:txBody>
        </p:sp>
      </p:grpSp>
      <p:grpSp>
        <p:nvGrpSpPr>
          <p:cNvPr id="16" name="Group 16"/>
          <p:cNvGrpSpPr/>
          <p:nvPr/>
        </p:nvGrpSpPr>
        <p:grpSpPr>
          <a:xfrm>
            <a:off x="1323975" y="4507897"/>
            <a:ext cx="5048250" cy="643795"/>
            <a:chOff x="0" y="0"/>
            <a:chExt cx="6731000" cy="858393"/>
          </a:xfrm>
        </p:grpSpPr>
        <p:sp>
          <p:nvSpPr>
            <p:cNvPr id="17" name="Freeform 17"/>
            <p:cNvSpPr/>
            <p:nvPr/>
          </p:nvSpPr>
          <p:spPr>
            <a:xfrm>
              <a:off x="0" y="0"/>
              <a:ext cx="6731000" cy="858393"/>
            </a:xfrm>
            <a:custGeom>
              <a:avLst/>
              <a:gdLst/>
              <a:ahLst/>
              <a:cxnLst/>
              <a:rect l="l" t="t" r="r" b="b"/>
              <a:pathLst>
                <a:path w="6731000" h="858393">
                  <a:moveTo>
                    <a:pt x="165100" y="0"/>
                  </a:moveTo>
                  <a:lnTo>
                    <a:pt x="6565900" y="0"/>
                  </a:lnTo>
                  <a:cubicBezTo>
                    <a:pt x="6657086" y="0"/>
                    <a:pt x="6731000" y="73914"/>
                    <a:pt x="6731000" y="165100"/>
                  </a:cubicBezTo>
                  <a:lnTo>
                    <a:pt x="6731000" y="693293"/>
                  </a:lnTo>
                  <a:cubicBezTo>
                    <a:pt x="6731000" y="784479"/>
                    <a:pt x="6657086" y="858393"/>
                    <a:pt x="65659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grpSp>
      <p:sp>
        <p:nvSpPr>
          <p:cNvPr id="18" name="AutoShape 18"/>
          <p:cNvSpPr/>
          <p:nvPr/>
        </p:nvSpPr>
        <p:spPr>
          <a:xfrm>
            <a:off x="1323975" y="4507897"/>
            <a:ext cx="5048250" cy="9525"/>
          </a:xfrm>
          <a:prstGeom prst="rect">
            <a:avLst/>
          </a:prstGeom>
          <a:solidFill>
            <a:srgbClr val="FFFFFF">
              <a:alpha val="15686"/>
            </a:srgbClr>
          </a:solidFill>
        </p:spPr>
        <p:txBody>
          <a:bodyPr/>
          <a:lstStyle/>
          <a:p>
            <a:endParaRPr lang="ko-KR" altLang="en-US"/>
          </a:p>
        </p:txBody>
      </p:sp>
      <p:sp>
        <p:nvSpPr>
          <p:cNvPr id="19" name="AutoShape 19"/>
          <p:cNvSpPr/>
          <p:nvPr/>
        </p:nvSpPr>
        <p:spPr>
          <a:xfrm>
            <a:off x="6362700" y="4517422"/>
            <a:ext cx="9525" cy="624745"/>
          </a:xfrm>
          <a:prstGeom prst="rect">
            <a:avLst/>
          </a:prstGeom>
          <a:solidFill>
            <a:srgbClr val="FFFFFF">
              <a:alpha val="15686"/>
            </a:srgbClr>
          </a:solidFill>
        </p:spPr>
        <p:txBody>
          <a:bodyPr/>
          <a:lstStyle/>
          <a:p>
            <a:endParaRPr lang="ko-KR" altLang="en-US"/>
          </a:p>
        </p:txBody>
      </p:sp>
      <p:sp>
        <p:nvSpPr>
          <p:cNvPr id="20" name="AutoShape 20"/>
          <p:cNvSpPr/>
          <p:nvPr/>
        </p:nvSpPr>
        <p:spPr>
          <a:xfrm>
            <a:off x="1323975" y="5142166"/>
            <a:ext cx="5048250" cy="9525"/>
          </a:xfrm>
          <a:prstGeom prst="rect">
            <a:avLst/>
          </a:prstGeom>
          <a:solidFill>
            <a:srgbClr val="FFFFFF">
              <a:alpha val="15686"/>
            </a:srgbClr>
          </a:solidFill>
        </p:spPr>
        <p:txBody>
          <a:bodyPr/>
          <a:lstStyle/>
          <a:p>
            <a:endParaRPr lang="ko-KR" altLang="en-US"/>
          </a:p>
        </p:txBody>
      </p:sp>
      <p:sp>
        <p:nvSpPr>
          <p:cNvPr id="21" name="AutoShape 21"/>
          <p:cNvSpPr/>
          <p:nvPr/>
        </p:nvSpPr>
        <p:spPr>
          <a:xfrm>
            <a:off x="1323975" y="4517422"/>
            <a:ext cx="9525" cy="624745"/>
          </a:xfrm>
          <a:prstGeom prst="rect">
            <a:avLst/>
          </a:prstGeom>
          <a:solidFill>
            <a:srgbClr val="FFFFFF">
              <a:alpha val="15686"/>
            </a:srgbClr>
          </a:solidFill>
        </p:spPr>
        <p:txBody>
          <a:bodyPr/>
          <a:lstStyle/>
          <a:p>
            <a:endParaRPr lang="ko-KR" altLang="en-US"/>
          </a:p>
        </p:txBody>
      </p:sp>
      <p:sp>
        <p:nvSpPr>
          <p:cNvPr id="22" name="TextBox 22"/>
          <p:cNvSpPr txBox="1"/>
          <p:nvPr/>
        </p:nvSpPr>
        <p:spPr>
          <a:xfrm>
            <a:off x="1485900" y="4612672"/>
            <a:ext cx="4724400" cy="180975"/>
          </a:xfrm>
          <a:prstGeom prst="rect">
            <a:avLst/>
          </a:prstGeom>
        </p:spPr>
        <p:txBody>
          <a:bodyPr lIns="0" tIns="0" rIns="0" bIns="0" rtlCol="0" anchor="t">
            <a:spAutoFit/>
          </a:bodyPr>
          <a:lstStyle/>
          <a:p>
            <a:pPr algn="l">
              <a:lnSpc>
                <a:spcPts val="1364"/>
              </a:lnSpc>
            </a:pPr>
            <a:r>
              <a:rPr lang="en-US" sz="975" spc="60">
                <a:solidFill>
                  <a:srgbClr val="6B7099"/>
                </a:solidFill>
                <a:latin typeface="IBM Plex Mono"/>
                <a:ea typeface="IBM Plex Mono"/>
                <a:cs typeface="IBM Plex Mono"/>
                <a:sym typeface="IBM Plex Mono"/>
              </a:rPr>
              <a:t>VOICE</a:t>
            </a:r>
          </a:p>
        </p:txBody>
      </p:sp>
      <p:sp>
        <p:nvSpPr>
          <p:cNvPr id="23" name="TextBox 23"/>
          <p:cNvSpPr txBox="1"/>
          <p:nvPr/>
        </p:nvSpPr>
        <p:spPr>
          <a:xfrm>
            <a:off x="1485900" y="4812697"/>
            <a:ext cx="4724400" cy="205184"/>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Mel spectrogram → CNN</a:t>
            </a:r>
          </a:p>
        </p:txBody>
      </p:sp>
      <p:grpSp>
        <p:nvGrpSpPr>
          <p:cNvPr id="24" name="Group 24"/>
          <p:cNvGrpSpPr/>
          <p:nvPr/>
        </p:nvGrpSpPr>
        <p:grpSpPr>
          <a:xfrm>
            <a:off x="6848475" y="4507897"/>
            <a:ext cx="1866900" cy="643795"/>
            <a:chOff x="0" y="0"/>
            <a:chExt cx="2489200" cy="858393"/>
          </a:xfrm>
        </p:grpSpPr>
        <p:sp>
          <p:nvSpPr>
            <p:cNvPr id="25" name="Freeform 25"/>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sp>
          <p:nvSpPr>
            <p:cNvPr id="26" name="Freeform 26"/>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sp>
        <p:nvSpPr>
          <p:cNvPr id="27" name="TextBox 27"/>
          <p:cNvSpPr txBox="1"/>
          <p:nvPr/>
        </p:nvSpPr>
        <p:spPr>
          <a:xfrm>
            <a:off x="7010400" y="4612672"/>
            <a:ext cx="1543050" cy="180975"/>
          </a:xfrm>
          <a:prstGeom prst="rect">
            <a:avLst/>
          </a:prstGeom>
        </p:spPr>
        <p:txBody>
          <a:bodyPr lIns="0" tIns="0" rIns="0" bIns="0" rtlCol="0" anchor="t">
            <a:spAutoFit/>
          </a:bodyPr>
          <a:lstStyle/>
          <a:p>
            <a:pPr algn="l">
              <a:lnSpc>
                <a:spcPts val="1364"/>
              </a:lnSpc>
            </a:pPr>
            <a:r>
              <a:rPr lang="en-US" sz="975" spc="60">
                <a:solidFill>
                  <a:srgbClr val="9AA0FF"/>
                </a:solidFill>
                <a:latin typeface="IBM Plex Mono"/>
                <a:ea typeface="IBM Plex Mono"/>
                <a:cs typeface="IBM Plex Mono"/>
                <a:sym typeface="IBM Plex Mono"/>
              </a:rPr>
              <a:t>EMOTION HEAD</a:t>
            </a:r>
          </a:p>
        </p:txBody>
      </p:sp>
      <p:sp>
        <p:nvSpPr>
          <p:cNvPr id="28" name="TextBox 28"/>
          <p:cNvSpPr txBox="1"/>
          <p:nvPr/>
        </p:nvSpPr>
        <p:spPr>
          <a:xfrm>
            <a:off x="7010400" y="4812697"/>
            <a:ext cx="1543050" cy="215170"/>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8-class</a:t>
            </a:r>
          </a:p>
        </p:txBody>
      </p:sp>
      <p:grpSp>
        <p:nvGrpSpPr>
          <p:cNvPr id="29" name="Group 29"/>
          <p:cNvGrpSpPr/>
          <p:nvPr/>
        </p:nvGrpSpPr>
        <p:grpSpPr>
          <a:xfrm>
            <a:off x="1323975" y="5265992"/>
            <a:ext cx="5048250" cy="643795"/>
            <a:chOff x="0" y="0"/>
            <a:chExt cx="6731000" cy="858393"/>
          </a:xfrm>
        </p:grpSpPr>
        <p:sp>
          <p:nvSpPr>
            <p:cNvPr id="30" name="Freeform 30"/>
            <p:cNvSpPr/>
            <p:nvPr/>
          </p:nvSpPr>
          <p:spPr>
            <a:xfrm>
              <a:off x="0" y="0"/>
              <a:ext cx="6731000" cy="858393"/>
            </a:xfrm>
            <a:custGeom>
              <a:avLst/>
              <a:gdLst/>
              <a:ahLst/>
              <a:cxnLst/>
              <a:rect l="l" t="t" r="r" b="b"/>
              <a:pathLst>
                <a:path w="6731000" h="858393">
                  <a:moveTo>
                    <a:pt x="165100" y="0"/>
                  </a:moveTo>
                  <a:lnTo>
                    <a:pt x="6565900" y="0"/>
                  </a:lnTo>
                  <a:cubicBezTo>
                    <a:pt x="6657086" y="0"/>
                    <a:pt x="6731000" y="73914"/>
                    <a:pt x="6731000" y="165100"/>
                  </a:cubicBezTo>
                  <a:lnTo>
                    <a:pt x="6731000" y="693293"/>
                  </a:lnTo>
                  <a:cubicBezTo>
                    <a:pt x="6731000" y="784479"/>
                    <a:pt x="6657086" y="858393"/>
                    <a:pt x="65659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grpSp>
      <p:sp>
        <p:nvSpPr>
          <p:cNvPr id="31" name="AutoShape 31"/>
          <p:cNvSpPr/>
          <p:nvPr/>
        </p:nvSpPr>
        <p:spPr>
          <a:xfrm>
            <a:off x="1323975" y="5265992"/>
            <a:ext cx="5048250" cy="9525"/>
          </a:xfrm>
          <a:prstGeom prst="rect">
            <a:avLst/>
          </a:prstGeom>
          <a:solidFill>
            <a:srgbClr val="FFFFFF">
              <a:alpha val="15686"/>
            </a:srgbClr>
          </a:solidFill>
        </p:spPr>
        <p:txBody>
          <a:bodyPr/>
          <a:lstStyle/>
          <a:p>
            <a:endParaRPr lang="ko-KR" altLang="en-US"/>
          </a:p>
        </p:txBody>
      </p:sp>
      <p:sp>
        <p:nvSpPr>
          <p:cNvPr id="32" name="AutoShape 32"/>
          <p:cNvSpPr/>
          <p:nvPr/>
        </p:nvSpPr>
        <p:spPr>
          <a:xfrm>
            <a:off x="6362700" y="5275516"/>
            <a:ext cx="9525" cy="624745"/>
          </a:xfrm>
          <a:prstGeom prst="rect">
            <a:avLst/>
          </a:prstGeom>
          <a:solidFill>
            <a:srgbClr val="FFFFFF">
              <a:alpha val="15686"/>
            </a:srgbClr>
          </a:solidFill>
        </p:spPr>
        <p:txBody>
          <a:bodyPr/>
          <a:lstStyle/>
          <a:p>
            <a:endParaRPr lang="ko-KR" altLang="en-US"/>
          </a:p>
        </p:txBody>
      </p:sp>
      <p:sp>
        <p:nvSpPr>
          <p:cNvPr id="33" name="AutoShape 33"/>
          <p:cNvSpPr/>
          <p:nvPr/>
        </p:nvSpPr>
        <p:spPr>
          <a:xfrm>
            <a:off x="1323975" y="5900261"/>
            <a:ext cx="5048250" cy="9525"/>
          </a:xfrm>
          <a:prstGeom prst="rect">
            <a:avLst/>
          </a:prstGeom>
          <a:solidFill>
            <a:srgbClr val="FFFFFF">
              <a:alpha val="15686"/>
            </a:srgbClr>
          </a:solidFill>
        </p:spPr>
        <p:txBody>
          <a:bodyPr/>
          <a:lstStyle/>
          <a:p>
            <a:endParaRPr lang="ko-KR" altLang="en-US"/>
          </a:p>
        </p:txBody>
      </p:sp>
      <p:sp>
        <p:nvSpPr>
          <p:cNvPr id="34" name="AutoShape 34"/>
          <p:cNvSpPr/>
          <p:nvPr/>
        </p:nvSpPr>
        <p:spPr>
          <a:xfrm>
            <a:off x="1323975" y="5275516"/>
            <a:ext cx="9525" cy="624745"/>
          </a:xfrm>
          <a:prstGeom prst="rect">
            <a:avLst/>
          </a:prstGeom>
          <a:solidFill>
            <a:srgbClr val="FFFFFF">
              <a:alpha val="15686"/>
            </a:srgbClr>
          </a:solidFill>
        </p:spPr>
        <p:txBody>
          <a:bodyPr/>
          <a:lstStyle/>
          <a:p>
            <a:endParaRPr lang="ko-KR" altLang="en-US"/>
          </a:p>
        </p:txBody>
      </p:sp>
      <p:sp>
        <p:nvSpPr>
          <p:cNvPr id="35" name="TextBox 35"/>
          <p:cNvSpPr txBox="1"/>
          <p:nvPr/>
        </p:nvSpPr>
        <p:spPr>
          <a:xfrm>
            <a:off x="1485900" y="5370766"/>
            <a:ext cx="4724400" cy="180975"/>
          </a:xfrm>
          <a:prstGeom prst="rect">
            <a:avLst/>
          </a:prstGeom>
        </p:spPr>
        <p:txBody>
          <a:bodyPr lIns="0" tIns="0" rIns="0" bIns="0" rtlCol="0" anchor="t">
            <a:spAutoFit/>
          </a:bodyPr>
          <a:lstStyle/>
          <a:p>
            <a:pPr algn="l">
              <a:lnSpc>
                <a:spcPts val="1364"/>
              </a:lnSpc>
            </a:pPr>
            <a:r>
              <a:rPr lang="en-US" sz="975" spc="60">
                <a:solidFill>
                  <a:srgbClr val="6B7099"/>
                </a:solidFill>
                <a:latin typeface="IBM Plex Mono"/>
                <a:ea typeface="IBM Plex Mono"/>
                <a:cs typeface="IBM Plex Mono"/>
                <a:sym typeface="IBM Plex Mono"/>
              </a:rPr>
              <a:t>VOICE</a:t>
            </a:r>
          </a:p>
        </p:txBody>
      </p:sp>
      <p:sp>
        <p:nvSpPr>
          <p:cNvPr id="36" name="TextBox 36"/>
          <p:cNvSpPr txBox="1"/>
          <p:nvPr/>
        </p:nvSpPr>
        <p:spPr>
          <a:xfrm>
            <a:off x="1485900" y="5570791"/>
            <a:ext cx="4724400" cy="205184"/>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Mel spectrogram → CNN</a:t>
            </a:r>
          </a:p>
        </p:txBody>
      </p:sp>
      <p:grpSp>
        <p:nvGrpSpPr>
          <p:cNvPr id="37" name="Group 37"/>
          <p:cNvGrpSpPr/>
          <p:nvPr/>
        </p:nvGrpSpPr>
        <p:grpSpPr>
          <a:xfrm>
            <a:off x="6848475" y="5265992"/>
            <a:ext cx="1866900" cy="643795"/>
            <a:chOff x="0" y="0"/>
            <a:chExt cx="2489200" cy="858393"/>
          </a:xfrm>
        </p:grpSpPr>
        <p:sp>
          <p:nvSpPr>
            <p:cNvPr id="38" name="Freeform 38"/>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sp>
          <p:nvSpPr>
            <p:cNvPr id="39" name="Freeform 39"/>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000000">
                <a:alpha val="0"/>
              </a:srgbClr>
            </a:solidFill>
            <a:ln w="9525" cap="sq">
              <a:solidFill>
                <a:srgbClr val="FF6B6B"/>
              </a:solidFill>
              <a:prstDash val="solid"/>
              <a:miter/>
            </a:ln>
          </p:spPr>
          <p:txBody>
            <a:bodyPr/>
            <a:lstStyle/>
            <a:p>
              <a:endParaRPr lang="ko-KR" altLang="en-US"/>
            </a:p>
          </p:txBody>
        </p:sp>
      </p:grpSp>
      <p:sp>
        <p:nvSpPr>
          <p:cNvPr id="40" name="TextBox 40"/>
          <p:cNvSpPr txBox="1"/>
          <p:nvPr/>
        </p:nvSpPr>
        <p:spPr>
          <a:xfrm>
            <a:off x="7010400" y="5370766"/>
            <a:ext cx="1543050" cy="180975"/>
          </a:xfrm>
          <a:prstGeom prst="rect">
            <a:avLst/>
          </a:prstGeom>
        </p:spPr>
        <p:txBody>
          <a:bodyPr lIns="0" tIns="0" rIns="0" bIns="0" rtlCol="0" anchor="t">
            <a:spAutoFit/>
          </a:bodyPr>
          <a:lstStyle/>
          <a:p>
            <a:pPr algn="l">
              <a:lnSpc>
                <a:spcPts val="1364"/>
              </a:lnSpc>
            </a:pPr>
            <a:r>
              <a:rPr lang="en-US" sz="975" spc="60">
                <a:solidFill>
                  <a:srgbClr val="FF6B6B"/>
                </a:solidFill>
                <a:latin typeface="IBM Plex Mono"/>
                <a:ea typeface="IBM Plex Mono"/>
                <a:cs typeface="IBM Plex Mono"/>
                <a:sym typeface="IBM Plex Mono"/>
              </a:rPr>
              <a:t>VERACITY HEAD</a:t>
            </a:r>
          </a:p>
        </p:txBody>
      </p:sp>
      <p:sp>
        <p:nvSpPr>
          <p:cNvPr id="41" name="TextBox 41"/>
          <p:cNvSpPr txBox="1"/>
          <p:nvPr/>
        </p:nvSpPr>
        <p:spPr>
          <a:xfrm>
            <a:off x="7010400" y="5570791"/>
            <a:ext cx="1543050" cy="215170"/>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genuine / fake</a:t>
            </a:r>
          </a:p>
        </p:txBody>
      </p:sp>
      <p:grpSp>
        <p:nvGrpSpPr>
          <p:cNvPr id="42" name="Group 42"/>
          <p:cNvGrpSpPr/>
          <p:nvPr/>
        </p:nvGrpSpPr>
        <p:grpSpPr>
          <a:xfrm>
            <a:off x="1323975" y="6024086"/>
            <a:ext cx="5048250" cy="643795"/>
            <a:chOff x="0" y="0"/>
            <a:chExt cx="6731000" cy="858393"/>
          </a:xfrm>
        </p:grpSpPr>
        <p:sp>
          <p:nvSpPr>
            <p:cNvPr id="43" name="Freeform 43"/>
            <p:cNvSpPr/>
            <p:nvPr/>
          </p:nvSpPr>
          <p:spPr>
            <a:xfrm>
              <a:off x="0" y="0"/>
              <a:ext cx="6731000" cy="858393"/>
            </a:xfrm>
            <a:custGeom>
              <a:avLst/>
              <a:gdLst/>
              <a:ahLst/>
              <a:cxnLst/>
              <a:rect l="l" t="t" r="r" b="b"/>
              <a:pathLst>
                <a:path w="6731000" h="858393">
                  <a:moveTo>
                    <a:pt x="165100" y="0"/>
                  </a:moveTo>
                  <a:lnTo>
                    <a:pt x="6565900" y="0"/>
                  </a:lnTo>
                  <a:cubicBezTo>
                    <a:pt x="6657086" y="0"/>
                    <a:pt x="6731000" y="73914"/>
                    <a:pt x="6731000" y="165100"/>
                  </a:cubicBezTo>
                  <a:lnTo>
                    <a:pt x="6731000" y="693293"/>
                  </a:lnTo>
                  <a:cubicBezTo>
                    <a:pt x="6731000" y="784479"/>
                    <a:pt x="6657086" y="858393"/>
                    <a:pt x="65659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grpSp>
      <p:sp>
        <p:nvSpPr>
          <p:cNvPr id="44" name="AutoShape 44"/>
          <p:cNvSpPr/>
          <p:nvPr/>
        </p:nvSpPr>
        <p:spPr>
          <a:xfrm>
            <a:off x="1323975" y="6024086"/>
            <a:ext cx="5048250" cy="9525"/>
          </a:xfrm>
          <a:prstGeom prst="rect">
            <a:avLst/>
          </a:prstGeom>
          <a:solidFill>
            <a:srgbClr val="FFFFFF">
              <a:alpha val="15686"/>
            </a:srgbClr>
          </a:solidFill>
        </p:spPr>
        <p:txBody>
          <a:bodyPr/>
          <a:lstStyle/>
          <a:p>
            <a:endParaRPr lang="ko-KR" altLang="en-US"/>
          </a:p>
        </p:txBody>
      </p:sp>
      <p:sp>
        <p:nvSpPr>
          <p:cNvPr id="45" name="AutoShape 45"/>
          <p:cNvSpPr/>
          <p:nvPr/>
        </p:nvSpPr>
        <p:spPr>
          <a:xfrm>
            <a:off x="6362700" y="6033611"/>
            <a:ext cx="9525" cy="624745"/>
          </a:xfrm>
          <a:prstGeom prst="rect">
            <a:avLst/>
          </a:prstGeom>
          <a:solidFill>
            <a:srgbClr val="FFFFFF">
              <a:alpha val="15686"/>
            </a:srgbClr>
          </a:solidFill>
        </p:spPr>
        <p:txBody>
          <a:bodyPr/>
          <a:lstStyle/>
          <a:p>
            <a:endParaRPr lang="ko-KR" altLang="en-US"/>
          </a:p>
        </p:txBody>
      </p:sp>
      <p:sp>
        <p:nvSpPr>
          <p:cNvPr id="46" name="AutoShape 46"/>
          <p:cNvSpPr/>
          <p:nvPr/>
        </p:nvSpPr>
        <p:spPr>
          <a:xfrm>
            <a:off x="1323975" y="6658356"/>
            <a:ext cx="5048250" cy="9525"/>
          </a:xfrm>
          <a:prstGeom prst="rect">
            <a:avLst/>
          </a:prstGeom>
          <a:solidFill>
            <a:srgbClr val="FFFFFF">
              <a:alpha val="15686"/>
            </a:srgbClr>
          </a:solidFill>
        </p:spPr>
        <p:txBody>
          <a:bodyPr/>
          <a:lstStyle/>
          <a:p>
            <a:endParaRPr lang="ko-KR" altLang="en-US"/>
          </a:p>
        </p:txBody>
      </p:sp>
      <p:sp>
        <p:nvSpPr>
          <p:cNvPr id="47" name="AutoShape 47"/>
          <p:cNvSpPr/>
          <p:nvPr/>
        </p:nvSpPr>
        <p:spPr>
          <a:xfrm>
            <a:off x="1323975" y="6033611"/>
            <a:ext cx="9525" cy="624745"/>
          </a:xfrm>
          <a:prstGeom prst="rect">
            <a:avLst/>
          </a:prstGeom>
          <a:solidFill>
            <a:srgbClr val="FFFFFF">
              <a:alpha val="15686"/>
            </a:srgbClr>
          </a:solidFill>
        </p:spPr>
        <p:txBody>
          <a:bodyPr/>
          <a:lstStyle/>
          <a:p>
            <a:endParaRPr lang="ko-KR" altLang="en-US"/>
          </a:p>
        </p:txBody>
      </p:sp>
      <p:sp>
        <p:nvSpPr>
          <p:cNvPr id="48" name="TextBox 48"/>
          <p:cNvSpPr txBox="1"/>
          <p:nvPr/>
        </p:nvSpPr>
        <p:spPr>
          <a:xfrm>
            <a:off x="1485900" y="6128861"/>
            <a:ext cx="4724400" cy="180975"/>
          </a:xfrm>
          <a:prstGeom prst="rect">
            <a:avLst/>
          </a:prstGeom>
        </p:spPr>
        <p:txBody>
          <a:bodyPr lIns="0" tIns="0" rIns="0" bIns="0" rtlCol="0" anchor="t">
            <a:spAutoFit/>
          </a:bodyPr>
          <a:lstStyle/>
          <a:p>
            <a:pPr algn="l">
              <a:lnSpc>
                <a:spcPts val="1364"/>
              </a:lnSpc>
            </a:pPr>
            <a:r>
              <a:rPr lang="en-US" sz="975" spc="60">
                <a:solidFill>
                  <a:srgbClr val="6B7099"/>
                </a:solidFill>
                <a:latin typeface="IBM Plex Mono"/>
                <a:ea typeface="IBM Plex Mono"/>
                <a:cs typeface="IBM Plex Mono"/>
                <a:sym typeface="IBM Plex Mono"/>
              </a:rPr>
              <a:t>FACE</a:t>
            </a:r>
          </a:p>
        </p:txBody>
      </p:sp>
      <p:sp>
        <p:nvSpPr>
          <p:cNvPr id="49" name="TextBox 49"/>
          <p:cNvSpPr txBox="1"/>
          <p:nvPr/>
        </p:nvSpPr>
        <p:spPr>
          <a:xfrm>
            <a:off x="1485900" y="6328886"/>
            <a:ext cx="4724400" cy="215170"/>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96×96 crop → CNN</a:t>
            </a:r>
          </a:p>
        </p:txBody>
      </p:sp>
      <p:grpSp>
        <p:nvGrpSpPr>
          <p:cNvPr id="50" name="Group 50"/>
          <p:cNvGrpSpPr/>
          <p:nvPr/>
        </p:nvGrpSpPr>
        <p:grpSpPr>
          <a:xfrm>
            <a:off x="6848475" y="6024086"/>
            <a:ext cx="1866900" cy="643795"/>
            <a:chOff x="0" y="0"/>
            <a:chExt cx="2489200" cy="858393"/>
          </a:xfrm>
        </p:grpSpPr>
        <p:sp>
          <p:nvSpPr>
            <p:cNvPr id="51" name="Freeform 51"/>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sp>
          <p:nvSpPr>
            <p:cNvPr id="52" name="Freeform 52"/>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sp>
        <p:nvSpPr>
          <p:cNvPr id="53" name="TextBox 53"/>
          <p:cNvSpPr txBox="1"/>
          <p:nvPr/>
        </p:nvSpPr>
        <p:spPr>
          <a:xfrm>
            <a:off x="7010400" y="6128861"/>
            <a:ext cx="1543050" cy="180975"/>
          </a:xfrm>
          <a:prstGeom prst="rect">
            <a:avLst/>
          </a:prstGeom>
        </p:spPr>
        <p:txBody>
          <a:bodyPr lIns="0" tIns="0" rIns="0" bIns="0" rtlCol="0" anchor="t">
            <a:spAutoFit/>
          </a:bodyPr>
          <a:lstStyle/>
          <a:p>
            <a:pPr algn="l">
              <a:lnSpc>
                <a:spcPts val="1364"/>
              </a:lnSpc>
            </a:pPr>
            <a:r>
              <a:rPr lang="en-US" sz="975" spc="60">
                <a:solidFill>
                  <a:srgbClr val="9AA0FF"/>
                </a:solidFill>
                <a:latin typeface="IBM Plex Mono"/>
                <a:ea typeface="IBM Plex Mono"/>
                <a:cs typeface="IBM Plex Mono"/>
                <a:sym typeface="IBM Plex Mono"/>
              </a:rPr>
              <a:t>EMOTION HEAD</a:t>
            </a:r>
          </a:p>
        </p:txBody>
      </p:sp>
      <p:sp>
        <p:nvSpPr>
          <p:cNvPr id="54" name="TextBox 54"/>
          <p:cNvSpPr txBox="1"/>
          <p:nvPr/>
        </p:nvSpPr>
        <p:spPr>
          <a:xfrm>
            <a:off x="7010400" y="6328886"/>
            <a:ext cx="1543050" cy="215170"/>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8-class</a:t>
            </a:r>
          </a:p>
        </p:txBody>
      </p:sp>
      <p:sp>
        <p:nvSpPr>
          <p:cNvPr id="55" name="TextBox 55"/>
          <p:cNvSpPr txBox="1"/>
          <p:nvPr/>
        </p:nvSpPr>
        <p:spPr>
          <a:xfrm>
            <a:off x="1323975" y="6867239"/>
            <a:ext cx="7391400" cy="646176"/>
          </a:xfrm>
          <a:prstGeom prst="rect">
            <a:avLst/>
          </a:prstGeom>
        </p:spPr>
        <p:txBody>
          <a:bodyPr lIns="0" tIns="0" rIns="0" bIns="0" rtlCol="0" anchor="t">
            <a:spAutoFit/>
          </a:bodyPr>
          <a:lstStyle/>
          <a:p>
            <a:pPr algn="l">
              <a:lnSpc>
                <a:spcPts val="1794"/>
              </a:lnSpc>
            </a:pPr>
            <a:r>
              <a:rPr lang="en-US" sz="1237">
                <a:solidFill>
                  <a:srgbClr val="A6ABCE"/>
                </a:solidFill>
                <a:latin typeface="IBM Plex Sans"/>
                <a:ea typeface="IBM Plex Sans"/>
                <a:cs typeface="IBM Plex Sans"/>
                <a:sym typeface="IBM Plex Sans"/>
              </a:rPr>
              <a:t>App compares </a:t>
            </a:r>
            <a:r>
              <a:rPr lang="en-US" sz="1237" b="1">
                <a:solidFill>
                  <a:srgbClr val="EEF0FF"/>
                </a:solidFill>
                <a:latin typeface="IBM Plex Sans Medium"/>
                <a:ea typeface="IBM Plex Sans Medium"/>
                <a:cs typeface="IBM Plex Sans Medium"/>
                <a:sym typeface="IBM Plex Sans Medium"/>
              </a:rPr>
              <a:t>face vs voice emotion</a:t>
            </a:r>
            <a:r>
              <a:rPr lang="en-US" sz="1237">
                <a:solidFill>
                  <a:srgbClr val="A6ABCE"/>
                </a:solidFill>
                <a:latin typeface="IBM Plex Sans"/>
                <a:ea typeface="IBM Plex Sans"/>
                <a:cs typeface="IBM Plex Sans"/>
                <a:sym typeface="IBM Plex Sans"/>
              </a:rPr>
              <a:t> side by side + a </a:t>
            </a:r>
            <a:r>
              <a:rPr lang="en-US" sz="1237" b="1">
                <a:solidFill>
                  <a:srgbClr val="EEF0FF"/>
                </a:solidFill>
                <a:latin typeface="IBM Plex Sans Medium"/>
                <a:ea typeface="IBM Plex Sans Medium"/>
                <a:cs typeface="IBM Plex Sans Medium"/>
                <a:sym typeface="IBM Plex Sans Medium"/>
              </a:rPr>
              <a:t>Face–Voice mismatch</a:t>
            </a:r>
            <a:r>
              <a:rPr lang="en-US" sz="1237">
                <a:solidFill>
                  <a:srgbClr val="A6ABCE"/>
                </a:solidFill>
                <a:latin typeface="IBM Plex Sans"/>
                <a:ea typeface="IBM Plex Sans"/>
                <a:cs typeface="IBM Plex Sans"/>
                <a:sym typeface="IBM Plex Sans"/>
              </a:rPr>
              <a:t> score; the voice model drives the deception gauge.</a:t>
            </a:r>
          </a:p>
        </p:txBody>
      </p:sp>
      <p:grpSp>
        <p:nvGrpSpPr>
          <p:cNvPr id="56" name="Group 56"/>
          <p:cNvGrpSpPr/>
          <p:nvPr/>
        </p:nvGrpSpPr>
        <p:grpSpPr>
          <a:xfrm>
            <a:off x="9296400" y="3755422"/>
            <a:ext cx="7943850" cy="3787426"/>
            <a:chOff x="0" y="0"/>
            <a:chExt cx="10591800" cy="5049901"/>
          </a:xfrm>
        </p:grpSpPr>
        <p:sp>
          <p:nvSpPr>
            <p:cNvPr id="57" name="Freeform 57"/>
            <p:cNvSpPr/>
            <p:nvPr/>
          </p:nvSpPr>
          <p:spPr>
            <a:xfrm>
              <a:off x="0" y="0"/>
              <a:ext cx="10591800" cy="5049901"/>
            </a:xfrm>
            <a:custGeom>
              <a:avLst/>
              <a:gdLst/>
              <a:ahLst/>
              <a:cxnLst/>
              <a:rect l="l" t="t" r="r" b="b"/>
              <a:pathLst>
                <a:path w="10591800" h="5049901">
                  <a:moveTo>
                    <a:pt x="279400" y="0"/>
                  </a:moveTo>
                  <a:lnTo>
                    <a:pt x="10312400" y="0"/>
                  </a:lnTo>
                  <a:cubicBezTo>
                    <a:pt x="10466705" y="0"/>
                    <a:pt x="10591800" y="125095"/>
                    <a:pt x="10591800" y="279400"/>
                  </a:cubicBezTo>
                  <a:lnTo>
                    <a:pt x="10591800" y="4770501"/>
                  </a:lnTo>
                  <a:cubicBezTo>
                    <a:pt x="10591800" y="4924806"/>
                    <a:pt x="10466705" y="5049901"/>
                    <a:pt x="10312400" y="5049901"/>
                  </a:cubicBezTo>
                  <a:lnTo>
                    <a:pt x="279400" y="5049901"/>
                  </a:lnTo>
                  <a:cubicBezTo>
                    <a:pt x="125095" y="5049901"/>
                    <a:pt x="0" y="4924806"/>
                    <a:pt x="0" y="4770501"/>
                  </a:cubicBezTo>
                  <a:lnTo>
                    <a:pt x="0" y="279400"/>
                  </a:lnTo>
                  <a:cubicBezTo>
                    <a:pt x="0" y="125095"/>
                    <a:pt x="125095" y="0"/>
                    <a:pt x="279400" y="0"/>
                  </a:cubicBezTo>
                  <a:close/>
                </a:path>
              </a:pathLst>
            </a:custGeom>
            <a:solidFill>
              <a:srgbClr val="161A32"/>
            </a:solidFill>
          </p:spPr>
          <p:txBody>
            <a:bodyPr/>
            <a:lstStyle/>
            <a:p>
              <a:endParaRPr lang="ko-KR" altLang="en-US"/>
            </a:p>
          </p:txBody>
        </p:sp>
        <p:sp>
          <p:nvSpPr>
            <p:cNvPr id="58" name="Freeform 58"/>
            <p:cNvSpPr/>
            <p:nvPr/>
          </p:nvSpPr>
          <p:spPr>
            <a:xfrm>
              <a:off x="0" y="0"/>
              <a:ext cx="10591800" cy="5049901"/>
            </a:xfrm>
            <a:custGeom>
              <a:avLst/>
              <a:gdLst/>
              <a:ahLst/>
              <a:cxnLst/>
              <a:rect l="l" t="t" r="r" b="b"/>
              <a:pathLst>
                <a:path w="10591800" h="5049901">
                  <a:moveTo>
                    <a:pt x="279400" y="0"/>
                  </a:moveTo>
                  <a:lnTo>
                    <a:pt x="10312400" y="0"/>
                  </a:lnTo>
                  <a:cubicBezTo>
                    <a:pt x="10466705" y="0"/>
                    <a:pt x="10591800" y="125095"/>
                    <a:pt x="10591800" y="279400"/>
                  </a:cubicBezTo>
                  <a:lnTo>
                    <a:pt x="10591800" y="4770501"/>
                  </a:lnTo>
                  <a:cubicBezTo>
                    <a:pt x="10591800" y="4924806"/>
                    <a:pt x="10466705" y="5049901"/>
                    <a:pt x="10312400" y="5049901"/>
                  </a:cubicBezTo>
                  <a:lnTo>
                    <a:pt x="279400" y="5049901"/>
                  </a:lnTo>
                  <a:cubicBezTo>
                    <a:pt x="125095" y="5049901"/>
                    <a:pt x="0" y="4924806"/>
                    <a:pt x="0" y="4770501"/>
                  </a:cubicBezTo>
                  <a:lnTo>
                    <a:pt x="0" y="279400"/>
                  </a:lnTo>
                  <a:cubicBezTo>
                    <a:pt x="0" y="125095"/>
                    <a:pt x="125095" y="0"/>
                    <a:pt x="2794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sp>
        <p:nvSpPr>
          <p:cNvPr id="59" name="TextBox 59"/>
          <p:cNvSpPr txBox="1"/>
          <p:nvPr/>
        </p:nvSpPr>
        <p:spPr>
          <a:xfrm>
            <a:off x="9572625" y="3974497"/>
            <a:ext cx="1752600" cy="334043"/>
          </a:xfrm>
          <a:prstGeom prst="rect">
            <a:avLst/>
          </a:prstGeom>
        </p:spPr>
        <p:txBody>
          <a:bodyPr wrap="square" lIns="0" tIns="0" rIns="0" bIns="0" rtlCol="0" anchor="t">
            <a:spAutoFit/>
          </a:bodyPr>
          <a:lstStyle/>
          <a:p>
            <a:pPr algn="l">
              <a:lnSpc>
                <a:spcPts val="2729"/>
              </a:lnSpc>
            </a:pPr>
            <a:r>
              <a:rPr lang="en-US" sz="1950" b="1" spc="-29" dirty="0">
                <a:solidFill>
                  <a:srgbClr val="EEF0FF"/>
                </a:solidFill>
                <a:latin typeface="IBM Plex Sans Bold"/>
                <a:ea typeface="IBM Plex Sans Bold"/>
                <a:cs typeface="IBM Plex Sans Bold"/>
                <a:sym typeface="IBM Plex Sans Bold"/>
              </a:rPr>
              <a:t>Blind Date</a:t>
            </a:r>
          </a:p>
        </p:txBody>
      </p:sp>
      <p:grpSp>
        <p:nvGrpSpPr>
          <p:cNvPr id="60" name="Group 60"/>
          <p:cNvGrpSpPr/>
          <p:nvPr/>
        </p:nvGrpSpPr>
        <p:grpSpPr>
          <a:xfrm>
            <a:off x="15463838" y="4031647"/>
            <a:ext cx="1500188" cy="285750"/>
            <a:chOff x="0" y="0"/>
            <a:chExt cx="2000250" cy="381000"/>
          </a:xfrm>
        </p:grpSpPr>
        <p:sp>
          <p:nvSpPr>
            <p:cNvPr id="61" name="Freeform 61"/>
            <p:cNvSpPr/>
            <p:nvPr/>
          </p:nvSpPr>
          <p:spPr>
            <a:xfrm>
              <a:off x="0" y="0"/>
              <a:ext cx="2000250" cy="381000"/>
            </a:xfrm>
            <a:custGeom>
              <a:avLst/>
              <a:gdLst/>
              <a:ahLst/>
              <a:cxnLst/>
              <a:rect l="l" t="t" r="r" b="b"/>
              <a:pathLst>
                <a:path w="2000250" h="381000">
                  <a:moveTo>
                    <a:pt x="190500" y="0"/>
                  </a:moveTo>
                  <a:lnTo>
                    <a:pt x="1809750" y="0"/>
                  </a:lnTo>
                  <a:cubicBezTo>
                    <a:pt x="1914906" y="0"/>
                    <a:pt x="2000250" y="85344"/>
                    <a:pt x="2000250" y="190500"/>
                  </a:cubicBezTo>
                  <a:cubicBezTo>
                    <a:pt x="2000250" y="295656"/>
                    <a:pt x="1914906" y="381000"/>
                    <a:pt x="1809750" y="381000"/>
                  </a:cubicBezTo>
                  <a:lnTo>
                    <a:pt x="190500" y="381000"/>
                  </a:lnTo>
                  <a:cubicBezTo>
                    <a:pt x="85344" y="381000"/>
                    <a:pt x="0" y="295656"/>
                    <a:pt x="0" y="190500"/>
                  </a:cubicBezTo>
                  <a:cubicBezTo>
                    <a:pt x="0" y="85344"/>
                    <a:pt x="85344" y="0"/>
                    <a:pt x="190500" y="0"/>
                  </a:cubicBezTo>
                  <a:close/>
                </a:path>
              </a:pathLst>
            </a:custGeom>
            <a:solidFill>
              <a:srgbClr val="7C83FF">
                <a:alpha val="46000"/>
              </a:srgbClr>
            </a:solidFill>
          </p:spPr>
          <p:txBody>
            <a:bodyPr/>
            <a:lstStyle/>
            <a:p>
              <a:endParaRPr lang="ko-KR" altLang="en-US" dirty="0"/>
            </a:p>
          </p:txBody>
        </p:sp>
        <p:sp>
          <p:nvSpPr>
            <p:cNvPr id="62" name="TextBox 62"/>
            <p:cNvSpPr txBox="1"/>
            <p:nvPr/>
          </p:nvSpPr>
          <p:spPr>
            <a:xfrm>
              <a:off x="0" y="-28575"/>
              <a:ext cx="2000250" cy="409575"/>
            </a:xfrm>
            <a:prstGeom prst="rect">
              <a:avLst/>
            </a:prstGeom>
          </p:spPr>
          <p:txBody>
            <a:bodyPr lIns="76200" tIns="76200" rIns="76200" bIns="76200" rtlCol="0" anchor="ctr"/>
            <a:lstStyle/>
            <a:p>
              <a:pPr algn="l">
                <a:lnSpc>
                  <a:spcPts val="1470"/>
                </a:lnSpc>
              </a:pPr>
              <a:r>
                <a:rPr lang="en-US" sz="1050" b="1" spc="37">
                  <a:solidFill>
                    <a:srgbClr val="9AA0FF"/>
                  </a:solidFill>
                  <a:latin typeface="IBM Plex Mono Medium"/>
                  <a:ea typeface="IBM Plex Mono Medium"/>
                  <a:cs typeface="IBM Plex Mono Medium"/>
                  <a:sym typeface="IBM Plex Mono Medium"/>
                </a:rPr>
                <a:t>+ FINGERTIP PPG</a:t>
              </a:r>
            </a:p>
          </p:txBody>
        </p:sp>
      </p:grpSp>
      <p:grpSp>
        <p:nvGrpSpPr>
          <p:cNvPr id="63" name="Group 63"/>
          <p:cNvGrpSpPr/>
          <p:nvPr/>
        </p:nvGrpSpPr>
        <p:grpSpPr>
          <a:xfrm>
            <a:off x="9572625" y="4507897"/>
            <a:ext cx="5048250" cy="643795"/>
            <a:chOff x="0" y="0"/>
            <a:chExt cx="6731000" cy="858393"/>
          </a:xfrm>
        </p:grpSpPr>
        <p:sp>
          <p:nvSpPr>
            <p:cNvPr id="64" name="Freeform 64"/>
            <p:cNvSpPr/>
            <p:nvPr/>
          </p:nvSpPr>
          <p:spPr>
            <a:xfrm>
              <a:off x="0" y="0"/>
              <a:ext cx="6731000" cy="858393"/>
            </a:xfrm>
            <a:custGeom>
              <a:avLst/>
              <a:gdLst/>
              <a:ahLst/>
              <a:cxnLst/>
              <a:rect l="l" t="t" r="r" b="b"/>
              <a:pathLst>
                <a:path w="6731000" h="858393">
                  <a:moveTo>
                    <a:pt x="165100" y="0"/>
                  </a:moveTo>
                  <a:lnTo>
                    <a:pt x="6565900" y="0"/>
                  </a:lnTo>
                  <a:cubicBezTo>
                    <a:pt x="6657086" y="0"/>
                    <a:pt x="6731000" y="73914"/>
                    <a:pt x="6731000" y="165100"/>
                  </a:cubicBezTo>
                  <a:lnTo>
                    <a:pt x="6731000" y="693293"/>
                  </a:lnTo>
                  <a:cubicBezTo>
                    <a:pt x="6731000" y="784479"/>
                    <a:pt x="6657086" y="858393"/>
                    <a:pt x="65659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grpSp>
      <p:sp>
        <p:nvSpPr>
          <p:cNvPr id="65" name="AutoShape 65"/>
          <p:cNvSpPr/>
          <p:nvPr/>
        </p:nvSpPr>
        <p:spPr>
          <a:xfrm>
            <a:off x="9572625" y="4507897"/>
            <a:ext cx="5048250" cy="9525"/>
          </a:xfrm>
          <a:prstGeom prst="rect">
            <a:avLst/>
          </a:prstGeom>
          <a:solidFill>
            <a:srgbClr val="FFFFFF">
              <a:alpha val="15686"/>
            </a:srgbClr>
          </a:solidFill>
        </p:spPr>
        <p:txBody>
          <a:bodyPr/>
          <a:lstStyle/>
          <a:p>
            <a:endParaRPr lang="ko-KR" altLang="en-US"/>
          </a:p>
        </p:txBody>
      </p:sp>
      <p:sp>
        <p:nvSpPr>
          <p:cNvPr id="66" name="AutoShape 66"/>
          <p:cNvSpPr/>
          <p:nvPr/>
        </p:nvSpPr>
        <p:spPr>
          <a:xfrm>
            <a:off x="14611350" y="4517422"/>
            <a:ext cx="9525" cy="624745"/>
          </a:xfrm>
          <a:prstGeom prst="rect">
            <a:avLst/>
          </a:prstGeom>
          <a:solidFill>
            <a:srgbClr val="FFFFFF">
              <a:alpha val="15686"/>
            </a:srgbClr>
          </a:solidFill>
        </p:spPr>
        <p:txBody>
          <a:bodyPr/>
          <a:lstStyle/>
          <a:p>
            <a:endParaRPr lang="ko-KR" altLang="en-US"/>
          </a:p>
        </p:txBody>
      </p:sp>
      <p:sp>
        <p:nvSpPr>
          <p:cNvPr id="67" name="AutoShape 67"/>
          <p:cNvSpPr/>
          <p:nvPr/>
        </p:nvSpPr>
        <p:spPr>
          <a:xfrm>
            <a:off x="9572625" y="5142166"/>
            <a:ext cx="5048250" cy="9525"/>
          </a:xfrm>
          <a:prstGeom prst="rect">
            <a:avLst/>
          </a:prstGeom>
          <a:solidFill>
            <a:srgbClr val="FFFFFF">
              <a:alpha val="15686"/>
            </a:srgbClr>
          </a:solidFill>
        </p:spPr>
        <p:txBody>
          <a:bodyPr/>
          <a:lstStyle/>
          <a:p>
            <a:endParaRPr lang="ko-KR" altLang="en-US"/>
          </a:p>
        </p:txBody>
      </p:sp>
      <p:sp>
        <p:nvSpPr>
          <p:cNvPr id="68" name="AutoShape 68"/>
          <p:cNvSpPr/>
          <p:nvPr/>
        </p:nvSpPr>
        <p:spPr>
          <a:xfrm>
            <a:off x="9572625" y="4517422"/>
            <a:ext cx="9525" cy="624745"/>
          </a:xfrm>
          <a:prstGeom prst="rect">
            <a:avLst/>
          </a:prstGeom>
          <a:solidFill>
            <a:srgbClr val="FFFFFF">
              <a:alpha val="15686"/>
            </a:srgbClr>
          </a:solidFill>
        </p:spPr>
        <p:txBody>
          <a:bodyPr/>
          <a:lstStyle/>
          <a:p>
            <a:endParaRPr lang="ko-KR" altLang="en-US"/>
          </a:p>
        </p:txBody>
      </p:sp>
      <p:sp>
        <p:nvSpPr>
          <p:cNvPr id="69" name="TextBox 69"/>
          <p:cNvSpPr txBox="1"/>
          <p:nvPr/>
        </p:nvSpPr>
        <p:spPr>
          <a:xfrm>
            <a:off x="9734550" y="4612672"/>
            <a:ext cx="4724400" cy="180975"/>
          </a:xfrm>
          <a:prstGeom prst="rect">
            <a:avLst/>
          </a:prstGeom>
        </p:spPr>
        <p:txBody>
          <a:bodyPr lIns="0" tIns="0" rIns="0" bIns="0" rtlCol="0" anchor="t">
            <a:spAutoFit/>
          </a:bodyPr>
          <a:lstStyle/>
          <a:p>
            <a:pPr algn="l">
              <a:lnSpc>
                <a:spcPts val="1364"/>
              </a:lnSpc>
            </a:pPr>
            <a:r>
              <a:rPr lang="en-US" sz="975" spc="60">
                <a:solidFill>
                  <a:srgbClr val="6B7099"/>
                </a:solidFill>
                <a:latin typeface="IBM Plex Mono"/>
                <a:ea typeface="IBM Plex Mono"/>
                <a:cs typeface="IBM Plex Mono"/>
                <a:sym typeface="IBM Plex Mono"/>
              </a:rPr>
              <a:t>VOICE + FINGERTIP PPG</a:t>
            </a:r>
          </a:p>
        </p:txBody>
      </p:sp>
      <p:sp>
        <p:nvSpPr>
          <p:cNvPr id="70" name="TextBox 70"/>
          <p:cNvSpPr txBox="1"/>
          <p:nvPr/>
        </p:nvSpPr>
        <p:spPr>
          <a:xfrm>
            <a:off x="9734550" y="4812697"/>
            <a:ext cx="4724400" cy="205184"/>
          </a:xfrm>
          <a:prstGeom prst="rect">
            <a:avLst/>
          </a:prstGeom>
        </p:spPr>
        <p:txBody>
          <a:bodyPr lIns="0" tIns="0" rIns="0" bIns="0" rtlCol="0" anchor="t">
            <a:spAutoFit/>
          </a:bodyPr>
          <a:lstStyle/>
          <a:p>
            <a:pPr>
              <a:lnSpc>
                <a:spcPts val="1620"/>
              </a:lnSpc>
            </a:pPr>
            <a:r>
              <a:rPr lang="en-US" altLang="ko-KR" sz="1350" b="1">
                <a:solidFill>
                  <a:srgbClr val="EEF0FF"/>
                </a:solidFill>
                <a:latin typeface="IBM Plex Sans Medium"/>
                <a:ea typeface="IBM Plex Sans Medium"/>
                <a:cs typeface="IBM Plex Sans Medium"/>
                <a:sym typeface="IBM Plex Sans Medium"/>
              </a:rPr>
              <a:t>Voice Mel spectrogram</a:t>
            </a:r>
            <a:r>
              <a:rPr lang="en-US" sz="1350" b="1">
                <a:solidFill>
                  <a:srgbClr val="EEF0FF"/>
                </a:solidFill>
                <a:latin typeface="IBM Plex Sans Medium"/>
                <a:ea typeface="IBM Plex Sans Medium"/>
                <a:cs typeface="IBM Plex Sans Medium"/>
                <a:sym typeface="IBM Plex Sans Medium"/>
              </a:rPr>
              <a:t> + PPG pulse → CNN / 1-D</a:t>
            </a:r>
          </a:p>
        </p:txBody>
      </p:sp>
      <p:grpSp>
        <p:nvGrpSpPr>
          <p:cNvPr id="71" name="Group 71"/>
          <p:cNvGrpSpPr/>
          <p:nvPr/>
        </p:nvGrpSpPr>
        <p:grpSpPr>
          <a:xfrm>
            <a:off x="15097125" y="4507897"/>
            <a:ext cx="1866900" cy="643795"/>
            <a:chOff x="0" y="0"/>
            <a:chExt cx="2489200" cy="858393"/>
          </a:xfrm>
        </p:grpSpPr>
        <p:sp>
          <p:nvSpPr>
            <p:cNvPr id="72" name="Freeform 72"/>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sp>
          <p:nvSpPr>
            <p:cNvPr id="73" name="Freeform 73"/>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sp>
        <p:nvSpPr>
          <p:cNvPr id="74" name="TextBox 74"/>
          <p:cNvSpPr txBox="1"/>
          <p:nvPr/>
        </p:nvSpPr>
        <p:spPr>
          <a:xfrm>
            <a:off x="15259050" y="4612672"/>
            <a:ext cx="1543050" cy="180975"/>
          </a:xfrm>
          <a:prstGeom prst="rect">
            <a:avLst/>
          </a:prstGeom>
        </p:spPr>
        <p:txBody>
          <a:bodyPr lIns="0" tIns="0" rIns="0" bIns="0" rtlCol="0" anchor="t">
            <a:spAutoFit/>
          </a:bodyPr>
          <a:lstStyle/>
          <a:p>
            <a:pPr algn="l">
              <a:lnSpc>
                <a:spcPts val="1364"/>
              </a:lnSpc>
            </a:pPr>
            <a:r>
              <a:rPr lang="en-US" sz="975" spc="60">
                <a:solidFill>
                  <a:srgbClr val="9AA0FF"/>
                </a:solidFill>
                <a:latin typeface="IBM Plex Mono"/>
                <a:ea typeface="IBM Plex Mono"/>
                <a:cs typeface="IBM Plex Mono"/>
                <a:sym typeface="IBM Plex Mono"/>
              </a:rPr>
              <a:t>EMOTION HEAD</a:t>
            </a:r>
          </a:p>
        </p:txBody>
      </p:sp>
      <p:sp>
        <p:nvSpPr>
          <p:cNvPr id="75" name="TextBox 75"/>
          <p:cNvSpPr txBox="1"/>
          <p:nvPr/>
        </p:nvSpPr>
        <p:spPr>
          <a:xfrm>
            <a:off x="15259050" y="4812697"/>
            <a:ext cx="1543050" cy="215170"/>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8-class</a:t>
            </a:r>
          </a:p>
        </p:txBody>
      </p:sp>
      <p:grpSp>
        <p:nvGrpSpPr>
          <p:cNvPr id="76" name="Group 76"/>
          <p:cNvGrpSpPr/>
          <p:nvPr/>
        </p:nvGrpSpPr>
        <p:grpSpPr>
          <a:xfrm>
            <a:off x="9572625" y="5265992"/>
            <a:ext cx="5048250" cy="643795"/>
            <a:chOff x="0" y="0"/>
            <a:chExt cx="6731000" cy="858393"/>
          </a:xfrm>
        </p:grpSpPr>
        <p:sp>
          <p:nvSpPr>
            <p:cNvPr id="77" name="Freeform 77"/>
            <p:cNvSpPr/>
            <p:nvPr/>
          </p:nvSpPr>
          <p:spPr>
            <a:xfrm>
              <a:off x="0" y="0"/>
              <a:ext cx="6731000" cy="858393"/>
            </a:xfrm>
            <a:custGeom>
              <a:avLst/>
              <a:gdLst/>
              <a:ahLst/>
              <a:cxnLst/>
              <a:rect l="l" t="t" r="r" b="b"/>
              <a:pathLst>
                <a:path w="6731000" h="858393">
                  <a:moveTo>
                    <a:pt x="165100" y="0"/>
                  </a:moveTo>
                  <a:lnTo>
                    <a:pt x="6565900" y="0"/>
                  </a:lnTo>
                  <a:cubicBezTo>
                    <a:pt x="6657086" y="0"/>
                    <a:pt x="6731000" y="73914"/>
                    <a:pt x="6731000" y="165100"/>
                  </a:cubicBezTo>
                  <a:lnTo>
                    <a:pt x="6731000" y="693293"/>
                  </a:lnTo>
                  <a:cubicBezTo>
                    <a:pt x="6731000" y="784479"/>
                    <a:pt x="6657086" y="858393"/>
                    <a:pt x="65659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grpSp>
      <p:sp>
        <p:nvSpPr>
          <p:cNvPr id="78" name="AutoShape 78"/>
          <p:cNvSpPr/>
          <p:nvPr/>
        </p:nvSpPr>
        <p:spPr>
          <a:xfrm>
            <a:off x="9572625" y="5265992"/>
            <a:ext cx="5048250" cy="9525"/>
          </a:xfrm>
          <a:prstGeom prst="rect">
            <a:avLst/>
          </a:prstGeom>
          <a:solidFill>
            <a:srgbClr val="FFFFFF">
              <a:alpha val="15686"/>
            </a:srgbClr>
          </a:solidFill>
        </p:spPr>
        <p:txBody>
          <a:bodyPr/>
          <a:lstStyle/>
          <a:p>
            <a:endParaRPr lang="ko-KR" altLang="en-US"/>
          </a:p>
        </p:txBody>
      </p:sp>
      <p:sp>
        <p:nvSpPr>
          <p:cNvPr id="79" name="AutoShape 79"/>
          <p:cNvSpPr/>
          <p:nvPr/>
        </p:nvSpPr>
        <p:spPr>
          <a:xfrm>
            <a:off x="14611350" y="5275516"/>
            <a:ext cx="9525" cy="624745"/>
          </a:xfrm>
          <a:prstGeom prst="rect">
            <a:avLst/>
          </a:prstGeom>
          <a:solidFill>
            <a:srgbClr val="FFFFFF">
              <a:alpha val="15686"/>
            </a:srgbClr>
          </a:solidFill>
        </p:spPr>
        <p:txBody>
          <a:bodyPr/>
          <a:lstStyle/>
          <a:p>
            <a:endParaRPr lang="ko-KR" altLang="en-US"/>
          </a:p>
        </p:txBody>
      </p:sp>
      <p:sp>
        <p:nvSpPr>
          <p:cNvPr id="80" name="AutoShape 80"/>
          <p:cNvSpPr/>
          <p:nvPr/>
        </p:nvSpPr>
        <p:spPr>
          <a:xfrm>
            <a:off x="9572625" y="5900261"/>
            <a:ext cx="5048250" cy="9525"/>
          </a:xfrm>
          <a:prstGeom prst="rect">
            <a:avLst/>
          </a:prstGeom>
          <a:solidFill>
            <a:srgbClr val="FFFFFF">
              <a:alpha val="15686"/>
            </a:srgbClr>
          </a:solidFill>
        </p:spPr>
        <p:txBody>
          <a:bodyPr/>
          <a:lstStyle/>
          <a:p>
            <a:endParaRPr lang="ko-KR" altLang="en-US"/>
          </a:p>
        </p:txBody>
      </p:sp>
      <p:sp>
        <p:nvSpPr>
          <p:cNvPr id="81" name="AutoShape 81"/>
          <p:cNvSpPr/>
          <p:nvPr/>
        </p:nvSpPr>
        <p:spPr>
          <a:xfrm>
            <a:off x="9572625" y="5275516"/>
            <a:ext cx="9525" cy="624745"/>
          </a:xfrm>
          <a:prstGeom prst="rect">
            <a:avLst/>
          </a:prstGeom>
          <a:solidFill>
            <a:srgbClr val="FFFFFF">
              <a:alpha val="15686"/>
            </a:srgbClr>
          </a:solidFill>
        </p:spPr>
        <p:txBody>
          <a:bodyPr/>
          <a:lstStyle/>
          <a:p>
            <a:endParaRPr lang="ko-KR" altLang="en-US"/>
          </a:p>
        </p:txBody>
      </p:sp>
      <p:sp>
        <p:nvSpPr>
          <p:cNvPr id="82" name="TextBox 82"/>
          <p:cNvSpPr txBox="1"/>
          <p:nvPr/>
        </p:nvSpPr>
        <p:spPr>
          <a:xfrm>
            <a:off x="9734550" y="5370766"/>
            <a:ext cx="4724400" cy="180975"/>
          </a:xfrm>
          <a:prstGeom prst="rect">
            <a:avLst/>
          </a:prstGeom>
        </p:spPr>
        <p:txBody>
          <a:bodyPr lIns="0" tIns="0" rIns="0" bIns="0" rtlCol="0" anchor="t">
            <a:spAutoFit/>
          </a:bodyPr>
          <a:lstStyle/>
          <a:p>
            <a:pPr algn="l">
              <a:lnSpc>
                <a:spcPts val="1364"/>
              </a:lnSpc>
            </a:pPr>
            <a:r>
              <a:rPr lang="en-US" sz="975" spc="60">
                <a:solidFill>
                  <a:srgbClr val="6B7099"/>
                </a:solidFill>
                <a:latin typeface="IBM Plex Mono"/>
                <a:ea typeface="IBM Plex Mono"/>
                <a:cs typeface="IBM Plex Mono"/>
                <a:sym typeface="IBM Plex Mono"/>
              </a:rPr>
              <a:t>VOICE + FINGERTIP PPG</a:t>
            </a:r>
          </a:p>
        </p:txBody>
      </p:sp>
      <p:sp>
        <p:nvSpPr>
          <p:cNvPr id="83" name="TextBox 83"/>
          <p:cNvSpPr txBox="1"/>
          <p:nvPr/>
        </p:nvSpPr>
        <p:spPr>
          <a:xfrm>
            <a:off x="9734550" y="5570791"/>
            <a:ext cx="4724400" cy="205184"/>
          </a:xfrm>
          <a:prstGeom prst="rect">
            <a:avLst/>
          </a:prstGeom>
        </p:spPr>
        <p:txBody>
          <a:bodyPr lIns="0" tIns="0" rIns="0" bIns="0" rtlCol="0" anchor="t">
            <a:spAutoFit/>
          </a:bodyPr>
          <a:lstStyle/>
          <a:p>
            <a:pPr>
              <a:lnSpc>
                <a:spcPts val="1620"/>
              </a:lnSpc>
            </a:pPr>
            <a:r>
              <a:rPr lang="en-US" altLang="ko-KR" sz="1350" b="1">
                <a:solidFill>
                  <a:srgbClr val="EEF0FF"/>
                </a:solidFill>
                <a:latin typeface="IBM Plex Sans Medium"/>
                <a:ea typeface="IBM Plex Sans Medium"/>
                <a:cs typeface="IBM Plex Sans Medium"/>
                <a:sym typeface="IBM Plex Sans Medium"/>
              </a:rPr>
              <a:t>Voice Mel spectrogram </a:t>
            </a:r>
            <a:r>
              <a:rPr lang="en-US" sz="1350" b="1">
                <a:solidFill>
                  <a:srgbClr val="EEF0FF"/>
                </a:solidFill>
                <a:latin typeface="IBM Plex Sans Medium"/>
                <a:ea typeface="IBM Plex Sans Medium"/>
                <a:cs typeface="IBM Plex Sans Medium"/>
                <a:sym typeface="IBM Plex Sans Medium"/>
              </a:rPr>
              <a:t>+ PPG pulse → CNN / 1-D</a:t>
            </a:r>
          </a:p>
        </p:txBody>
      </p:sp>
      <p:grpSp>
        <p:nvGrpSpPr>
          <p:cNvPr id="84" name="Group 84"/>
          <p:cNvGrpSpPr/>
          <p:nvPr/>
        </p:nvGrpSpPr>
        <p:grpSpPr>
          <a:xfrm>
            <a:off x="15097125" y="5265992"/>
            <a:ext cx="1866900" cy="643795"/>
            <a:chOff x="0" y="0"/>
            <a:chExt cx="2489200" cy="858393"/>
          </a:xfrm>
        </p:grpSpPr>
        <p:sp>
          <p:nvSpPr>
            <p:cNvPr id="85" name="Freeform 85"/>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1E2347"/>
            </a:solidFill>
          </p:spPr>
          <p:txBody>
            <a:bodyPr/>
            <a:lstStyle/>
            <a:p>
              <a:endParaRPr lang="ko-KR" altLang="en-US"/>
            </a:p>
          </p:txBody>
        </p:sp>
        <p:sp>
          <p:nvSpPr>
            <p:cNvPr id="86" name="Freeform 86"/>
            <p:cNvSpPr/>
            <p:nvPr/>
          </p:nvSpPr>
          <p:spPr>
            <a:xfrm>
              <a:off x="0" y="0"/>
              <a:ext cx="2489200" cy="858393"/>
            </a:xfrm>
            <a:custGeom>
              <a:avLst/>
              <a:gdLst/>
              <a:ahLst/>
              <a:cxnLst/>
              <a:rect l="l" t="t" r="r" b="b"/>
              <a:pathLst>
                <a:path w="2489200" h="858393">
                  <a:moveTo>
                    <a:pt x="165100" y="0"/>
                  </a:moveTo>
                  <a:lnTo>
                    <a:pt x="2324100" y="0"/>
                  </a:lnTo>
                  <a:cubicBezTo>
                    <a:pt x="2415286" y="0"/>
                    <a:pt x="2489200" y="73914"/>
                    <a:pt x="2489200" y="165100"/>
                  </a:cubicBezTo>
                  <a:lnTo>
                    <a:pt x="2489200" y="693293"/>
                  </a:lnTo>
                  <a:cubicBezTo>
                    <a:pt x="2489200" y="784479"/>
                    <a:pt x="2415286" y="858393"/>
                    <a:pt x="2324100" y="858393"/>
                  </a:cubicBezTo>
                  <a:lnTo>
                    <a:pt x="165100" y="858393"/>
                  </a:lnTo>
                  <a:cubicBezTo>
                    <a:pt x="73914" y="858393"/>
                    <a:pt x="0" y="784479"/>
                    <a:pt x="0" y="693293"/>
                  </a:cubicBezTo>
                  <a:lnTo>
                    <a:pt x="0" y="165100"/>
                  </a:lnTo>
                  <a:cubicBezTo>
                    <a:pt x="0" y="73914"/>
                    <a:pt x="73914" y="0"/>
                    <a:pt x="165100" y="0"/>
                  </a:cubicBezTo>
                  <a:close/>
                </a:path>
              </a:pathLst>
            </a:custGeom>
            <a:solidFill>
              <a:srgbClr val="000000">
                <a:alpha val="0"/>
              </a:srgbClr>
            </a:solidFill>
            <a:ln w="9525" cap="sq">
              <a:solidFill>
                <a:srgbClr val="FF6B6B"/>
              </a:solidFill>
              <a:prstDash val="solid"/>
              <a:miter/>
            </a:ln>
          </p:spPr>
          <p:txBody>
            <a:bodyPr/>
            <a:lstStyle/>
            <a:p>
              <a:endParaRPr lang="ko-KR" altLang="en-US"/>
            </a:p>
          </p:txBody>
        </p:sp>
      </p:grpSp>
      <p:sp>
        <p:nvSpPr>
          <p:cNvPr id="87" name="TextBox 87"/>
          <p:cNvSpPr txBox="1"/>
          <p:nvPr/>
        </p:nvSpPr>
        <p:spPr>
          <a:xfrm>
            <a:off x="15259050" y="5370766"/>
            <a:ext cx="1543050" cy="180975"/>
          </a:xfrm>
          <a:prstGeom prst="rect">
            <a:avLst/>
          </a:prstGeom>
        </p:spPr>
        <p:txBody>
          <a:bodyPr lIns="0" tIns="0" rIns="0" bIns="0" rtlCol="0" anchor="t">
            <a:spAutoFit/>
          </a:bodyPr>
          <a:lstStyle/>
          <a:p>
            <a:pPr algn="l">
              <a:lnSpc>
                <a:spcPts val="1364"/>
              </a:lnSpc>
            </a:pPr>
            <a:r>
              <a:rPr lang="en-US" sz="975" spc="60">
                <a:solidFill>
                  <a:srgbClr val="FF6B6B"/>
                </a:solidFill>
                <a:latin typeface="IBM Plex Mono"/>
                <a:ea typeface="IBM Plex Mono"/>
                <a:cs typeface="IBM Plex Mono"/>
                <a:sym typeface="IBM Plex Mono"/>
              </a:rPr>
              <a:t>VERACITY HEAD</a:t>
            </a:r>
          </a:p>
        </p:txBody>
      </p:sp>
      <p:sp>
        <p:nvSpPr>
          <p:cNvPr id="88" name="TextBox 88"/>
          <p:cNvSpPr txBox="1"/>
          <p:nvPr/>
        </p:nvSpPr>
        <p:spPr>
          <a:xfrm>
            <a:off x="15259050" y="5570791"/>
            <a:ext cx="1543050" cy="215170"/>
          </a:xfrm>
          <a:prstGeom prst="rect">
            <a:avLst/>
          </a:prstGeom>
        </p:spPr>
        <p:txBody>
          <a:bodyPr lIns="0" tIns="0" rIns="0" bIns="0" rtlCol="0" anchor="t">
            <a:spAutoFit/>
          </a:bodyPr>
          <a:lstStyle/>
          <a:p>
            <a:pPr algn="l">
              <a:lnSpc>
                <a:spcPts val="1620"/>
              </a:lnSpc>
            </a:pPr>
            <a:r>
              <a:rPr lang="en-US" sz="1350" b="1">
                <a:solidFill>
                  <a:srgbClr val="EEF0FF"/>
                </a:solidFill>
                <a:latin typeface="IBM Plex Sans Medium"/>
                <a:ea typeface="IBM Plex Sans Medium"/>
                <a:cs typeface="IBM Plex Sans Medium"/>
                <a:sym typeface="IBM Plex Sans Medium"/>
              </a:rPr>
              <a:t>genuine / fake</a:t>
            </a:r>
          </a:p>
        </p:txBody>
      </p:sp>
      <p:sp>
        <p:nvSpPr>
          <p:cNvPr id="89" name="TextBox 89"/>
          <p:cNvSpPr txBox="1"/>
          <p:nvPr/>
        </p:nvSpPr>
        <p:spPr>
          <a:xfrm>
            <a:off x="9572625" y="6867239"/>
            <a:ext cx="7391400" cy="418338"/>
          </a:xfrm>
          <a:prstGeom prst="rect">
            <a:avLst/>
          </a:prstGeom>
        </p:spPr>
        <p:txBody>
          <a:bodyPr lIns="0" tIns="0" rIns="0" bIns="0" rtlCol="0" anchor="t">
            <a:spAutoFit/>
          </a:bodyPr>
          <a:lstStyle/>
          <a:p>
            <a:pPr algn="l">
              <a:lnSpc>
                <a:spcPts val="1794"/>
              </a:lnSpc>
            </a:pPr>
            <a:r>
              <a:rPr lang="en-US" sz="1237">
                <a:solidFill>
                  <a:srgbClr val="A6ABCE"/>
                </a:solidFill>
                <a:latin typeface="IBM Plex Sans"/>
                <a:ea typeface="IBM Plex Sans"/>
                <a:cs typeface="IBM Plex Sans"/>
                <a:sym typeface="IBM Plex Sans"/>
              </a:rPr>
              <a:t>App outputs a </a:t>
            </a:r>
            <a:r>
              <a:rPr lang="en-US" sz="1237" b="1">
                <a:solidFill>
                  <a:srgbClr val="EEF0FF"/>
                </a:solidFill>
                <a:latin typeface="IBM Plex Sans Medium"/>
                <a:ea typeface="IBM Plex Sans Medium"/>
                <a:cs typeface="IBM Plex Sans Medium"/>
                <a:sym typeface="IBM Plex Sans Medium"/>
              </a:rPr>
              <a:t>continuous genuine / fake read</a:t>
            </a:r>
            <a:r>
              <a:rPr lang="en-US" sz="1237">
                <a:solidFill>
                  <a:srgbClr val="A6ABCE"/>
                </a:solidFill>
                <a:latin typeface="IBM Plex Sans"/>
                <a:ea typeface="IBM Plex Sans"/>
                <a:cs typeface="IBM Plex Sans"/>
                <a:sym typeface="IBM Plex Sans"/>
              </a:rPr>
              <a:t> plus the dominant emotion.</a:t>
            </a:r>
          </a:p>
        </p:txBody>
      </p:sp>
      <p:sp>
        <p:nvSpPr>
          <p:cNvPr id="90" name="AutoShape 90"/>
          <p:cNvSpPr/>
          <p:nvPr/>
        </p:nvSpPr>
        <p:spPr>
          <a:xfrm>
            <a:off x="1478280" y="885825"/>
            <a:ext cx="438150" cy="19050"/>
          </a:xfrm>
          <a:prstGeom prst="rect">
            <a:avLst/>
          </a:prstGeom>
          <a:solidFill>
            <a:srgbClr val="7C83FF">
              <a:alpha val="69804"/>
            </a:srgbClr>
          </a:solidFill>
        </p:spPr>
        <p:txBody>
          <a:bodyPr/>
          <a:lstStyle/>
          <a:p>
            <a:endParaRPr lang="ko-KR" altLang="en-US"/>
          </a:p>
        </p:txBody>
      </p:sp>
      <p:sp>
        <p:nvSpPr>
          <p:cNvPr id="91" name="TextBox 91"/>
          <p:cNvSpPr txBox="1"/>
          <p:nvPr/>
        </p:nvSpPr>
        <p:spPr>
          <a:xfrm>
            <a:off x="6486525" y="4469797"/>
            <a:ext cx="247650" cy="681895"/>
          </a:xfrm>
          <a:prstGeom prst="rect">
            <a:avLst/>
          </a:prstGeom>
        </p:spPr>
        <p:txBody>
          <a:bodyPr lIns="0" tIns="0" rIns="0" bIns="0" rtlCol="0" anchor="t">
            <a:spAutoFit/>
          </a:bodyPr>
          <a:lstStyle/>
          <a:p>
            <a:pPr algn="l">
              <a:lnSpc>
                <a:spcPts val="2729"/>
              </a:lnSpc>
            </a:pPr>
            <a:r>
              <a:rPr lang="en-US" sz="1950">
                <a:solidFill>
                  <a:srgbClr val="9AA0FF">
                    <a:alpha val="69804"/>
                  </a:srgbClr>
                </a:solidFill>
                <a:latin typeface="IBM Plex Mono"/>
                <a:ea typeface="IBM Plex Mono"/>
                <a:cs typeface="IBM Plex Mono"/>
                <a:sym typeface="IBM Plex Mono"/>
              </a:rPr>
              <a:t>→</a:t>
            </a:r>
          </a:p>
        </p:txBody>
      </p:sp>
      <p:sp>
        <p:nvSpPr>
          <p:cNvPr id="92" name="TextBox 92"/>
          <p:cNvSpPr txBox="1"/>
          <p:nvPr/>
        </p:nvSpPr>
        <p:spPr>
          <a:xfrm>
            <a:off x="6486525" y="5227892"/>
            <a:ext cx="247650" cy="681895"/>
          </a:xfrm>
          <a:prstGeom prst="rect">
            <a:avLst/>
          </a:prstGeom>
        </p:spPr>
        <p:txBody>
          <a:bodyPr lIns="0" tIns="0" rIns="0" bIns="0" rtlCol="0" anchor="t">
            <a:spAutoFit/>
          </a:bodyPr>
          <a:lstStyle/>
          <a:p>
            <a:pPr algn="l">
              <a:lnSpc>
                <a:spcPts val="2729"/>
              </a:lnSpc>
            </a:pPr>
            <a:r>
              <a:rPr lang="en-US" sz="1950">
                <a:solidFill>
                  <a:srgbClr val="9AA0FF">
                    <a:alpha val="69804"/>
                  </a:srgbClr>
                </a:solidFill>
                <a:latin typeface="IBM Plex Mono"/>
                <a:ea typeface="IBM Plex Mono"/>
                <a:cs typeface="IBM Plex Mono"/>
                <a:sym typeface="IBM Plex Mono"/>
              </a:rPr>
              <a:t>→</a:t>
            </a:r>
          </a:p>
        </p:txBody>
      </p:sp>
      <p:sp>
        <p:nvSpPr>
          <p:cNvPr id="93" name="TextBox 93"/>
          <p:cNvSpPr txBox="1"/>
          <p:nvPr/>
        </p:nvSpPr>
        <p:spPr>
          <a:xfrm>
            <a:off x="6486525" y="5985986"/>
            <a:ext cx="247650" cy="681895"/>
          </a:xfrm>
          <a:prstGeom prst="rect">
            <a:avLst/>
          </a:prstGeom>
        </p:spPr>
        <p:txBody>
          <a:bodyPr lIns="0" tIns="0" rIns="0" bIns="0" rtlCol="0" anchor="t">
            <a:spAutoFit/>
          </a:bodyPr>
          <a:lstStyle/>
          <a:p>
            <a:pPr algn="l">
              <a:lnSpc>
                <a:spcPts val="2729"/>
              </a:lnSpc>
            </a:pPr>
            <a:r>
              <a:rPr lang="en-US" sz="1950">
                <a:solidFill>
                  <a:srgbClr val="9AA0FF">
                    <a:alpha val="69804"/>
                  </a:srgbClr>
                </a:solidFill>
                <a:latin typeface="IBM Plex Mono"/>
                <a:ea typeface="IBM Plex Mono"/>
                <a:cs typeface="IBM Plex Mono"/>
                <a:sym typeface="IBM Plex Mono"/>
              </a:rPr>
              <a:t>→</a:t>
            </a:r>
          </a:p>
        </p:txBody>
      </p:sp>
      <p:sp>
        <p:nvSpPr>
          <p:cNvPr id="94" name="TextBox 94"/>
          <p:cNvSpPr txBox="1"/>
          <p:nvPr/>
        </p:nvSpPr>
        <p:spPr>
          <a:xfrm>
            <a:off x="14735175" y="4469797"/>
            <a:ext cx="247650" cy="681895"/>
          </a:xfrm>
          <a:prstGeom prst="rect">
            <a:avLst/>
          </a:prstGeom>
        </p:spPr>
        <p:txBody>
          <a:bodyPr lIns="0" tIns="0" rIns="0" bIns="0" rtlCol="0" anchor="t">
            <a:spAutoFit/>
          </a:bodyPr>
          <a:lstStyle/>
          <a:p>
            <a:pPr algn="l">
              <a:lnSpc>
                <a:spcPts val="2729"/>
              </a:lnSpc>
            </a:pPr>
            <a:r>
              <a:rPr lang="en-US" sz="1950">
                <a:solidFill>
                  <a:srgbClr val="9AA0FF">
                    <a:alpha val="69804"/>
                  </a:srgbClr>
                </a:solidFill>
                <a:latin typeface="IBM Plex Mono"/>
                <a:ea typeface="IBM Plex Mono"/>
                <a:cs typeface="IBM Plex Mono"/>
                <a:sym typeface="IBM Plex Mono"/>
              </a:rPr>
              <a:t>→</a:t>
            </a:r>
          </a:p>
        </p:txBody>
      </p:sp>
      <p:sp>
        <p:nvSpPr>
          <p:cNvPr id="95" name="TextBox 95"/>
          <p:cNvSpPr txBox="1"/>
          <p:nvPr/>
        </p:nvSpPr>
        <p:spPr>
          <a:xfrm>
            <a:off x="14735175" y="5227892"/>
            <a:ext cx="247650" cy="681895"/>
          </a:xfrm>
          <a:prstGeom prst="rect">
            <a:avLst/>
          </a:prstGeom>
        </p:spPr>
        <p:txBody>
          <a:bodyPr lIns="0" tIns="0" rIns="0" bIns="0" rtlCol="0" anchor="t">
            <a:spAutoFit/>
          </a:bodyPr>
          <a:lstStyle/>
          <a:p>
            <a:pPr algn="l">
              <a:lnSpc>
                <a:spcPts val="2729"/>
              </a:lnSpc>
            </a:pPr>
            <a:r>
              <a:rPr lang="en-US" sz="1950">
                <a:solidFill>
                  <a:srgbClr val="9AA0FF">
                    <a:alpha val="69804"/>
                  </a:srgbClr>
                </a:solidFill>
                <a:latin typeface="IBM Plex Mono"/>
                <a:ea typeface="IBM Plex Mono"/>
                <a:cs typeface="IBM Plex Mono"/>
                <a:sym typeface="IBM Plex Mono"/>
              </a:rPr>
              <a:t>→</a:t>
            </a:r>
          </a:p>
        </p:txBody>
      </p:sp>
      <p:sp>
        <p:nvSpPr>
          <p:cNvPr id="99" name="TextBox 99"/>
          <p:cNvSpPr txBox="1"/>
          <p:nvPr/>
        </p:nvSpPr>
        <p:spPr>
          <a:xfrm>
            <a:off x="16939165" y="9563099"/>
            <a:ext cx="30108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3000" y="885825"/>
            <a:ext cx="43053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04</a:t>
            </a:r>
          </a:p>
        </p:txBody>
      </p:sp>
      <p:sp>
        <p:nvSpPr>
          <p:cNvPr id="4" name="TextBox 4"/>
          <p:cNvSpPr txBox="1"/>
          <p:nvPr/>
        </p:nvSpPr>
        <p:spPr>
          <a:xfrm>
            <a:off x="2145030" y="885825"/>
            <a:ext cx="356997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KEY IDEA · APPLICATION</a:t>
            </a:r>
          </a:p>
        </p:txBody>
      </p:sp>
      <p:sp>
        <p:nvSpPr>
          <p:cNvPr id="5" name="TextBox 5"/>
          <p:cNvSpPr txBox="1"/>
          <p:nvPr/>
        </p:nvSpPr>
        <p:spPr>
          <a:xfrm>
            <a:off x="1143000" y="1447800"/>
            <a:ext cx="7366025" cy="558546"/>
          </a:xfrm>
          <a:prstGeom prst="rect">
            <a:avLst/>
          </a:prstGeom>
        </p:spPr>
        <p:txBody>
          <a:bodyPr lIns="0" tIns="0" rIns="0" bIns="0" rtlCol="0" anchor="t">
            <a:spAutoFit/>
          </a:bodyPr>
          <a:lstStyle/>
          <a:p>
            <a:pPr algn="l">
              <a:lnSpc>
                <a:spcPts val="4212"/>
              </a:lnSpc>
            </a:pPr>
            <a:r>
              <a:rPr lang="en-US" sz="4050" b="1" spc="-121">
                <a:solidFill>
                  <a:srgbClr val="EEF0FF"/>
                </a:solidFill>
                <a:latin typeface="IBM Plex Sans Bold"/>
                <a:ea typeface="IBM Plex Sans Bold"/>
                <a:cs typeface="IBM Plex Sans Bold"/>
                <a:sym typeface="IBM Plex Sans Bold"/>
              </a:rPr>
              <a:t>Voice, face, and a fingertip pulse</a:t>
            </a:r>
          </a:p>
        </p:txBody>
      </p:sp>
      <p:grpSp>
        <p:nvGrpSpPr>
          <p:cNvPr id="6" name="Group 6"/>
          <p:cNvGrpSpPr/>
          <p:nvPr/>
        </p:nvGrpSpPr>
        <p:grpSpPr>
          <a:xfrm>
            <a:off x="1143000" y="2382774"/>
            <a:ext cx="5156168" cy="5942076"/>
            <a:chOff x="0" y="0"/>
            <a:chExt cx="6874891" cy="7922768"/>
          </a:xfrm>
        </p:grpSpPr>
        <p:sp>
          <p:nvSpPr>
            <p:cNvPr id="7" name="Freeform 7"/>
            <p:cNvSpPr/>
            <p:nvPr/>
          </p:nvSpPr>
          <p:spPr>
            <a:xfrm>
              <a:off x="0" y="0"/>
              <a:ext cx="6874891" cy="7922768"/>
            </a:xfrm>
            <a:custGeom>
              <a:avLst/>
              <a:gdLst/>
              <a:ahLst/>
              <a:cxnLst/>
              <a:rect l="l" t="t" r="r" b="b"/>
              <a:pathLst>
                <a:path w="6874891" h="7922768">
                  <a:moveTo>
                    <a:pt x="279400" y="0"/>
                  </a:moveTo>
                  <a:lnTo>
                    <a:pt x="6595491" y="0"/>
                  </a:lnTo>
                  <a:cubicBezTo>
                    <a:pt x="6749797" y="0"/>
                    <a:pt x="6874891" y="125095"/>
                    <a:pt x="6874891" y="279400"/>
                  </a:cubicBezTo>
                  <a:lnTo>
                    <a:pt x="6874891" y="7643368"/>
                  </a:lnTo>
                  <a:cubicBezTo>
                    <a:pt x="6874891" y="7797674"/>
                    <a:pt x="6749797" y="7922768"/>
                    <a:pt x="6595491" y="7922768"/>
                  </a:cubicBezTo>
                  <a:lnTo>
                    <a:pt x="279400" y="7922768"/>
                  </a:lnTo>
                  <a:cubicBezTo>
                    <a:pt x="125095" y="7922768"/>
                    <a:pt x="0" y="7797674"/>
                    <a:pt x="0" y="7643368"/>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8" name="AutoShape 8"/>
          <p:cNvSpPr/>
          <p:nvPr/>
        </p:nvSpPr>
        <p:spPr>
          <a:xfrm>
            <a:off x="1143000" y="2382774"/>
            <a:ext cx="5156168" cy="9525"/>
          </a:xfrm>
          <a:prstGeom prst="rect">
            <a:avLst/>
          </a:prstGeom>
          <a:solidFill>
            <a:srgbClr val="FFFFFF">
              <a:alpha val="7843"/>
            </a:srgbClr>
          </a:solidFill>
        </p:spPr>
        <p:txBody>
          <a:bodyPr/>
          <a:lstStyle/>
          <a:p>
            <a:endParaRPr lang="ko-KR" altLang="en-US"/>
          </a:p>
        </p:txBody>
      </p:sp>
      <p:sp>
        <p:nvSpPr>
          <p:cNvPr id="9" name="AutoShape 9"/>
          <p:cNvSpPr/>
          <p:nvPr/>
        </p:nvSpPr>
        <p:spPr>
          <a:xfrm>
            <a:off x="6289643" y="2392299"/>
            <a:ext cx="9525" cy="5923026"/>
          </a:xfrm>
          <a:prstGeom prst="rect">
            <a:avLst/>
          </a:prstGeom>
          <a:solidFill>
            <a:srgbClr val="FFFFFF">
              <a:alpha val="7843"/>
            </a:srgbClr>
          </a:solidFill>
        </p:spPr>
        <p:txBody>
          <a:bodyPr/>
          <a:lstStyle/>
          <a:p>
            <a:endParaRPr lang="ko-KR" altLang="en-US"/>
          </a:p>
        </p:txBody>
      </p:sp>
      <p:sp>
        <p:nvSpPr>
          <p:cNvPr id="10" name="AutoShape 10"/>
          <p:cNvSpPr/>
          <p:nvPr/>
        </p:nvSpPr>
        <p:spPr>
          <a:xfrm>
            <a:off x="1143000" y="8315325"/>
            <a:ext cx="5156168" cy="9525"/>
          </a:xfrm>
          <a:prstGeom prst="rect">
            <a:avLst/>
          </a:prstGeom>
          <a:solidFill>
            <a:srgbClr val="FFFFFF">
              <a:alpha val="7843"/>
            </a:srgbClr>
          </a:solidFill>
        </p:spPr>
        <p:txBody>
          <a:bodyPr/>
          <a:lstStyle/>
          <a:p>
            <a:endParaRPr lang="ko-KR" altLang="en-US"/>
          </a:p>
        </p:txBody>
      </p:sp>
      <p:sp>
        <p:nvSpPr>
          <p:cNvPr id="11" name="AutoShape 11"/>
          <p:cNvSpPr/>
          <p:nvPr/>
        </p:nvSpPr>
        <p:spPr>
          <a:xfrm>
            <a:off x="1143000" y="2392299"/>
            <a:ext cx="9525" cy="5923026"/>
          </a:xfrm>
          <a:prstGeom prst="rect">
            <a:avLst/>
          </a:prstGeom>
          <a:solidFill>
            <a:srgbClr val="FFFFFF">
              <a:alpha val="7843"/>
            </a:srgbClr>
          </a:solidFill>
        </p:spPr>
        <p:txBody>
          <a:bodyPr/>
          <a:lstStyle/>
          <a:p>
            <a:endParaRPr lang="ko-KR" altLang="en-US"/>
          </a:p>
        </p:txBody>
      </p:sp>
      <p:grpSp>
        <p:nvGrpSpPr>
          <p:cNvPr id="12" name="Group 12"/>
          <p:cNvGrpSpPr/>
          <p:nvPr/>
        </p:nvGrpSpPr>
        <p:grpSpPr>
          <a:xfrm>
            <a:off x="1476375" y="2716149"/>
            <a:ext cx="609600" cy="609600"/>
            <a:chOff x="0" y="0"/>
            <a:chExt cx="812800" cy="812800"/>
          </a:xfrm>
        </p:grpSpPr>
        <p:sp>
          <p:nvSpPr>
            <p:cNvPr id="13" name="Freeform 13"/>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7C83FF">
                <a:alpha val="1569"/>
              </a:srgbClr>
            </a:solidFill>
          </p:spPr>
          <p:txBody>
            <a:bodyPr/>
            <a:lstStyle/>
            <a:p>
              <a:endParaRPr lang="ko-KR" altLang="en-US"/>
            </a:p>
          </p:txBody>
        </p:sp>
      </p:grpSp>
      <p:sp>
        <p:nvSpPr>
          <p:cNvPr id="14" name="TextBox 14"/>
          <p:cNvSpPr txBox="1"/>
          <p:nvPr/>
        </p:nvSpPr>
        <p:spPr>
          <a:xfrm>
            <a:off x="1476375" y="3497199"/>
            <a:ext cx="4489418"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Voice</a:t>
            </a:r>
          </a:p>
        </p:txBody>
      </p:sp>
      <p:sp>
        <p:nvSpPr>
          <p:cNvPr id="15" name="TextBox 15"/>
          <p:cNvSpPr txBox="1"/>
          <p:nvPr/>
        </p:nvSpPr>
        <p:spPr>
          <a:xfrm>
            <a:off x="1476375" y="3963924"/>
            <a:ext cx="4813268" cy="1454468"/>
          </a:xfrm>
          <a:prstGeom prst="rect">
            <a:avLst/>
          </a:prstGeom>
        </p:spPr>
        <p:txBody>
          <a:bodyPr lIns="0" tIns="0" rIns="0" bIns="0" rtlCol="0" anchor="t">
            <a:spAutoFit/>
          </a:bodyPr>
          <a:lstStyle/>
          <a:p>
            <a:pPr algn="l">
              <a:lnSpc>
                <a:spcPts val="2362"/>
              </a:lnSpc>
            </a:pPr>
            <a:r>
              <a:rPr lang="en-US" sz="1575">
                <a:solidFill>
                  <a:srgbClr val="A6ABCE"/>
                </a:solidFill>
                <a:latin typeface="IBM Plex Sans"/>
                <a:ea typeface="IBM Plex Sans"/>
                <a:cs typeface="IBM Plex Sans"/>
                <a:sym typeface="IBM Plex Sans"/>
              </a:rPr>
              <a:t>Microphone captures prosody &amp; tremor </a:t>
            </a:r>
          </a:p>
          <a:p>
            <a:pPr algn="l">
              <a:lnSpc>
                <a:spcPts val="2362"/>
              </a:lnSpc>
            </a:pPr>
            <a:r>
              <a:rPr lang="en-US" sz="1575">
                <a:solidFill>
                  <a:srgbClr val="A6ABCE"/>
                </a:solidFill>
                <a:latin typeface="IBM Plex Sans"/>
                <a:ea typeface="IBM Plex Sans"/>
                <a:cs typeface="IBM Plex Sans"/>
                <a:sym typeface="IBM Plex Sans"/>
              </a:rPr>
              <a:t>Take the most recent 5-second window (2.5 stride)</a:t>
            </a:r>
          </a:p>
          <a:p>
            <a:pPr algn="l">
              <a:lnSpc>
                <a:spcPts val="2362"/>
              </a:lnSpc>
            </a:pPr>
            <a:r>
              <a:rPr lang="en-US" sz="1575">
                <a:solidFill>
                  <a:srgbClr val="A6ABCE"/>
                </a:solidFill>
                <a:latin typeface="IBM Plex Sans"/>
                <a:ea typeface="IBM Plex Sans"/>
                <a:cs typeface="IBM Plex Sans"/>
                <a:sym typeface="IBM Plex Sans"/>
              </a:rPr>
              <a:t>Convert it into a log-mel spectogram</a:t>
            </a:r>
          </a:p>
          <a:p>
            <a:pPr algn="l">
              <a:lnSpc>
                <a:spcPts val="2362"/>
              </a:lnSpc>
            </a:pPr>
            <a:r>
              <a:rPr lang="en-US" sz="1575">
                <a:solidFill>
                  <a:srgbClr val="A6ABCE"/>
                </a:solidFill>
                <a:latin typeface="IBM Plex Sans"/>
                <a:ea typeface="IBM Plex Sans"/>
                <a:cs typeface="IBM Plex Sans"/>
                <a:sym typeface="IBM Plex Sans"/>
              </a:rPr>
              <a:t>Same transform used in training </a:t>
            </a:r>
          </a:p>
          <a:p>
            <a:pPr algn="l">
              <a:lnSpc>
                <a:spcPts val="2362"/>
              </a:lnSpc>
            </a:pPr>
            <a:r>
              <a:rPr lang="en-US" sz="1575">
                <a:solidFill>
                  <a:srgbClr val="A6ABCE"/>
                </a:solidFill>
                <a:latin typeface="IBM Plex Sans"/>
                <a:ea typeface="IBM Plex Sans"/>
                <a:cs typeface="IBM Plex Sans"/>
                <a:sym typeface="IBM Plex Sans"/>
              </a:rPr>
              <a:t>(n_fft 2048, hop 1024, per-window z score)</a:t>
            </a:r>
          </a:p>
        </p:txBody>
      </p:sp>
      <p:grpSp>
        <p:nvGrpSpPr>
          <p:cNvPr id="16" name="Group 16"/>
          <p:cNvGrpSpPr/>
          <p:nvPr/>
        </p:nvGrpSpPr>
        <p:grpSpPr>
          <a:xfrm>
            <a:off x="6565868" y="2382774"/>
            <a:ext cx="5156168" cy="5942076"/>
            <a:chOff x="0" y="0"/>
            <a:chExt cx="6874891" cy="7922768"/>
          </a:xfrm>
        </p:grpSpPr>
        <p:sp>
          <p:nvSpPr>
            <p:cNvPr id="17" name="Freeform 17"/>
            <p:cNvSpPr/>
            <p:nvPr/>
          </p:nvSpPr>
          <p:spPr>
            <a:xfrm>
              <a:off x="0" y="0"/>
              <a:ext cx="6874891" cy="7922768"/>
            </a:xfrm>
            <a:custGeom>
              <a:avLst/>
              <a:gdLst/>
              <a:ahLst/>
              <a:cxnLst/>
              <a:rect l="l" t="t" r="r" b="b"/>
              <a:pathLst>
                <a:path w="6874891" h="7922768">
                  <a:moveTo>
                    <a:pt x="279400" y="0"/>
                  </a:moveTo>
                  <a:lnTo>
                    <a:pt x="6595491" y="0"/>
                  </a:lnTo>
                  <a:cubicBezTo>
                    <a:pt x="6749797" y="0"/>
                    <a:pt x="6874891" y="125095"/>
                    <a:pt x="6874891" y="279400"/>
                  </a:cubicBezTo>
                  <a:lnTo>
                    <a:pt x="6874891" y="7643368"/>
                  </a:lnTo>
                  <a:cubicBezTo>
                    <a:pt x="6874891" y="7797674"/>
                    <a:pt x="6749797" y="7922768"/>
                    <a:pt x="6595491" y="7922768"/>
                  </a:cubicBezTo>
                  <a:lnTo>
                    <a:pt x="279400" y="7922768"/>
                  </a:lnTo>
                  <a:cubicBezTo>
                    <a:pt x="125095" y="7922768"/>
                    <a:pt x="0" y="7797674"/>
                    <a:pt x="0" y="7643368"/>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18" name="AutoShape 18"/>
          <p:cNvSpPr/>
          <p:nvPr/>
        </p:nvSpPr>
        <p:spPr>
          <a:xfrm>
            <a:off x="6565868" y="2382774"/>
            <a:ext cx="5156168" cy="9525"/>
          </a:xfrm>
          <a:prstGeom prst="rect">
            <a:avLst/>
          </a:prstGeom>
          <a:solidFill>
            <a:srgbClr val="FFFFFF">
              <a:alpha val="7843"/>
            </a:srgbClr>
          </a:solidFill>
        </p:spPr>
        <p:txBody>
          <a:bodyPr/>
          <a:lstStyle/>
          <a:p>
            <a:endParaRPr lang="ko-KR" altLang="en-US"/>
          </a:p>
        </p:txBody>
      </p:sp>
      <p:sp>
        <p:nvSpPr>
          <p:cNvPr id="19" name="AutoShape 19"/>
          <p:cNvSpPr/>
          <p:nvPr/>
        </p:nvSpPr>
        <p:spPr>
          <a:xfrm>
            <a:off x="11712512" y="2392299"/>
            <a:ext cx="9525" cy="5923026"/>
          </a:xfrm>
          <a:prstGeom prst="rect">
            <a:avLst/>
          </a:prstGeom>
          <a:solidFill>
            <a:srgbClr val="FFFFFF">
              <a:alpha val="7843"/>
            </a:srgbClr>
          </a:solidFill>
        </p:spPr>
        <p:txBody>
          <a:bodyPr/>
          <a:lstStyle/>
          <a:p>
            <a:endParaRPr lang="ko-KR" altLang="en-US"/>
          </a:p>
        </p:txBody>
      </p:sp>
      <p:sp>
        <p:nvSpPr>
          <p:cNvPr id="20" name="AutoShape 20"/>
          <p:cNvSpPr/>
          <p:nvPr/>
        </p:nvSpPr>
        <p:spPr>
          <a:xfrm>
            <a:off x="6565868" y="8315325"/>
            <a:ext cx="5156168" cy="9525"/>
          </a:xfrm>
          <a:prstGeom prst="rect">
            <a:avLst/>
          </a:prstGeom>
          <a:solidFill>
            <a:srgbClr val="FFFFFF">
              <a:alpha val="7843"/>
            </a:srgbClr>
          </a:solidFill>
        </p:spPr>
        <p:txBody>
          <a:bodyPr/>
          <a:lstStyle/>
          <a:p>
            <a:endParaRPr lang="ko-KR" altLang="en-US"/>
          </a:p>
        </p:txBody>
      </p:sp>
      <p:sp>
        <p:nvSpPr>
          <p:cNvPr id="21" name="AutoShape 21"/>
          <p:cNvSpPr/>
          <p:nvPr/>
        </p:nvSpPr>
        <p:spPr>
          <a:xfrm>
            <a:off x="6565868" y="2392299"/>
            <a:ext cx="9525" cy="5923026"/>
          </a:xfrm>
          <a:prstGeom prst="rect">
            <a:avLst/>
          </a:prstGeom>
          <a:solidFill>
            <a:srgbClr val="FFFFFF">
              <a:alpha val="7843"/>
            </a:srgbClr>
          </a:solidFill>
        </p:spPr>
        <p:txBody>
          <a:bodyPr/>
          <a:lstStyle/>
          <a:p>
            <a:endParaRPr lang="ko-KR" altLang="en-US"/>
          </a:p>
        </p:txBody>
      </p:sp>
      <p:grpSp>
        <p:nvGrpSpPr>
          <p:cNvPr id="22" name="Group 22"/>
          <p:cNvGrpSpPr/>
          <p:nvPr/>
        </p:nvGrpSpPr>
        <p:grpSpPr>
          <a:xfrm>
            <a:off x="6899243" y="2716149"/>
            <a:ext cx="609600" cy="609600"/>
            <a:chOff x="0" y="0"/>
            <a:chExt cx="812800" cy="812800"/>
          </a:xfrm>
        </p:grpSpPr>
        <p:sp>
          <p:nvSpPr>
            <p:cNvPr id="23" name="Freeform 23"/>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7C83FF">
                <a:alpha val="1569"/>
              </a:srgbClr>
            </a:solidFill>
          </p:spPr>
          <p:txBody>
            <a:bodyPr/>
            <a:lstStyle/>
            <a:p>
              <a:endParaRPr lang="ko-KR" altLang="en-US"/>
            </a:p>
          </p:txBody>
        </p:sp>
      </p:grpSp>
      <p:sp>
        <p:nvSpPr>
          <p:cNvPr id="24" name="TextBox 24"/>
          <p:cNvSpPr txBox="1"/>
          <p:nvPr/>
        </p:nvSpPr>
        <p:spPr>
          <a:xfrm>
            <a:off x="6899243" y="3497199"/>
            <a:ext cx="4489418"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Face</a:t>
            </a:r>
          </a:p>
        </p:txBody>
      </p:sp>
      <p:sp>
        <p:nvSpPr>
          <p:cNvPr id="25" name="TextBox 25"/>
          <p:cNvSpPr txBox="1"/>
          <p:nvPr/>
        </p:nvSpPr>
        <p:spPr>
          <a:xfrm>
            <a:off x="6899243" y="3963924"/>
            <a:ext cx="4489418" cy="1159192"/>
          </a:xfrm>
          <a:prstGeom prst="rect">
            <a:avLst/>
          </a:prstGeom>
        </p:spPr>
        <p:txBody>
          <a:bodyPr lIns="0" tIns="0" rIns="0" bIns="0" rtlCol="0" anchor="t">
            <a:spAutoFit/>
          </a:bodyPr>
          <a:lstStyle/>
          <a:p>
            <a:pPr algn="l">
              <a:lnSpc>
                <a:spcPts val="2362"/>
              </a:lnSpc>
            </a:pPr>
            <a:r>
              <a:rPr lang="en-US" sz="1575">
                <a:solidFill>
                  <a:srgbClr val="A6ABCE"/>
                </a:solidFill>
                <a:latin typeface="IBM Plex Sans"/>
                <a:ea typeface="IBM Plex Sans"/>
                <a:cs typeface="IBM Plex Sans"/>
                <a:sym typeface="IBM Plex Sans"/>
              </a:rPr>
              <a:t>Camera detects the face and crops it (96×96) to read the surface emotion being shown.</a:t>
            </a:r>
          </a:p>
          <a:p>
            <a:pPr algn="l">
              <a:lnSpc>
                <a:spcPts val="2362"/>
              </a:lnSpc>
            </a:pPr>
            <a:endParaRPr lang="en-US" sz="1575">
              <a:solidFill>
                <a:srgbClr val="A6ABCE"/>
              </a:solidFill>
              <a:latin typeface="IBM Plex Sans"/>
              <a:ea typeface="IBM Plex Sans"/>
              <a:cs typeface="IBM Plex Sans"/>
              <a:sym typeface="IBM Plex Sans"/>
            </a:endParaRPr>
          </a:p>
          <a:p>
            <a:pPr algn="l">
              <a:lnSpc>
                <a:spcPts val="2362"/>
              </a:lnSpc>
            </a:pPr>
            <a:r>
              <a:rPr lang="en-US" sz="1575">
                <a:solidFill>
                  <a:srgbClr val="A6ABCE"/>
                </a:solidFill>
                <a:latin typeface="IBM Plex Sans"/>
                <a:ea typeface="IBM Plex Sans"/>
                <a:cs typeface="IBM Plex Sans"/>
                <a:sym typeface="IBM Plex Sans"/>
              </a:rPr>
              <a:t>Used ML Kit face detection to find the face box</a:t>
            </a:r>
          </a:p>
        </p:txBody>
      </p:sp>
      <p:grpSp>
        <p:nvGrpSpPr>
          <p:cNvPr id="26" name="Group 26"/>
          <p:cNvGrpSpPr/>
          <p:nvPr/>
        </p:nvGrpSpPr>
        <p:grpSpPr>
          <a:xfrm>
            <a:off x="11988737" y="2382774"/>
            <a:ext cx="5156168" cy="5942076"/>
            <a:chOff x="0" y="0"/>
            <a:chExt cx="6874891" cy="7922768"/>
          </a:xfrm>
        </p:grpSpPr>
        <p:sp>
          <p:nvSpPr>
            <p:cNvPr id="27" name="Freeform 27"/>
            <p:cNvSpPr/>
            <p:nvPr/>
          </p:nvSpPr>
          <p:spPr>
            <a:xfrm>
              <a:off x="0" y="0"/>
              <a:ext cx="6874891" cy="7922768"/>
            </a:xfrm>
            <a:custGeom>
              <a:avLst/>
              <a:gdLst/>
              <a:ahLst/>
              <a:cxnLst/>
              <a:rect l="l" t="t" r="r" b="b"/>
              <a:pathLst>
                <a:path w="6874891" h="7922768">
                  <a:moveTo>
                    <a:pt x="279400" y="0"/>
                  </a:moveTo>
                  <a:lnTo>
                    <a:pt x="6595491" y="0"/>
                  </a:lnTo>
                  <a:cubicBezTo>
                    <a:pt x="6749797" y="0"/>
                    <a:pt x="6874891" y="125095"/>
                    <a:pt x="6874891" y="279400"/>
                  </a:cubicBezTo>
                  <a:lnTo>
                    <a:pt x="6874891" y="7643368"/>
                  </a:lnTo>
                  <a:cubicBezTo>
                    <a:pt x="6874891" y="7797674"/>
                    <a:pt x="6749797" y="7922768"/>
                    <a:pt x="6595491" y="7922768"/>
                  </a:cubicBezTo>
                  <a:lnTo>
                    <a:pt x="279400" y="7922768"/>
                  </a:lnTo>
                  <a:cubicBezTo>
                    <a:pt x="125095" y="7922768"/>
                    <a:pt x="0" y="7797674"/>
                    <a:pt x="0" y="7643368"/>
                  </a:cubicBezTo>
                  <a:lnTo>
                    <a:pt x="0" y="279400"/>
                  </a:lnTo>
                  <a:cubicBezTo>
                    <a:pt x="0" y="125095"/>
                    <a:pt x="125095" y="0"/>
                    <a:pt x="279400" y="0"/>
                  </a:cubicBezTo>
                  <a:close/>
                </a:path>
              </a:pathLst>
            </a:custGeom>
            <a:solidFill>
              <a:srgbClr val="161A32"/>
            </a:solidFill>
          </p:spPr>
          <p:txBody>
            <a:bodyPr/>
            <a:lstStyle/>
            <a:p>
              <a:endParaRPr lang="ko-KR" altLang="en-US"/>
            </a:p>
          </p:txBody>
        </p:sp>
        <p:sp>
          <p:nvSpPr>
            <p:cNvPr id="28" name="Freeform 28"/>
            <p:cNvSpPr/>
            <p:nvPr/>
          </p:nvSpPr>
          <p:spPr>
            <a:xfrm>
              <a:off x="0" y="0"/>
              <a:ext cx="6874891" cy="7922768"/>
            </a:xfrm>
            <a:custGeom>
              <a:avLst/>
              <a:gdLst/>
              <a:ahLst/>
              <a:cxnLst/>
              <a:rect l="l" t="t" r="r" b="b"/>
              <a:pathLst>
                <a:path w="6874891" h="7922768">
                  <a:moveTo>
                    <a:pt x="279400" y="0"/>
                  </a:moveTo>
                  <a:lnTo>
                    <a:pt x="6595491" y="0"/>
                  </a:lnTo>
                  <a:cubicBezTo>
                    <a:pt x="6749797" y="0"/>
                    <a:pt x="6874891" y="125095"/>
                    <a:pt x="6874891" y="279400"/>
                  </a:cubicBezTo>
                  <a:lnTo>
                    <a:pt x="6874891" y="7643368"/>
                  </a:lnTo>
                  <a:cubicBezTo>
                    <a:pt x="6874891" y="7797674"/>
                    <a:pt x="6749797" y="7922768"/>
                    <a:pt x="6595491" y="7922768"/>
                  </a:cubicBezTo>
                  <a:lnTo>
                    <a:pt x="279400" y="7922768"/>
                  </a:lnTo>
                  <a:cubicBezTo>
                    <a:pt x="125095" y="7922768"/>
                    <a:pt x="0" y="7797674"/>
                    <a:pt x="0" y="7643368"/>
                  </a:cubicBezTo>
                  <a:lnTo>
                    <a:pt x="0" y="279400"/>
                  </a:lnTo>
                  <a:cubicBezTo>
                    <a:pt x="0" y="125095"/>
                    <a:pt x="125095" y="0"/>
                    <a:pt x="279400" y="0"/>
                  </a:cubicBezTo>
                  <a:close/>
                </a:path>
              </a:pathLst>
            </a:custGeom>
            <a:solidFill>
              <a:srgbClr val="000000">
                <a:alpha val="0"/>
              </a:srgbClr>
            </a:solidFill>
            <a:ln w="9525" cap="sq">
              <a:solidFill>
                <a:srgbClr val="FF6B6B"/>
              </a:solidFill>
              <a:prstDash val="solid"/>
              <a:miter/>
            </a:ln>
          </p:spPr>
          <p:txBody>
            <a:bodyPr/>
            <a:lstStyle/>
            <a:p>
              <a:endParaRPr lang="ko-KR" altLang="en-US"/>
            </a:p>
          </p:txBody>
        </p:sp>
      </p:grpSp>
      <p:grpSp>
        <p:nvGrpSpPr>
          <p:cNvPr id="29" name="Group 29"/>
          <p:cNvGrpSpPr/>
          <p:nvPr/>
        </p:nvGrpSpPr>
        <p:grpSpPr>
          <a:xfrm>
            <a:off x="12322112" y="2716149"/>
            <a:ext cx="609600" cy="609600"/>
            <a:chOff x="0" y="0"/>
            <a:chExt cx="812800" cy="812800"/>
          </a:xfrm>
        </p:grpSpPr>
        <p:sp>
          <p:nvSpPr>
            <p:cNvPr id="30" name="Freeform 30"/>
            <p:cNvSpPr/>
            <p:nvPr/>
          </p:nvSpPr>
          <p:spPr>
            <a:xfrm>
              <a:off x="0" y="0"/>
              <a:ext cx="812800" cy="812800"/>
            </a:xfrm>
            <a:custGeom>
              <a:avLst/>
              <a:gdLst/>
              <a:ahLst/>
              <a:cxnLst/>
              <a:rect l="l" t="t" r="r" b="b"/>
              <a:pathLst>
                <a:path w="812800" h="812800">
                  <a:moveTo>
                    <a:pt x="215900" y="0"/>
                  </a:moveTo>
                  <a:lnTo>
                    <a:pt x="596900" y="0"/>
                  </a:lnTo>
                  <a:cubicBezTo>
                    <a:pt x="716153" y="0"/>
                    <a:pt x="812800" y="96647"/>
                    <a:pt x="812800" y="215900"/>
                  </a:cubicBezTo>
                  <a:lnTo>
                    <a:pt x="812800" y="596900"/>
                  </a:lnTo>
                  <a:cubicBezTo>
                    <a:pt x="812800" y="716153"/>
                    <a:pt x="716153" y="812800"/>
                    <a:pt x="596900" y="812800"/>
                  </a:cubicBezTo>
                  <a:lnTo>
                    <a:pt x="215900" y="812800"/>
                  </a:lnTo>
                  <a:cubicBezTo>
                    <a:pt x="96647" y="812800"/>
                    <a:pt x="0" y="716153"/>
                    <a:pt x="0" y="596900"/>
                  </a:cubicBezTo>
                  <a:lnTo>
                    <a:pt x="0" y="215900"/>
                  </a:lnTo>
                  <a:cubicBezTo>
                    <a:pt x="0" y="96647"/>
                    <a:pt x="96647" y="0"/>
                    <a:pt x="215900" y="0"/>
                  </a:cubicBezTo>
                  <a:close/>
                </a:path>
              </a:pathLst>
            </a:custGeom>
            <a:solidFill>
              <a:srgbClr val="FF6B6B">
                <a:alpha val="1569"/>
              </a:srgbClr>
            </a:solidFill>
          </p:spPr>
          <p:txBody>
            <a:bodyPr/>
            <a:lstStyle/>
            <a:p>
              <a:endParaRPr lang="ko-KR" altLang="en-US"/>
            </a:p>
          </p:txBody>
        </p:sp>
      </p:grpSp>
      <p:sp>
        <p:nvSpPr>
          <p:cNvPr id="31" name="TextBox 31"/>
          <p:cNvSpPr txBox="1"/>
          <p:nvPr/>
        </p:nvSpPr>
        <p:spPr>
          <a:xfrm>
            <a:off x="12322112" y="3497199"/>
            <a:ext cx="4489418"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Fingertip PPG</a:t>
            </a:r>
          </a:p>
        </p:txBody>
      </p:sp>
      <p:sp>
        <p:nvSpPr>
          <p:cNvPr id="32" name="TextBox 32"/>
          <p:cNvSpPr txBox="1"/>
          <p:nvPr/>
        </p:nvSpPr>
        <p:spPr>
          <a:xfrm>
            <a:off x="12322112" y="3963924"/>
            <a:ext cx="4489418" cy="938212"/>
          </a:xfrm>
          <a:prstGeom prst="rect">
            <a:avLst/>
          </a:prstGeom>
        </p:spPr>
        <p:txBody>
          <a:bodyPr lIns="0" tIns="0" rIns="0" bIns="0" rtlCol="0" anchor="t">
            <a:spAutoFit/>
          </a:bodyPr>
          <a:lstStyle/>
          <a:p>
            <a:pPr algn="l">
              <a:lnSpc>
                <a:spcPts val="2362"/>
              </a:lnSpc>
            </a:pPr>
            <a:r>
              <a:rPr lang="en-US" sz="1575">
                <a:solidFill>
                  <a:srgbClr val="A6ABCE"/>
                </a:solidFill>
                <a:latin typeface="IBM Plex Sans"/>
                <a:ea typeface="IBM Plex Sans"/>
                <a:cs typeface="IBM Plex Sans"/>
                <a:sym typeface="IBM Plex Sans"/>
              </a:rPr>
              <a:t>Heart rate from a fingertip resting on the rear camera and flash — a </a:t>
            </a:r>
            <a:r>
              <a:rPr lang="en-US" sz="1575">
                <a:solidFill>
                  <a:srgbClr val="9AA0FF"/>
                </a:solidFill>
                <a:latin typeface="IBM Plex Sans"/>
                <a:ea typeface="IBM Plex Sans"/>
                <a:cs typeface="IBM Plex Sans"/>
                <a:sym typeface="IBM Plex Sans"/>
              </a:rPr>
              <a:t>red-channel</a:t>
            </a:r>
            <a:r>
              <a:rPr lang="en-US" sz="1575">
                <a:solidFill>
                  <a:srgbClr val="A6ABCE"/>
                </a:solidFill>
                <a:latin typeface="IBM Plex Sans"/>
                <a:ea typeface="IBM Plex Sans"/>
                <a:cs typeface="IBM Plex Sans"/>
                <a:sym typeface="IBM Plex Sans"/>
              </a:rPr>
              <a:t> pulse extracted from the live frames.</a:t>
            </a:r>
          </a:p>
        </p:txBody>
      </p:sp>
      <p:grpSp>
        <p:nvGrpSpPr>
          <p:cNvPr id="33" name="Group 33"/>
          <p:cNvGrpSpPr/>
          <p:nvPr/>
        </p:nvGrpSpPr>
        <p:grpSpPr>
          <a:xfrm>
            <a:off x="1143000" y="8610600"/>
            <a:ext cx="16002000" cy="762000"/>
            <a:chOff x="0" y="0"/>
            <a:chExt cx="21336000" cy="1016000"/>
          </a:xfrm>
        </p:grpSpPr>
        <p:sp>
          <p:nvSpPr>
            <p:cNvPr id="34" name="Freeform 34"/>
            <p:cNvSpPr/>
            <p:nvPr/>
          </p:nvSpPr>
          <p:spPr>
            <a:xfrm>
              <a:off x="0" y="0"/>
              <a:ext cx="21336000" cy="1016000"/>
            </a:xfrm>
            <a:custGeom>
              <a:avLst/>
              <a:gdLst/>
              <a:ahLst/>
              <a:cxnLst/>
              <a:rect l="l" t="t" r="r" b="b"/>
              <a:pathLst>
                <a:path w="21336000" h="1016000">
                  <a:moveTo>
                    <a:pt x="228600" y="0"/>
                  </a:moveTo>
                  <a:lnTo>
                    <a:pt x="21107400" y="0"/>
                  </a:lnTo>
                  <a:cubicBezTo>
                    <a:pt x="21233637" y="0"/>
                    <a:pt x="21336000" y="102362"/>
                    <a:pt x="21336000" y="228600"/>
                  </a:cubicBezTo>
                  <a:lnTo>
                    <a:pt x="21336000" y="787400"/>
                  </a:lnTo>
                  <a:cubicBezTo>
                    <a:pt x="21336000" y="913638"/>
                    <a:pt x="21233637" y="1016000"/>
                    <a:pt x="21107400" y="1016000"/>
                  </a:cubicBezTo>
                  <a:lnTo>
                    <a:pt x="228600" y="1016000"/>
                  </a:lnTo>
                  <a:cubicBezTo>
                    <a:pt x="102362" y="1016000"/>
                    <a:pt x="0" y="913638"/>
                    <a:pt x="0" y="787400"/>
                  </a:cubicBezTo>
                  <a:lnTo>
                    <a:pt x="0" y="228600"/>
                  </a:lnTo>
                  <a:cubicBezTo>
                    <a:pt x="0" y="102362"/>
                    <a:pt x="102362" y="0"/>
                    <a:pt x="228600" y="0"/>
                  </a:cubicBezTo>
                  <a:close/>
                </a:path>
              </a:pathLst>
            </a:custGeom>
            <a:solidFill>
              <a:srgbClr val="161A32"/>
            </a:solidFill>
          </p:spPr>
          <p:txBody>
            <a:bodyPr/>
            <a:lstStyle/>
            <a:p>
              <a:endParaRPr lang="ko-KR" altLang="en-US"/>
            </a:p>
          </p:txBody>
        </p:sp>
      </p:grpSp>
      <p:sp>
        <p:nvSpPr>
          <p:cNvPr id="35" name="AutoShape 35"/>
          <p:cNvSpPr/>
          <p:nvPr/>
        </p:nvSpPr>
        <p:spPr>
          <a:xfrm>
            <a:off x="1143000" y="8610600"/>
            <a:ext cx="16002000" cy="9525"/>
          </a:xfrm>
          <a:prstGeom prst="rect">
            <a:avLst/>
          </a:prstGeom>
          <a:solidFill>
            <a:srgbClr val="FFFFFF">
              <a:alpha val="7843"/>
            </a:srgbClr>
          </a:solidFill>
        </p:spPr>
        <p:txBody>
          <a:bodyPr/>
          <a:lstStyle/>
          <a:p>
            <a:endParaRPr lang="ko-KR" altLang="en-US"/>
          </a:p>
        </p:txBody>
      </p:sp>
      <p:sp>
        <p:nvSpPr>
          <p:cNvPr id="36" name="AutoShape 36"/>
          <p:cNvSpPr/>
          <p:nvPr/>
        </p:nvSpPr>
        <p:spPr>
          <a:xfrm>
            <a:off x="17135475" y="8620125"/>
            <a:ext cx="9525" cy="742950"/>
          </a:xfrm>
          <a:prstGeom prst="rect">
            <a:avLst/>
          </a:prstGeom>
          <a:solidFill>
            <a:srgbClr val="FFFFFF">
              <a:alpha val="7843"/>
            </a:srgbClr>
          </a:solidFill>
        </p:spPr>
        <p:txBody>
          <a:bodyPr/>
          <a:lstStyle/>
          <a:p>
            <a:endParaRPr lang="ko-KR" altLang="en-US"/>
          </a:p>
        </p:txBody>
      </p:sp>
      <p:sp>
        <p:nvSpPr>
          <p:cNvPr id="37" name="AutoShape 37"/>
          <p:cNvSpPr/>
          <p:nvPr/>
        </p:nvSpPr>
        <p:spPr>
          <a:xfrm>
            <a:off x="1143000" y="9363075"/>
            <a:ext cx="16002000" cy="9525"/>
          </a:xfrm>
          <a:prstGeom prst="rect">
            <a:avLst/>
          </a:prstGeom>
          <a:solidFill>
            <a:srgbClr val="FFFFFF">
              <a:alpha val="7843"/>
            </a:srgbClr>
          </a:solidFill>
        </p:spPr>
        <p:txBody>
          <a:bodyPr/>
          <a:lstStyle/>
          <a:p>
            <a:endParaRPr lang="ko-KR" altLang="en-US"/>
          </a:p>
        </p:txBody>
      </p:sp>
      <p:sp>
        <p:nvSpPr>
          <p:cNvPr id="38" name="AutoShape 38"/>
          <p:cNvSpPr/>
          <p:nvPr/>
        </p:nvSpPr>
        <p:spPr>
          <a:xfrm>
            <a:off x="1143000" y="8620125"/>
            <a:ext cx="9525" cy="742950"/>
          </a:xfrm>
          <a:prstGeom prst="rect">
            <a:avLst/>
          </a:prstGeom>
          <a:solidFill>
            <a:srgbClr val="FFFFFF">
              <a:alpha val="7843"/>
            </a:srgbClr>
          </a:solidFill>
        </p:spPr>
        <p:txBody>
          <a:bodyPr/>
          <a:lstStyle/>
          <a:p>
            <a:endParaRPr lang="ko-KR" altLang="en-US"/>
          </a:p>
        </p:txBody>
      </p:sp>
      <p:sp>
        <p:nvSpPr>
          <p:cNvPr id="39" name="TextBox 39"/>
          <p:cNvSpPr txBox="1"/>
          <p:nvPr/>
        </p:nvSpPr>
        <p:spPr>
          <a:xfrm>
            <a:off x="1838325" y="8810625"/>
            <a:ext cx="12839700" cy="287002"/>
          </a:xfrm>
          <a:prstGeom prst="rect">
            <a:avLst/>
          </a:prstGeom>
        </p:spPr>
        <p:txBody>
          <a:bodyPr wrap="square" lIns="0" tIns="0" rIns="0" bIns="0" rtlCol="0" anchor="t">
            <a:spAutoFit/>
          </a:bodyPr>
          <a:lstStyle/>
          <a:p>
            <a:pPr algn="l">
              <a:lnSpc>
                <a:spcPts val="2415"/>
              </a:lnSpc>
            </a:pPr>
            <a:r>
              <a:rPr lang="en-US" sz="1725" b="1" dirty="0">
                <a:solidFill>
                  <a:srgbClr val="EEF0FF"/>
                </a:solidFill>
                <a:latin typeface="IBM Plex Sans Medium"/>
                <a:ea typeface="IBM Plex Sans Medium"/>
                <a:cs typeface="IBM Plex Sans Medium"/>
                <a:sym typeface="IBM Plex Sans Medium"/>
              </a:rPr>
              <a:t>Privacy by design.</a:t>
            </a:r>
            <a:r>
              <a:rPr lang="en-US" sz="1725" dirty="0">
                <a:solidFill>
                  <a:srgbClr val="A6ABCE"/>
                </a:solidFill>
                <a:latin typeface="IBM Plex Sans"/>
                <a:ea typeface="IBM Plex Sans"/>
                <a:cs typeface="IBM Plex Sans"/>
                <a:sym typeface="IBM Plex Sans"/>
              </a:rPr>
              <a:t> All three streams are processed and discarded on the device — nothing is uploaded or stored off-phone.</a:t>
            </a:r>
          </a:p>
        </p:txBody>
      </p:sp>
      <p:sp>
        <p:nvSpPr>
          <p:cNvPr id="40" name="Freeform 40"/>
          <p:cNvSpPr/>
          <p:nvPr/>
        </p:nvSpPr>
        <p:spPr>
          <a:xfrm>
            <a:off x="1628775" y="286854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ko-KR" altLang="en-US"/>
          </a:p>
        </p:txBody>
      </p:sp>
      <p:sp>
        <p:nvSpPr>
          <p:cNvPr id="41" name="Freeform 41"/>
          <p:cNvSpPr/>
          <p:nvPr/>
        </p:nvSpPr>
        <p:spPr>
          <a:xfrm>
            <a:off x="7051643" y="286854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ko-KR" altLang="en-US"/>
          </a:p>
        </p:txBody>
      </p:sp>
      <p:sp>
        <p:nvSpPr>
          <p:cNvPr id="42" name="Freeform 42"/>
          <p:cNvSpPr/>
          <p:nvPr/>
        </p:nvSpPr>
        <p:spPr>
          <a:xfrm>
            <a:off x="12474512" y="286854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ko-KR" altLang="en-US"/>
          </a:p>
        </p:txBody>
      </p:sp>
      <p:sp>
        <p:nvSpPr>
          <p:cNvPr id="43" name="Freeform 43"/>
          <p:cNvSpPr/>
          <p:nvPr/>
        </p:nvSpPr>
        <p:spPr>
          <a:xfrm>
            <a:off x="1438275" y="8867775"/>
            <a:ext cx="247650" cy="247650"/>
          </a:xfrm>
          <a:custGeom>
            <a:avLst/>
            <a:gdLst/>
            <a:ahLst/>
            <a:cxnLst/>
            <a:rect l="l" t="t" r="r" b="b"/>
            <a:pathLst>
              <a:path w="247650" h="247650">
                <a:moveTo>
                  <a:pt x="0" y="0"/>
                </a:moveTo>
                <a:lnTo>
                  <a:pt x="247650" y="0"/>
                </a:lnTo>
                <a:lnTo>
                  <a:pt x="247650" y="247650"/>
                </a:lnTo>
                <a:lnTo>
                  <a:pt x="0" y="2476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ko-KR" altLang="en-US"/>
          </a:p>
        </p:txBody>
      </p:sp>
      <p:sp>
        <p:nvSpPr>
          <p:cNvPr id="44" name="AutoShape 44"/>
          <p:cNvSpPr/>
          <p:nvPr/>
        </p:nvSpPr>
        <p:spPr>
          <a:xfrm>
            <a:off x="1573530" y="1038225"/>
            <a:ext cx="438150" cy="19050"/>
          </a:xfrm>
          <a:prstGeom prst="rect">
            <a:avLst/>
          </a:prstGeom>
          <a:solidFill>
            <a:srgbClr val="7C83FF">
              <a:alpha val="69804"/>
            </a:srgbClr>
          </a:solidFill>
        </p:spPr>
        <p:txBody>
          <a:bodyPr/>
          <a:lstStyle/>
          <a:p>
            <a:endParaRPr lang="ko-KR" altLang="en-US"/>
          </a:p>
        </p:txBody>
      </p:sp>
      <p:sp>
        <p:nvSpPr>
          <p:cNvPr id="45" name="TextBox 45"/>
          <p:cNvSpPr txBox="1"/>
          <p:nvPr/>
        </p:nvSpPr>
        <p:spPr>
          <a:xfrm>
            <a:off x="16939165" y="9563099"/>
            <a:ext cx="272510"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047750" y="733425"/>
            <a:ext cx="43815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05</a:t>
            </a:r>
          </a:p>
        </p:txBody>
      </p:sp>
      <p:sp>
        <p:nvSpPr>
          <p:cNvPr id="4" name="TextBox 4"/>
          <p:cNvSpPr txBox="1"/>
          <p:nvPr/>
        </p:nvSpPr>
        <p:spPr>
          <a:xfrm>
            <a:off x="2049780" y="733425"/>
            <a:ext cx="343662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APP FUNCTIONALITY</a:t>
            </a:r>
          </a:p>
        </p:txBody>
      </p:sp>
      <p:sp>
        <p:nvSpPr>
          <p:cNvPr id="5" name="TextBox 5"/>
          <p:cNvSpPr txBox="1"/>
          <p:nvPr/>
        </p:nvSpPr>
        <p:spPr>
          <a:xfrm>
            <a:off x="1047750" y="1295400"/>
            <a:ext cx="16192500" cy="477774"/>
          </a:xfrm>
          <a:prstGeom prst="rect">
            <a:avLst/>
          </a:prstGeom>
        </p:spPr>
        <p:txBody>
          <a:bodyPr lIns="0" tIns="0" rIns="0" bIns="0" rtlCol="0" anchor="t">
            <a:spAutoFit/>
          </a:bodyPr>
          <a:lstStyle/>
          <a:p>
            <a:pPr algn="l">
              <a:lnSpc>
                <a:spcPts val="4212"/>
              </a:lnSpc>
            </a:pPr>
            <a:r>
              <a:rPr lang="en-US" sz="4050" b="1" spc="-121" dirty="0">
                <a:solidFill>
                  <a:srgbClr val="EEF0FF"/>
                </a:solidFill>
                <a:latin typeface="IBM Plex Sans Bold"/>
                <a:ea typeface="IBM Plex Sans Bold"/>
                <a:cs typeface="IBM Plex Sans Bold"/>
                <a:sym typeface="IBM Plex Sans Bold"/>
              </a:rPr>
              <a:t>Two inference modes, one live read-out</a:t>
            </a:r>
          </a:p>
        </p:txBody>
      </p:sp>
      <p:grpSp>
        <p:nvGrpSpPr>
          <p:cNvPr id="6" name="Group 6"/>
          <p:cNvGrpSpPr/>
          <p:nvPr/>
        </p:nvGrpSpPr>
        <p:grpSpPr>
          <a:xfrm>
            <a:off x="1047750" y="2683954"/>
            <a:ext cx="2857500" cy="6254020"/>
            <a:chOff x="0" y="0"/>
            <a:chExt cx="3810000" cy="8338693"/>
          </a:xfrm>
        </p:grpSpPr>
        <p:sp>
          <p:nvSpPr>
            <p:cNvPr id="7" name="Freeform 7"/>
            <p:cNvSpPr/>
            <p:nvPr/>
          </p:nvSpPr>
          <p:spPr>
            <a:xfrm>
              <a:off x="0" y="0"/>
              <a:ext cx="3810000" cy="8338693"/>
            </a:xfrm>
            <a:custGeom>
              <a:avLst/>
              <a:gdLst/>
              <a:ahLst/>
              <a:cxnLst/>
              <a:rect l="l" t="t" r="r" b="b"/>
              <a:pathLst>
                <a:path w="3810000" h="8338693">
                  <a:moveTo>
                    <a:pt x="381000" y="0"/>
                  </a:moveTo>
                  <a:lnTo>
                    <a:pt x="3429000" y="0"/>
                  </a:lnTo>
                  <a:cubicBezTo>
                    <a:pt x="3639439" y="0"/>
                    <a:pt x="3810000" y="170561"/>
                    <a:pt x="3810000" y="381000"/>
                  </a:cubicBezTo>
                  <a:lnTo>
                    <a:pt x="3810000" y="7957693"/>
                  </a:lnTo>
                  <a:cubicBezTo>
                    <a:pt x="3810000" y="8168132"/>
                    <a:pt x="3639439" y="8338693"/>
                    <a:pt x="3429000" y="8338693"/>
                  </a:cubicBezTo>
                  <a:lnTo>
                    <a:pt x="381000" y="8338693"/>
                  </a:lnTo>
                  <a:cubicBezTo>
                    <a:pt x="170561" y="8338693"/>
                    <a:pt x="0" y="8168132"/>
                    <a:pt x="0" y="7957693"/>
                  </a:cubicBezTo>
                  <a:lnTo>
                    <a:pt x="0" y="381000"/>
                  </a:lnTo>
                  <a:cubicBezTo>
                    <a:pt x="0" y="170561"/>
                    <a:pt x="170561" y="0"/>
                    <a:pt x="381000" y="0"/>
                  </a:cubicBezTo>
                  <a:close/>
                </a:path>
              </a:pathLst>
            </a:custGeom>
            <a:blipFill>
              <a:blip r:embed="rId3"/>
              <a:stretch>
                <a:fillRect/>
              </a:stretch>
            </a:blipFill>
          </p:spPr>
          <p:txBody>
            <a:bodyPr/>
            <a:lstStyle/>
            <a:p>
              <a:endParaRPr lang="ko-KR" altLang="en-US"/>
            </a:p>
          </p:txBody>
        </p:sp>
      </p:grpSp>
      <p:grpSp>
        <p:nvGrpSpPr>
          <p:cNvPr id="8" name="Group 8"/>
          <p:cNvGrpSpPr/>
          <p:nvPr/>
        </p:nvGrpSpPr>
        <p:grpSpPr>
          <a:xfrm>
            <a:off x="4438650" y="3972687"/>
            <a:ext cx="12801600" cy="1162050"/>
            <a:chOff x="0" y="0"/>
            <a:chExt cx="17068800" cy="1549400"/>
          </a:xfrm>
        </p:grpSpPr>
        <p:sp>
          <p:nvSpPr>
            <p:cNvPr id="9" name="Freeform 9"/>
            <p:cNvSpPr/>
            <p:nvPr/>
          </p:nvSpPr>
          <p:spPr>
            <a:xfrm>
              <a:off x="0" y="0"/>
              <a:ext cx="17068800" cy="1549400"/>
            </a:xfrm>
            <a:custGeom>
              <a:avLst/>
              <a:gdLst/>
              <a:ahLst/>
              <a:cxnLst/>
              <a:rect l="l" t="t" r="r" b="b"/>
              <a:pathLst>
                <a:path w="17068800" h="1549400">
                  <a:moveTo>
                    <a:pt x="279400" y="0"/>
                  </a:moveTo>
                  <a:lnTo>
                    <a:pt x="16789400" y="0"/>
                  </a:lnTo>
                  <a:cubicBezTo>
                    <a:pt x="16943705" y="0"/>
                    <a:pt x="17068800" y="125095"/>
                    <a:pt x="17068800" y="279400"/>
                  </a:cubicBezTo>
                  <a:lnTo>
                    <a:pt x="17068800" y="1270000"/>
                  </a:lnTo>
                  <a:cubicBezTo>
                    <a:pt x="17068800" y="1424305"/>
                    <a:pt x="16943705" y="1549400"/>
                    <a:pt x="16789400" y="1549400"/>
                  </a:cubicBezTo>
                  <a:lnTo>
                    <a:pt x="279400" y="1549400"/>
                  </a:lnTo>
                  <a:cubicBezTo>
                    <a:pt x="125095" y="1549400"/>
                    <a:pt x="0" y="1424305"/>
                    <a:pt x="0" y="1270000"/>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10" name="AutoShape 10"/>
          <p:cNvSpPr/>
          <p:nvPr/>
        </p:nvSpPr>
        <p:spPr>
          <a:xfrm>
            <a:off x="4438650" y="3972687"/>
            <a:ext cx="12801600" cy="9525"/>
          </a:xfrm>
          <a:prstGeom prst="rect">
            <a:avLst/>
          </a:prstGeom>
          <a:solidFill>
            <a:srgbClr val="FFFFFF">
              <a:alpha val="7843"/>
            </a:srgbClr>
          </a:solidFill>
        </p:spPr>
        <p:txBody>
          <a:bodyPr/>
          <a:lstStyle/>
          <a:p>
            <a:endParaRPr lang="ko-KR" altLang="en-US"/>
          </a:p>
        </p:txBody>
      </p:sp>
      <p:sp>
        <p:nvSpPr>
          <p:cNvPr id="11" name="AutoShape 11"/>
          <p:cNvSpPr/>
          <p:nvPr/>
        </p:nvSpPr>
        <p:spPr>
          <a:xfrm>
            <a:off x="17230725" y="3982212"/>
            <a:ext cx="9525" cy="1143000"/>
          </a:xfrm>
          <a:prstGeom prst="rect">
            <a:avLst/>
          </a:prstGeom>
          <a:solidFill>
            <a:srgbClr val="FFFFFF">
              <a:alpha val="7843"/>
            </a:srgbClr>
          </a:solidFill>
        </p:spPr>
        <p:txBody>
          <a:bodyPr/>
          <a:lstStyle/>
          <a:p>
            <a:endParaRPr lang="ko-KR" altLang="en-US"/>
          </a:p>
        </p:txBody>
      </p:sp>
      <p:sp>
        <p:nvSpPr>
          <p:cNvPr id="12" name="AutoShape 12"/>
          <p:cNvSpPr/>
          <p:nvPr/>
        </p:nvSpPr>
        <p:spPr>
          <a:xfrm>
            <a:off x="4438650" y="5125212"/>
            <a:ext cx="12801600" cy="9525"/>
          </a:xfrm>
          <a:prstGeom prst="rect">
            <a:avLst/>
          </a:prstGeom>
          <a:solidFill>
            <a:srgbClr val="FFFFFF">
              <a:alpha val="7843"/>
            </a:srgbClr>
          </a:solidFill>
        </p:spPr>
        <p:txBody>
          <a:bodyPr/>
          <a:lstStyle/>
          <a:p>
            <a:endParaRPr lang="ko-KR" altLang="en-US"/>
          </a:p>
        </p:txBody>
      </p:sp>
      <p:sp>
        <p:nvSpPr>
          <p:cNvPr id="13" name="AutoShape 13"/>
          <p:cNvSpPr/>
          <p:nvPr/>
        </p:nvSpPr>
        <p:spPr>
          <a:xfrm>
            <a:off x="4438650" y="3982212"/>
            <a:ext cx="9525" cy="1143000"/>
          </a:xfrm>
          <a:prstGeom prst="rect">
            <a:avLst/>
          </a:prstGeom>
          <a:solidFill>
            <a:srgbClr val="FFFFFF">
              <a:alpha val="7843"/>
            </a:srgbClr>
          </a:solidFill>
        </p:spPr>
        <p:txBody>
          <a:bodyPr/>
          <a:lstStyle/>
          <a:p>
            <a:endParaRPr lang="ko-KR" altLang="en-US"/>
          </a:p>
        </p:txBody>
      </p:sp>
      <p:grpSp>
        <p:nvGrpSpPr>
          <p:cNvPr id="14" name="Group 14"/>
          <p:cNvGrpSpPr/>
          <p:nvPr/>
        </p:nvGrpSpPr>
        <p:grpSpPr>
          <a:xfrm>
            <a:off x="4733925" y="4229862"/>
            <a:ext cx="1387792" cy="342900"/>
            <a:chOff x="0" y="0"/>
            <a:chExt cx="1850390" cy="457200"/>
          </a:xfrm>
        </p:grpSpPr>
        <p:sp>
          <p:nvSpPr>
            <p:cNvPr id="15" name="Freeform 15"/>
            <p:cNvSpPr/>
            <p:nvPr/>
          </p:nvSpPr>
          <p:spPr>
            <a:xfrm>
              <a:off x="0" y="0"/>
              <a:ext cx="1850390" cy="457200"/>
            </a:xfrm>
            <a:custGeom>
              <a:avLst/>
              <a:gdLst/>
              <a:ahLst/>
              <a:cxnLst/>
              <a:rect l="l" t="t" r="r" b="b"/>
              <a:pathLst>
                <a:path w="1850390" h="457200">
                  <a:moveTo>
                    <a:pt x="228600" y="0"/>
                  </a:moveTo>
                  <a:lnTo>
                    <a:pt x="1621790" y="0"/>
                  </a:lnTo>
                  <a:cubicBezTo>
                    <a:pt x="1748028" y="0"/>
                    <a:pt x="1850390" y="102362"/>
                    <a:pt x="1850390" y="228600"/>
                  </a:cubicBezTo>
                  <a:cubicBezTo>
                    <a:pt x="1850390" y="354838"/>
                    <a:pt x="1748028" y="457200"/>
                    <a:pt x="1621790"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16" name="TextBox 16"/>
            <p:cNvSpPr txBox="1"/>
            <p:nvPr/>
          </p:nvSpPr>
          <p:spPr>
            <a:xfrm>
              <a:off x="0" y="-19050"/>
              <a:ext cx="1850390"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VOICE + PPG</a:t>
              </a:r>
            </a:p>
          </p:txBody>
        </p:sp>
      </p:grpSp>
      <p:sp>
        <p:nvSpPr>
          <p:cNvPr id="17" name="TextBox 17"/>
          <p:cNvSpPr txBox="1"/>
          <p:nvPr/>
        </p:nvSpPr>
        <p:spPr>
          <a:xfrm>
            <a:off x="6312218" y="4191762"/>
            <a:ext cx="7426547" cy="342900"/>
          </a:xfrm>
          <a:prstGeom prst="rect">
            <a:avLst/>
          </a:prstGeom>
        </p:spPr>
        <p:txBody>
          <a:bodyPr lIns="0" tIns="0" rIns="0" bIns="0" rtlCol="0" anchor="t">
            <a:spAutoFit/>
          </a:bodyPr>
          <a:lstStyle/>
          <a:p>
            <a:pPr algn="l">
              <a:lnSpc>
                <a:spcPts val="2520"/>
              </a:lnSpc>
            </a:pPr>
            <a:r>
              <a:rPr lang="en-US" sz="1800" b="1">
                <a:solidFill>
                  <a:srgbClr val="EEF0FF"/>
                </a:solidFill>
                <a:latin typeface="IBM Plex Sans Medium"/>
                <a:ea typeface="IBM Plex Sans Medium"/>
                <a:cs typeface="IBM Plex Sans Medium"/>
                <a:sym typeface="IBM Plex Sans Medium"/>
              </a:rPr>
              <a:t>Blind Date mode</a:t>
            </a:r>
          </a:p>
        </p:txBody>
      </p:sp>
      <p:sp>
        <p:nvSpPr>
          <p:cNvPr id="18" name="TextBox 18"/>
          <p:cNvSpPr txBox="1"/>
          <p:nvPr/>
        </p:nvSpPr>
        <p:spPr>
          <a:xfrm>
            <a:off x="6312218" y="4553712"/>
            <a:ext cx="8851582" cy="266700"/>
          </a:xfrm>
          <a:prstGeom prst="rect">
            <a:avLst/>
          </a:prstGeom>
        </p:spPr>
        <p:txBody>
          <a:bodyPr lIns="0" tIns="0" rIns="0" bIns="0" rtlCol="0" anchor="t">
            <a:spAutoFit/>
          </a:bodyPr>
          <a:lstStyle/>
          <a:p>
            <a:pPr algn="l">
              <a:lnSpc>
                <a:spcPts val="2250"/>
              </a:lnSpc>
            </a:pPr>
            <a:r>
              <a:rPr lang="en-US" sz="1500">
                <a:solidFill>
                  <a:srgbClr val="A6ABCE"/>
                </a:solidFill>
                <a:latin typeface="IBM Plex Sans"/>
                <a:ea typeface="IBM Plex Sans"/>
                <a:cs typeface="IBM Plex Sans"/>
                <a:sym typeface="IBM Plex Sans"/>
              </a:rPr>
              <a:t>Lightweight: a fingertip pulse lock plus the mic, giving a continuous genuine / fake read  and emotion.</a:t>
            </a:r>
          </a:p>
        </p:txBody>
      </p:sp>
      <p:grpSp>
        <p:nvGrpSpPr>
          <p:cNvPr id="19" name="Group 19"/>
          <p:cNvGrpSpPr/>
          <p:nvPr/>
        </p:nvGrpSpPr>
        <p:grpSpPr>
          <a:xfrm>
            <a:off x="4438650" y="5344287"/>
            <a:ext cx="12801600" cy="1162050"/>
            <a:chOff x="0" y="0"/>
            <a:chExt cx="17068800" cy="1549400"/>
          </a:xfrm>
        </p:grpSpPr>
        <p:sp>
          <p:nvSpPr>
            <p:cNvPr id="20" name="Freeform 20"/>
            <p:cNvSpPr/>
            <p:nvPr/>
          </p:nvSpPr>
          <p:spPr>
            <a:xfrm>
              <a:off x="0" y="0"/>
              <a:ext cx="17068800" cy="1549400"/>
            </a:xfrm>
            <a:custGeom>
              <a:avLst/>
              <a:gdLst/>
              <a:ahLst/>
              <a:cxnLst/>
              <a:rect l="l" t="t" r="r" b="b"/>
              <a:pathLst>
                <a:path w="17068800" h="1549400">
                  <a:moveTo>
                    <a:pt x="279400" y="0"/>
                  </a:moveTo>
                  <a:lnTo>
                    <a:pt x="16789400" y="0"/>
                  </a:lnTo>
                  <a:cubicBezTo>
                    <a:pt x="16943705" y="0"/>
                    <a:pt x="17068800" y="125095"/>
                    <a:pt x="17068800" y="279400"/>
                  </a:cubicBezTo>
                  <a:lnTo>
                    <a:pt x="17068800" y="1270000"/>
                  </a:lnTo>
                  <a:cubicBezTo>
                    <a:pt x="17068800" y="1424305"/>
                    <a:pt x="16943705" y="1549400"/>
                    <a:pt x="16789400" y="1549400"/>
                  </a:cubicBezTo>
                  <a:lnTo>
                    <a:pt x="279400" y="1549400"/>
                  </a:lnTo>
                  <a:cubicBezTo>
                    <a:pt x="125095" y="1549400"/>
                    <a:pt x="0" y="1424305"/>
                    <a:pt x="0" y="1270000"/>
                  </a:cubicBezTo>
                  <a:lnTo>
                    <a:pt x="0" y="279400"/>
                  </a:lnTo>
                  <a:cubicBezTo>
                    <a:pt x="0" y="125095"/>
                    <a:pt x="125095" y="0"/>
                    <a:pt x="279400" y="0"/>
                  </a:cubicBezTo>
                  <a:close/>
                </a:path>
              </a:pathLst>
            </a:custGeom>
            <a:solidFill>
              <a:srgbClr val="161A32"/>
            </a:solidFill>
          </p:spPr>
          <p:txBody>
            <a:bodyPr/>
            <a:lstStyle/>
            <a:p>
              <a:endParaRPr lang="ko-KR" altLang="en-US"/>
            </a:p>
          </p:txBody>
        </p:sp>
        <p:sp>
          <p:nvSpPr>
            <p:cNvPr id="21" name="Freeform 21"/>
            <p:cNvSpPr/>
            <p:nvPr/>
          </p:nvSpPr>
          <p:spPr>
            <a:xfrm>
              <a:off x="0" y="0"/>
              <a:ext cx="17068800" cy="1549400"/>
            </a:xfrm>
            <a:custGeom>
              <a:avLst/>
              <a:gdLst/>
              <a:ahLst/>
              <a:cxnLst/>
              <a:rect l="l" t="t" r="r" b="b"/>
              <a:pathLst>
                <a:path w="17068800" h="1549400">
                  <a:moveTo>
                    <a:pt x="279400" y="0"/>
                  </a:moveTo>
                  <a:lnTo>
                    <a:pt x="16789400" y="0"/>
                  </a:lnTo>
                  <a:cubicBezTo>
                    <a:pt x="16943705" y="0"/>
                    <a:pt x="17068800" y="125095"/>
                    <a:pt x="17068800" y="279400"/>
                  </a:cubicBezTo>
                  <a:lnTo>
                    <a:pt x="17068800" y="1270000"/>
                  </a:lnTo>
                  <a:cubicBezTo>
                    <a:pt x="17068800" y="1424305"/>
                    <a:pt x="16943705" y="1549400"/>
                    <a:pt x="16789400" y="1549400"/>
                  </a:cubicBezTo>
                  <a:lnTo>
                    <a:pt x="279400" y="1549400"/>
                  </a:lnTo>
                  <a:cubicBezTo>
                    <a:pt x="125095" y="1549400"/>
                    <a:pt x="0" y="1424305"/>
                    <a:pt x="0" y="1270000"/>
                  </a:cubicBezTo>
                  <a:lnTo>
                    <a:pt x="0" y="279400"/>
                  </a:lnTo>
                  <a:cubicBezTo>
                    <a:pt x="0" y="125095"/>
                    <a:pt x="125095" y="0"/>
                    <a:pt x="2794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grpSp>
        <p:nvGrpSpPr>
          <p:cNvPr id="22" name="Group 22"/>
          <p:cNvGrpSpPr/>
          <p:nvPr/>
        </p:nvGrpSpPr>
        <p:grpSpPr>
          <a:xfrm>
            <a:off x="4733925" y="5601462"/>
            <a:ext cx="1693640" cy="342900"/>
            <a:chOff x="0" y="0"/>
            <a:chExt cx="2258187" cy="457200"/>
          </a:xfrm>
        </p:grpSpPr>
        <p:sp>
          <p:nvSpPr>
            <p:cNvPr id="23" name="Freeform 23"/>
            <p:cNvSpPr/>
            <p:nvPr/>
          </p:nvSpPr>
          <p:spPr>
            <a:xfrm>
              <a:off x="0" y="0"/>
              <a:ext cx="2258187" cy="457200"/>
            </a:xfrm>
            <a:custGeom>
              <a:avLst/>
              <a:gdLst/>
              <a:ahLst/>
              <a:cxnLst/>
              <a:rect l="l" t="t" r="r" b="b"/>
              <a:pathLst>
                <a:path w="2258187" h="457200">
                  <a:moveTo>
                    <a:pt x="228600" y="0"/>
                  </a:moveTo>
                  <a:lnTo>
                    <a:pt x="2029587" y="0"/>
                  </a:lnTo>
                  <a:cubicBezTo>
                    <a:pt x="2155825" y="0"/>
                    <a:pt x="2258187" y="102362"/>
                    <a:pt x="2258187" y="228600"/>
                  </a:cubicBezTo>
                  <a:cubicBezTo>
                    <a:pt x="2258187" y="354838"/>
                    <a:pt x="2155825" y="457200"/>
                    <a:pt x="2029587"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24" name="TextBox 24"/>
            <p:cNvSpPr txBox="1"/>
            <p:nvPr/>
          </p:nvSpPr>
          <p:spPr>
            <a:xfrm>
              <a:off x="0" y="-19050"/>
              <a:ext cx="225818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CAMERA + VOICE</a:t>
              </a:r>
            </a:p>
          </p:txBody>
        </p:sp>
      </p:grpSp>
      <p:sp>
        <p:nvSpPr>
          <p:cNvPr id="25" name="TextBox 25"/>
          <p:cNvSpPr txBox="1"/>
          <p:nvPr/>
        </p:nvSpPr>
        <p:spPr>
          <a:xfrm>
            <a:off x="6618065" y="5563362"/>
            <a:ext cx="9107710" cy="342900"/>
          </a:xfrm>
          <a:prstGeom prst="rect">
            <a:avLst/>
          </a:prstGeom>
        </p:spPr>
        <p:txBody>
          <a:bodyPr lIns="0" tIns="0" rIns="0" bIns="0" rtlCol="0" anchor="t">
            <a:spAutoFit/>
          </a:bodyPr>
          <a:lstStyle/>
          <a:p>
            <a:pPr algn="l">
              <a:lnSpc>
                <a:spcPts val="2520"/>
              </a:lnSpc>
            </a:pPr>
            <a:r>
              <a:rPr lang="en-US" sz="1800" b="1">
                <a:solidFill>
                  <a:srgbClr val="EEF0FF"/>
                </a:solidFill>
                <a:latin typeface="IBM Plex Sans Medium"/>
                <a:ea typeface="IBM Plex Sans Medium"/>
                <a:cs typeface="IBM Plex Sans Medium"/>
                <a:sym typeface="IBM Plex Sans Medium"/>
              </a:rPr>
              <a:t>Interview mode</a:t>
            </a:r>
          </a:p>
        </p:txBody>
      </p:sp>
      <p:sp>
        <p:nvSpPr>
          <p:cNvPr id="26" name="TextBox 26"/>
          <p:cNvSpPr txBox="1"/>
          <p:nvPr/>
        </p:nvSpPr>
        <p:spPr>
          <a:xfrm>
            <a:off x="6618065" y="5925312"/>
            <a:ext cx="9107710" cy="323850"/>
          </a:xfrm>
          <a:prstGeom prst="rect">
            <a:avLst/>
          </a:prstGeom>
        </p:spPr>
        <p:txBody>
          <a:bodyPr lIns="0" tIns="0" rIns="0" bIns="0" rtlCol="0" anchor="t">
            <a:spAutoFit/>
          </a:bodyPr>
          <a:lstStyle/>
          <a:p>
            <a:pPr algn="l">
              <a:lnSpc>
                <a:spcPts val="2250"/>
              </a:lnSpc>
            </a:pPr>
            <a:r>
              <a:rPr lang="en-US" sz="1500">
                <a:solidFill>
                  <a:srgbClr val="A6ABCE"/>
                </a:solidFill>
                <a:latin typeface="IBM Plex Sans"/>
                <a:ea typeface="IBM Plex Sans"/>
                <a:cs typeface="IBM Plex Sans"/>
                <a:sym typeface="IBM Plex Sans"/>
              </a:rPr>
              <a:t>Face emotion and voice emotion combine into a live deception gauge plus a face–voice mismatch indicator.</a:t>
            </a:r>
          </a:p>
        </p:txBody>
      </p:sp>
      <p:grpSp>
        <p:nvGrpSpPr>
          <p:cNvPr id="27" name="Group 27"/>
          <p:cNvGrpSpPr/>
          <p:nvPr/>
        </p:nvGrpSpPr>
        <p:grpSpPr>
          <a:xfrm>
            <a:off x="4438650" y="6715887"/>
            <a:ext cx="4152900" cy="933450"/>
            <a:chOff x="0" y="0"/>
            <a:chExt cx="5537200" cy="1244600"/>
          </a:xfrm>
        </p:grpSpPr>
        <p:sp>
          <p:nvSpPr>
            <p:cNvPr id="28" name="Freeform 28"/>
            <p:cNvSpPr/>
            <p:nvPr/>
          </p:nvSpPr>
          <p:spPr>
            <a:xfrm>
              <a:off x="0" y="0"/>
              <a:ext cx="5537200" cy="1244600"/>
            </a:xfrm>
            <a:custGeom>
              <a:avLst/>
              <a:gdLst/>
              <a:ahLst/>
              <a:cxnLst/>
              <a:rect l="l" t="t" r="r" b="b"/>
              <a:pathLst>
                <a:path w="5537200" h="1244600">
                  <a:moveTo>
                    <a:pt x="203200" y="0"/>
                  </a:moveTo>
                  <a:lnTo>
                    <a:pt x="5334000" y="0"/>
                  </a:lnTo>
                  <a:cubicBezTo>
                    <a:pt x="5446268" y="0"/>
                    <a:pt x="5537200" y="90932"/>
                    <a:pt x="5537200" y="203200"/>
                  </a:cubicBezTo>
                  <a:lnTo>
                    <a:pt x="5537200" y="1041400"/>
                  </a:lnTo>
                  <a:cubicBezTo>
                    <a:pt x="5537200" y="1153668"/>
                    <a:pt x="5446268" y="1244600"/>
                    <a:pt x="5334000" y="1244600"/>
                  </a:cubicBezTo>
                  <a:lnTo>
                    <a:pt x="203200" y="1244600"/>
                  </a:lnTo>
                  <a:cubicBezTo>
                    <a:pt x="90932" y="1244600"/>
                    <a:pt x="0" y="1153668"/>
                    <a:pt x="0" y="1041400"/>
                  </a:cubicBezTo>
                  <a:lnTo>
                    <a:pt x="0" y="203200"/>
                  </a:lnTo>
                  <a:cubicBezTo>
                    <a:pt x="0" y="90932"/>
                    <a:pt x="90932" y="0"/>
                    <a:pt x="203200" y="0"/>
                  </a:cubicBezTo>
                  <a:close/>
                </a:path>
              </a:pathLst>
            </a:custGeom>
            <a:solidFill>
              <a:srgbClr val="1E2347"/>
            </a:solidFill>
          </p:spPr>
          <p:txBody>
            <a:bodyPr/>
            <a:lstStyle/>
            <a:p>
              <a:endParaRPr lang="ko-KR" altLang="en-US"/>
            </a:p>
          </p:txBody>
        </p:sp>
      </p:grpSp>
      <p:sp>
        <p:nvSpPr>
          <p:cNvPr id="29" name="AutoShape 29"/>
          <p:cNvSpPr/>
          <p:nvPr/>
        </p:nvSpPr>
        <p:spPr>
          <a:xfrm>
            <a:off x="4438650" y="6715887"/>
            <a:ext cx="4152900" cy="9525"/>
          </a:xfrm>
          <a:prstGeom prst="rect">
            <a:avLst/>
          </a:prstGeom>
          <a:solidFill>
            <a:srgbClr val="FFFFFF">
              <a:alpha val="15686"/>
            </a:srgbClr>
          </a:solidFill>
        </p:spPr>
        <p:txBody>
          <a:bodyPr/>
          <a:lstStyle/>
          <a:p>
            <a:endParaRPr lang="ko-KR" altLang="en-US"/>
          </a:p>
        </p:txBody>
      </p:sp>
      <p:sp>
        <p:nvSpPr>
          <p:cNvPr id="30" name="AutoShape 30"/>
          <p:cNvSpPr/>
          <p:nvPr/>
        </p:nvSpPr>
        <p:spPr>
          <a:xfrm>
            <a:off x="8582025" y="6725412"/>
            <a:ext cx="9525" cy="914400"/>
          </a:xfrm>
          <a:prstGeom prst="rect">
            <a:avLst/>
          </a:prstGeom>
          <a:solidFill>
            <a:srgbClr val="FFFFFF">
              <a:alpha val="15686"/>
            </a:srgbClr>
          </a:solidFill>
        </p:spPr>
        <p:txBody>
          <a:bodyPr/>
          <a:lstStyle/>
          <a:p>
            <a:endParaRPr lang="ko-KR" altLang="en-US"/>
          </a:p>
        </p:txBody>
      </p:sp>
      <p:sp>
        <p:nvSpPr>
          <p:cNvPr id="31" name="AutoShape 31"/>
          <p:cNvSpPr/>
          <p:nvPr/>
        </p:nvSpPr>
        <p:spPr>
          <a:xfrm>
            <a:off x="4438650" y="7639812"/>
            <a:ext cx="4152900" cy="9525"/>
          </a:xfrm>
          <a:prstGeom prst="rect">
            <a:avLst/>
          </a:prstGeom>
          <a:solidFill>
            <a:srgbClr val="FFFFFF">
              <a:alpha val="15686"/>
            </a:srgbClr>
          </a:solidFill>
        </p:spPr>
        <p:txBody>
          <a:bodyPr/>
          <a:lstStyle/>
          <a:p>
            <a:endParaRPr lang="ko-KR" altLang="en-US"/>
          </a:p>
        </p:txBody>
      </p:sp>
      <p:sp>
        <p:nvSpPr>
          <p:cNvPr id="32" name="AutoShape 32"/>
          <p:cNvSpPr/>
          <p:nvPr/>
        </p:nvSpPr>
        <p:spPr>
          <a:xfrm>
            <a:off x="4438650" y="6725412"/>
            <a:ext cx="9525" cy="914400"/>
          </a:xfrm>
          <a:prstGeom prst="rect">
            <a:avLst/>
          </a:prstGeom>
          <a:solidFill>
            <a:srgbClr val="FFFFFF">
              <a:alpha val="15686"/>
            </a:srgbClr>
          </a:solidFill>
        </p:spPr>
        <p:txBody>
          <a:bodyPr/>
          <a:lstStyle/>
          <a:p>
            <a:endParaRPr lang="ko-KR" altLang="en-US"/>
          </a:p>
        </p:txBody>
      </p:sp>
      <p:sp>
        <p:nvSpPr>
          <p:cNvPr id="33" name="TextBox 33"/>
          <p:cNvSpPr txBox="1"/>
          <p:nvPr/>
        </p:nvSpPr>
        <p:spPr>
          <a:xfrm>
            <a:off x="4676775" y="6896862"/>
            <a:ext cx="3676650" cy="209550"/>
          </a:xfrm>
          <a:prstGeom prst="rect">
            <a:avLst/>
          </a:prstGeom>
        </p:spPr>
        <p:txBody>
          <a:bodyPr lIns="0" tIns="0" rIns="0" bIns="0" rtlCol="0" anchor="t">
            <a:spAutoFit/>
          </a:bodyPr>
          <a:lstStyle/>
          <a:p>
            <a:pPr algn="l">
              <a:lnSpc>
                <a:spcPts val="1679"/>
              </a:lnSpc>
            </a:pPr>
            <a:r>
              <a:rPr lang="en-US" sz="1200" spc="75">
                <a:solidFill>
                  <a:srgbClr val="6B7099"/>
                </a:solidFill>
                <a:latin typeface="IBM Plex Mono"/>
                <a:ea typeface="IBM Plex Mono"/>
                <a:cs typeface="IBM Plex Mono"/>
                <a:sym typeface="IBM Plex Mono"/>
              </a:rPr>
              <a:t>LIVE GAUGE</a:t>
            </a:r>
          </a:p>
        </p:txBody>
      </p:sp>
      <p:sp>
        <p:nvSpPr>
          <p:cNvPr id="34" name="TextBox 34"/>
          <p:cNvSpPr txBox="1"/>
          <p:nvPr/>
        </p:nvSpPr>
        <p:spPr>
          <a:xfrm>
            <a:off x="4676775" y="7125462"/>
            <a:ext cx="3676650" cy="323850"/>
          </a:xfrm>
          <a:prstGeom prst="rect">
            <a:avLst/>
          </a:prstGeom>
        </p:spPr>
        <p:txBody>
          <a:bodyPr lIns="0" tIns="0" rIns="0" bIns="0" rtlCol="0" anchor="t">
            <a:spAutoFit/>
          </a:bodyPr>
          <a:lstStyle/>
          <a:p>
            <a:pPr algn="l">
              <a:lnSpc>
                <a:spcPts val="2415"/>
              </a:lnSpc>
            </a:pPr>
            <a:r>
              <a:rPr lang="en-US" sz="1725" b="1">
                <a:solidFill>
                  <a:srgbClr val="FF6B6B"/>
                </a:solidFill>
                <a:latin typeface="IBM Plex Sans Medium"/>
                <a:ea typeface="IBM Plex Sans Medium"/>
                <a:cs typeface="IBM Plex Sans Medium"/>
                <a:sym typeface="IBM Plex Sans Medium"/>
              </a:rPr>
              <a:t>Deception %</a:t>
            </a:r>
          </a:p>
        </p:txBody>
      </p:sp>
      <p:grpSp>
        <p:nvGrpSpPr>
          <p:cNvPr id="35" name="Group 35"/>
          <p:cNvGrpSpPr/>
          <p:nvPr/>
        </p:nvGrpSpPr>
        <p:grpSpPr>
          <a:xfrm>
            <a:off x="8763000" y="6715887"/>
            <a:ext cx="4152900" cy="933450"/>
            <a:chOff x="0" y="0"/>
            <a:chExt cx="5537200" cy="1244600"/>
          </a:xfrm>
        </p:grpSpPr>
        <p:sp>
          <p:nvSpPr>
            <p:cNvPr id="36" name="Freeform 36"/>
            <p:cNvSpPr/>
            <p:nvPr/>
          </p:nvSpPr>
          <p:spPr>
            <a:xfrm>
              <a:off x="0" y="0"/>
              <a:ext cx="5537200" cy="1244600"/>
            </a:xfrm>
            <a:custGeom>
              <a:avLst/>
              <a:gdLst/>
              <a:ahLst/>
              <a:cxnLst/>
              <a:rect l="l" t="t" r="r" b="b"/>
              <a:pathLst>
                <a:path w="5537200" h="1244600">
                  <a:moveTo>
                    <a:pt x="203200" y="0"/>
                  </a:moveTo>
                  <a:lnTo>
                    <a:pt x="5334000" y="0"/>
                  </a:lnTo>
                  <a:cubicBezTo>
                    <a:pt x="5446268" y="0"/>
                    <a:pt x="5537200" y="90932"/>
                    <a:pt x="5537200" y="203200"/>
                  </a:cubicBezTo>
                  <a:lnTo>
                    <a:pt x="5537200" y="1041400"/>
                  </a:lnTo>
                  <a:cubicBezTo>
                    <a:pt x="5537200" y="1153668"/>
                    <a:pt x="5446268" y="1244600"/>
                    <a:pt x="5334000" y="1244600"/>
                  </a:cubicBezTo>
                  <a:lnTo>
                    <a:pt x="203200" y="1244600"/>
                  </a:lnTo>
                  <a:cubicBezTo>
                    <a:pt x="90932" y="1244600"/>
                    <a:pt x="0" y="1153668"/>
                    <a:pt x="0" y="1041400"/>
                  </a:cubicBezTo>
                  <a:lnTo>
                    <a:pt x="0" y="203200"/>
                  </a:lnTo>
                  <a:cubicBezTo>
                    <a:pt x="0" y="90932"/>
                    <a:pt x="90932" y="0"/>
                    <a:pt x="203200" y="0"/>
                  </a:cubicBezTo>
                  <a:close/>
                </a:path>
              </a:pathLst>
            </a:custGeom>
            <a:solidFill>
              <a:srgbClr val="1E2347"/>
            </a:solidFill>
          </p:spPr>
          <p:txBody>
            <a:bodyPr/>
            <a:lstStyle/>
            <a:p>
              <a:endParaRPr lang="ko-KR" altLang="en-US"/>
            </a:p>
          </p:txBody>
        </p:sp>
      </p:grpSp>
      <p:sp>
        <p:nvSpPr>
          <p:cNvPr id="37" name="AutoShape 37"/>
          <p:cNvSpPr/>
          <p:nvPr/>
        </p:nvSpPr>
        <p:spPr>
          <a:xfrm>
            <a:off x="8763000" y="6715887"/>
            <a:ext cx="4152900" cy="9525"/>
          </a:xfrm>
          <a:prstGeom prst="rect">
            <a:avLst/>
          </a:prstGeom>
          <a:solidFill>
            <a:srgbClr val="FFFFFF">
              <a:alpha val="15686"/>
            </a:srgbClr>
          </a:solidFill>
        </p:spPr>
        <p:txBody>
          <a:bodyPr/>
          <a:lstStyle/>
          <a:p>
            <a:endParaRPr lang="ko-KR" altLang="en-US"/>
          </a:p>
        </p:txBody>
      </p:sp>
      <p:sp>
        <p:nvSpPr>
          <p:cNvPr id="38" name="AutoShape 38"/>
          <p:cNvSpPr/>
          <p:nvPr/>
        </p:nvSpPr>
        <p:spPr>
          <a:xfrm>
            <a:off x="12906375" y="6725412"/>
            <a:ext cx="9525" cy="914400"/>
          </a:xfrm>
          <a:prstGeom prst="rect">
            <a:avLst/>
          </a:prstGeom>
          <a:solidFill>
            <a:srgbClr val="FFFFFF">
              <a:alpha val="15686"/>
            </a:srgbClr>
          </a:solidFill>
        </p:spPr>
        <p:txBody>
          <a:bodyPr/>
          <a:lstStyle/>
          <a:p>
            <a:endParaRPr lang="ko-KR" altLang="en-US"/>
          </a:p>
        </p:txBody>
      </p:sp>
      <p:sp>
        <p:nvSpPr>
          <p:cNvPr id="39" name="AutoShape 39"/>
          <p:cNvSpPr/>
          <p:nvPr/>
        </p:nvSpPr>
        <p:spPr>
          <a:xfrm>
            <a:off x="8763000" y="7639812"/>
            <a:ext cx="4152900" cy="9525"/>
          </a:xfrm>
          <a:prstGeom prst="rect">
            <a:avLst/>
          </a:prstGeom>
          <a:solidFill>
            <a:srgbClr val="FFFFFF">
              <a:alpha val="15686"/>
            </a:srgbClr>
          </a:solidFill>
        </p:spPr>
        <p:txBody>
          <a:bodyPr/>
          <a:lstStyle/>
          <a:p>
            <a:endParaRPr lang="ko-KR" altLang="en-US"/>
          </a:p>
        </p:txBody>
      </p:sp>
      <p:sp>
        <p:nvSpPr>
          <p:cNvPr id="40" name="AutoShape 40"/>
          <p:cNvSpPr/>
          <p:nvPr/>
        </p:nvSpPr>
        <p:spPr>
          <a:xfrm>
            <a:off x="8763000" y="6725412"/>
            <a:ext cx="9525" cy="914400"/>
          </a:xfrm>
          <a:prstGeom prst="rect">
            <a:avLst/>
          </a:prstGeom>
          <a:solidFill>
            <a:srgbClr val="FFFFFF">
              <a:alpha val="15686"/>
            </a:srgbClr>
          </a:solidFill>
        </p:spPr>
        <p:txBody>
          <a:bodyPr/>
          <a:lstStyle/>
          <a:p>
            <a:endParaRPr lang="ko-KR" altLang="en-US"/>
          </a:p>
        </p:txBody>
      </p:sp>
      <p:sp>
        <p:nvSpPr>
          <p:cNvPr id="41" name="TextBox 41"/>
          <p:cNvSpPr txBox="1"/>
          <p:nvPr/>
        </p:nvSpPr>
        <p:spPr>
          <a:xfrm>
            <a:off x="9001125" y="6896862"/>
            <a:ext cx="3676650" cy="209550"/>
          </a:xfrm>
          <a:prstGeom prst="rect">
            <a:avLst/>
          </a:prstGeom>
        </p:spPr>
        <p:txBody>
          <a:bodyPr lIns="0" tIns="0" rIns="0" bIns="0" rtlCol="0" anchor="t">
            <a:spAutoFit/>
          </a:bodyPr>
          <a:lstStyle/>
          <a:p>
            <a:pPr algn="l">
              <a:lnSpc>
                <a:spcPts val="1679"/>
              </a:lnSpc>
            </a:pPr>
            <a:r>
              <a:rPr lang="en-US" sz="1200" spc="75">
                <a:solidFill>
                  <a:srgbClr val="6B7099"/>
                </a:solidFill>
                <a:latin typeface="IBM Plex Mono"/>
                <a:ea typeface="IBM Plex Mono"/>
                <a:cs typeface="IBM Plex Mono"/>
                <a:sym typeface="IBM Plex Mono"/>
              </a:rPr>
              <a:t>TELL-TALE</a:t>
            </a:r>
          </a:p>
        </p:txBody>
      </p:sp>
      <p:sp>
        <p:nvSpPr>
          <p:cNvPr id="42" name="TextBox 42"/>
          <p:cNvSpPr txBox="1"/>
          <p:nvPr/>
        </p:nvSpPr>
        <p:spPr>
          <a:xfrm>
            <a:off x="9001125" y="7125462"/>
            <a:ext cx="3676650" cy="323850"/>
          </a:xfrm>
          <a:prstGeom prst="rect">
            <a:avLst/>
          </a:prstGeom>
        </p:spPr>
        <p:txBody>
          <a:bodyPr lIns="0" tIns="0" rIns="0" bIns="0" rtlCol="0" anchor="t">
            <a:spAutoFit/>
          </a:bodyPr>
          <a:lstStyle/>
          <a:p>
            <a:pPr algn="l">
              <a:lnSpc>
                <a:spcPts val="2415"/>
              </a:lnSpc>
            </a:pPr>
            <a:r>
              <a:rPr lang="en-US" sz="1725" b="1">
                <a:solidFill>
                  <a:srgbClr val="EEF0FF"/>
                </a:solidFill>
                <a:latin typeface="IBM Plex Sans Medium"/>
                <a:ea typeface="IBM Plex Sans Medium"/>
                <a:cs typeface="IBM Plex Sans Medium"/>
                <a:sym typeface="IBM Plex Sans Medium"/>
              </a:rPr>
              <a:t>Face–Voice mismatch</a:t>
            </a:r>
          </a:p>
        </p:txBody>
      </p:sp>
      <p:grpSp>
        <p:nvGrpSpPr>
          <p:cNvPr id="43" name="Group 43"/>
          <p:cNvGrpSpPr/>
          <p:nvPr/>
        </p:nvGrpSpPr>
        <p:grpSpPr>
          <a:xfrm>
            <a:off x="13087350" y="6715887"/>
            <a:ext cx="4152900" cy="933450"/>
            <a:chOff x="0" y="0"/>
            <a:chExt cx="5537200" cy="1244600"/>
          </a:xfrm>
        </p:grpSpPr>
        <p:sp>
          <p:nvSpPr>
            <p:cNvPr id="44" name="Freeform 44"/>
            <p:cNvSpPr/>
            <p:nvPr/>
          </p:nvSpPr>
          <p:spPr>
            <a:xfrm>
              <a:off x="0" y="0"/>
              <a:ext cx="5537200" cy="1244600"/>
            </a:xfrm>
            <a:custGeom>
              <a:avLst/>
              <a:gdLst/>
              <a:ahLst/>
              <a:cxnLst/>
              <a:rect l="l" t="t" r="r" b="b"/>
              <a:pathLst>
                <a:path w="5537200" h="1244600">
                  <a:moveTo>
                    <a:pt x="203200" y="0"/>
                  </a:moveTo>
                  <a:lnTo>
                    <a:pt x="5334000" y="0"/>
                  </a:lnTo>
                  <a:cubicBezTo>
                    <a:pt x="5446268" y="0"/>
                    <a:pt x="5537200" y="90932"/>
                    <a:pt x="5537200" y="203200"/>
                  </a:cubicBezTo>
                  <a:lnTo>
                    <a:pt x="5537200" y="1041400"/>
                  </a:lnTo>
                  <a:cubicBezTo>
                    <a:pt x="5537200" y="1153668"/>
                    <a:pt x="5446268" y="1244600"/>
                    <a:pt x="5334000" y="1244600"/>
                  </a:cubicBezTo>
                  <a:lnTo>
                    <a:pt x="203200" y="1244600"/>
                  </a:lnTo>
                  <a:cubicBezTo>
                    <a:pt x="90932" y="1244600"/>
                    <a:pt x="0" y="1153668"/>
                    <a:pt x="0" y="1041400"/>
                  </a:cubicBezTo>
                  <a:lnTo>
                    <a:pt x="0" y="203200"/>
                  </a:lnTo>
                  <a:cubicBezTo>
                    <a:pt x="0" y="90932"/>
                    <a:pt x="90932" y="0"/>
                    <a:pt x="203200" y="0"/>
                  </a:cubicBezTo>
                  <a:close/>
                </a:path>
              </a:pathLst>
            </a:custGeom>
            <a:solidFill>
              <a:srgbClr val="1E2347"/>
            </a:solidFill>
          </p:spPr>
          <p:txBody>
            <a:bodyPr/>
            <a:lstStyle/>
            <a:p>
              <a:endParaRPr lang="ko-KR" altLang="en-US"/>
            </a:p>
          </p:txBody>
        </p:sp>
      </p:grpSp>
      <p:sp>
        <p:nvSpPr>
          <p:cNvPr id="45" name="AutoShape 45"/>
          <p:cNvSpPr/>
          <p:nvPr/>
        </p:nvSpPr>
        <p:spPr>
          <a:xfrm>
            <a:off x="13087350" y="6715887"/>
            <a:ext cx="4152900" cy="9525"/>
          </a:xfrm>
          <a:prstGeom prst="rect">
            <a:avLst/>
          </a:prstGeom>
          <a:solidFill>
            <a:srgbClr val="FFFFFF">
              <a:alpha val="15686"/>
            </a:srgbClr>
          </a:solidFill>
        </p:spPr>
        <p:txBody>
          <a:bodyPr/>
          <a:lstStyle/>
          <a:p>
            <a:endParaRPr lang="ko-KR" altLang="en-US"/>
          </a:p>
        </p:txBody>
      </p:sp>
      <p:sp>
        <p:nvSpPr>
          <p:cNvPr id="46" name="AutoShape 46"/>
          <p:cNvSpPr/>
          <p:nvPr/>
        </p:nvSpPr>
        <p:spPr>
          <a:xfrm>
            <a:off x="17230725" y="6725412"/>
            <a:ext cx="9525" cy="914400"/>
          </a:xfrm>
          <a:prstGeom prst="rect">
            <a:avLst/>
          </a:prstGeom>
          <a:solidFill>
            <a:srgbClr val="FFFFFF">
              <a:alpha val="15686"/>
            </a:srgbClr>
          </a:solidFill>
        </p:spPr>
        <p:txBody>
          <a:bodyPr/>
          <a:lstStyle/>
          <a:p>
            <a:endParaRPr lang="ko-KR" altLang="en-US"/>
          </a:p>
        </p:txBody>
      </p:sp>
      <p:sp>
        <p:nvSpPr>
          <p:cNvPr id="47" name="AutoShape 47"/>
          <p:cNvSpPr/>
          <p:nvPr/>
        </p:nvSpPr>
        <p:spPr>
          <a:xfrm>
            <a:off x="13087350" y="7639812"/>
            <a:ext cx="4152900" cy="9525"/>
          </a:xfrm>
          <a:prstGeom prst="rect">
            <a:avLst/>
          </a:prstGeom>
          <a:solidFill>
            <a:srgbClr val="FFFFFF">
              <a:alpha val="15686"/>
            </a:srgbClr>
          </a:solidFill>
        </p:spPr>
        <p:txBody>
          <a:bodyPr/>
          <a:lstStyle/>
          <a:p>
            <a:endParaRPr lang="ko-KR" altLang="en-US"/>
          </a:p>
        </p:txBody>
      </p:sp>
      <p:sp>
        <p:nvSpPr>
          <p:cNvPr id="48" name="AutoShape 48"/>
          <p:cNvSpPr/>
          <p:nvPr/>
        </p:nvSpPr>
        <p:spPr>
          <a:xfrm>
            <a:off x="13087350" y="6725412"/>
            <a:ext cx="9525" cy="914400"/>
          </a:xfrm>
          <a:prstGeom prst="rect">
            <a:avLst/>
          </a:prstGeom>
          <a:solidFill>
            <a:srgbClr val="FFFFFF">
              <a:alpha val="15686"/>
            </a:srgbClr>
          </a:solidFill>
        </p:spPr>
        <p:txBody>
          <a:bodyPr/>
          <a:lstStyle/>
          <a:p>
            <a:endParaRPr lang="ko-KR" altLang="en-US"/>
          </a:p>
        </p:txBody>
      </p:sp>
      <p:sp>
        <p:nvSpPr>
          <p:cNvPr id="49" name="TextBox 49"/>
          <p:cNvSpPr txBox="1"/>
          <p:nvPr/>
        </p:nvSpPr>
        <p:spPr>
          <a:xfrm>
            <a:off x="13325475" y="6896862"/>
            <a:ext cx="3676650" cy="209550"/>
          </a:xfrm>
          <a:prstGeom prst="rect">
            <a:avLst/>
          </a:prstGeom>
        </p:spPr>
        <p:txBody>
          <a:bodyPr lIns="0" tIns="0" rIns="0" bIns="0" rtlCol="0" anchor="t">
            <a:spAutoFit/>
          </a:bodyPr>
          <a:lstStyle/>
          <a:p>
            <a:pPr algn="l">
              <a:lnSpc>
                <a:spcPts val="1679"/>
              </a:lnSpc>
            </a:pPr>
            <a:r>
              <a:rPr lang="en-US" sz="1200" spc="75">
                <a:solidFill>
                  <a:srgbClr val="6B7099"/>
                </a:solidFill>
                <a:latin typeface="IBM Plex Mono"/>
                <a:ea typeface="IBM Plex Mono"/>
                <a:cs typeface="IBM Plex Mono"/>
                <a:sym typeface="IBM Plex Mono"/>
              </a:rPr>
              <a:t>SURFACE</a:t>
            </a:r>
          </a:p>
        </p:txBody>
      </p:sp>
      <p:sp>
        <p:nvSpPr>
          <p:cNvPr id="50" name="TextBox 50"/>
          <p:cNvSpPr txBox="1"/>
          <p:nvPr/>
        </p:nvSpPr>
        <p:spPr>
          <a:xfrm>
            <a:off x="13325475" y="7125462"/>
            <a:ext cx="3676650" cy="323850"/>
          </a:xfrm>
          <a:prstGeom prst="rect">
            <a:avLst/>
          </a:prstGeom>
        </p:spPr>
        <p:txBody>
          <a:bodyPr lIns="0" tIns="0" rIns="0" bIns="0" rtlCol="0" anchor="t">
            <a:spAutoFit/>
          </a:bodyPr>
          <a:lstStyle/>
          <a:p>
            <a:pPr algn="l">
              <a:lnSpc>
                <a:spcPts val="2415"/>
              </a:lnSpc>
            </a:pPr>
            <a:r>
              <a:rPr lang="en-US" sz="1725" b="1">
                <a:solidFill>
                  <a:srgbClr val="EEF0FF"/>
                </a:solidFill>
                <a:latin typeface="IBM Plex Sans Medium"/>
                <a:ea typeface="IBM Plex Sans Medium"/>
                <a:cs typeface="IBM Plex Sans Medium"/>
                <a:sym typeface="IBM Plex Sans Medium"/>
              </a:rPr>
              <a:t>Emotion + conf.</a:t>
            </a:r>
          </a:p>
        </p:txBody>
      </p:sp>
      <p:sp>
        <p:nvSpPr>
          <p:cNvPr id="51" name="AutoShape 51"/>
          <p:cNvSpPr/>
          <p:nvPr/>
        </p:nvSpPr>
        <p:spPr>
          <a:xfrm>
            <a:off x="1478280" y="885825"/>
            <a:ext cx="438150" cy="19050"/>
          </a:xfrm>
          <a:prstGeom prst="rect">
            <a:avLst/>
          </a:prstGeom>
          <a:solidFill>
            <a:srgbClr val="7C83FF">
              <a:alpha val="69804"/>
            </a:srgbClr>
          </a:solidFill>
        </p:spPr>
        <p:txBody>
          <a:bodyPr/>
          <a:lstStyle/>
          <a:p>
            <a:endParaRPr lang="ko-KR" altLang="en-US"/>
          </a:p>
        </p:txBody>
      </p:sp>
      <p:sp>
        <p:nvSpPr>
          <p:cNvPr id="52" name="TextBox 52"/>
          <p:cNvSpPr txBox="1"/>
          <p:nvPr/>
        </p:nvSpPr>
        <p:spPr>
          <a:xfrm>
            <a:off x="16939165" y="9563100"/>
            <a:ext cx="43443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2999" y="885825"/>
            <a:ext cx="438149"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06</a:t>
            </a:r>
          </a:p>
        </p:txBody>
      </p:sp>
      <p:sp>
        <p:nvSpPr>
          <p:cNvPr id="4" name="TextBox 4"/>
          <p:cNvSpPr txBox="1"/>
          <p:nvPr/>
        </p:nvSpPr>
        <p:spPr>
          <a:xfrm>
            <a:off x="2145030" y="885825"/>
            <a:ext cx="4665345"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APP FUNCTIONALITY · INFERENCE</a:t>
            </a:r>
          </a:p>
        </p:txBody>
      </p:sp>
      <p:sp>
        <p:nvSpPr>
          <p:cNvPr id="5" name="TextBox 5"/>
          <p:cNvSpPr txBox="1"/>
          <p:nvPr/>
        </p:nvSpPr>
        <p:spPr>
          <a:xfrm>
            <a:off x="1143000" y="1447800"/>
            <a:ext cx="16002000" cy="477774"/>
          </a:xfrm>
          <a:prstGeom prst="rect">
            <a:avLst/>
          </a:prstGeom>
        </p:spPr>
        <p:txBody>
          <a:bodyPr lIns="0" tIns="0" rIns="0" bIns="0" rtlCol="0" anchor="t">
            <a:spAutoFit/>
          </a:bodyPr>
          <a:lstStyle/>
          <a:p>
            <a:pPr algn="l">
              <a:lnSpc>
                <a:spcPts val="4212"/>
              </a:lnSpc>
            </a:pPr>
            <a:r>
              <a:rPr lang="en-US" sz="4050" b="1" spc="-121">
                <a:solidFill>
                  <a:srgbClr val="EEF0FF"/>
                </a:solidFill>
                <a:latin typeface="IBM Plex Sans Bold"/>
                <a:ea typeface="IBM Plex Sans Bold"/>
                <a:cs typeface="IBM Plex Sans Bold"/>
                <a:sym typeface="IBM Plex Sans Bold"/>
              </a:rPr>
              <a:t>Sliding window &amp; fingertip PPG lock</a:t>
            </a:r>
          </a:p>
        </p:txBody>
      </p:sp>
      <p:grpSp>
        <p:nvGrpSpPr>
          <p:cNvPr id="6" name="Group 6"/>
          <p:cNvGrpSpPr/>
          <p:nvPr/>
        </p:nvGrpSpPr>
        <p:grpSpPr>
          <a:xfrm>
            <a:off x="1143000" y="2325624"/>
            <a:ext cx="7810500" cy="7046976"/>
            <a:chOff x="0" y="0"/>
            <a:chExt cx="10414000" cy="9395968"/>
          </a:xfrm>
        </p:grpSpPr>
        <p:sp>
          <p:nvSpPr>
            <p:cNvPr id="7" name="Freeform 7"/>
            <p:cNvSpPr/>
            <p:nvPr/>
          </p:nvSpPr>
          <p:spPr>
            <a:xfrm>
              <a:off x="0" y="0"/>
              <a:ext cx="10414000" cy="9395968"/>
            </a:xfrm>
            <a:custGeom>
              <a:avLst/>
              <a:gdLst/>
              <a:ahLst/>
              <a:cxnLst/>
              <a:rect l="l" t="t" r="r" b="b"/>
              <a:pathLst>
                <a:path w="10414000" h="9395968">
                  <a:moveTo>
                    <a:pt x="279400" y="0"/>
                  </a:moveTo>
                  <a:lnTo>
                    <a:pt x="10134600" y="0"/>
                  </a:lnTo>
                  <a:cubicBezTo>
                    <a:pt x="10288905" y="0"/>
                    <a:pt x="10414000" y="125095"/>
                    <a:pt x="10414000" y="279400"/>
                  </a:cubicBezTo>
                  <a:lnTo>
                    <a:pt x="10414000" y="9116568"/>
                  </a:lnTo>
                  <a:cubicBezTo>
                    <a:pt x="10414000" y="9270874"/>
                    <a:pt x="10288905" y="9395968"/>
                    <a:pt x="10134600" y="9395968"/>
                  </a:cubicBezTo>
                  <a:lnTo>
                    <a:pt x="279400" y="9395968"/>
                  </a:lnTo>
                  <a:cubicBezTo>
                    <a:pt x="125095" y="9395968"/>
                    <a:pt x="0" y="9270874"/>
                    <a:pt x="0" y="9116568"/>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8" name="AutoShape 8"/>
          <p:cNvSpPr/>
          <p:nvPr/>
        </p:nvSpPr>
        <p:spPr>
          <a:xfrm>
            <a:off x="1143000" y="2325624"/>
            <a:ext cx="7810500" cy="9525"/>
          </a:xfrm>
          <a:prstGeom prst="rect">
            <a:avLst/>
          </a:prstGeom>
          <a:solidFill>
            <a:srgbClr val="FFFFFF">
              <a:alpha val="7843"/>
            </a:srgbClr>
          </a:solidFill>
        </p:spPr>
        <p:txBody>
          <a:bodyPr/>
          <a:lstStyle/>
          <a:p>
            <a:endParaRPr lang="ko-KR" altLang="en-US"/>
          </a:p>
        </p:txBody>
      </p:sp>
      <p:sp>
        <p:nvSpPr>
          <p:cNvPr id="9" name="AutoShape 9"/>
          <p:cNvSpPr/>
          <p:nvPr/>
        </p:nvSpPr>
        <p:spPr>
          <a:xfrm>
            <a:off x="8943975" y="2335149"/>
            <a:ext cx="9525" cy="7027926"/>
          </a:xfrm>
          <a:prstGeom prst="rect">
            <a:avLst/>
          </a:prstGeom>
          <a:solidFill>
            <a:srgbClr val="FFFFFF">
              <a:alpha val="7843"/>
            </a:srgbClr>
          </a:solidFill>
        </p:spPr>
        <p:txBody>
          <a:bodyPr/>
          <a:lstStyle/>
          <a:p>
            <a:endParaRPr lang="ko-KR" altLang="en-US"/>
          </a:p>
        </p:txBody>
      </p:sp>
      <p:sp>
        <p:nvSpPr>
          <p:cNvPr id="10" name="AutoShape 10"/>
          <p:cNvSpPr/>
          <p:nvPr/>
        </p:nvSpPr>
        <p:spPr>
          <a:xfrm>
            <a:off x="1143000" y="9363075"/>
            <a:ext cx="7810500" cy="9525"/>
          </a:xfrm>
          <a:prstGeom prst="rect">
            <a:avLst/>
          </a:prstGeom>
          <a:solidFill>
            <a:srgbClr val="FFFFFF">
              <a:alpha val="7843"/>
            </a:srgbClr>
          </a:solidFill>
        </p:spPr>
        <p:txBody>
          <a:bodyPr/>
          <a:lstStyle/>
          <a:p>
            <a:endParaRPr lang="ko-KR" altLang="en-US"/>
          </a:p>
        </p:txBody>
      </p:sp>
      <p:sp>
        <p:nvSpPr>
          <p:cNvPr id="11" name="AutoShape 11"/>
          <p:cNvSpPr/>
          <p:nvPr/>
        </p:nvSpPr>
        <p:spPr>
          <a:xfrm>
            <a:off x="1143000" y="2335149"/>
            <a:ext cx="9525" cy="7027926"/>
          </a:xfrm>
          <a:prstGeom prst="rect">
            <a:avLst/>
          </a:prstGeom>
          <a:solidFill>
            <a:srgbClr val="FFFFFF">
              <a:alpha val="7843"/>
            </a:srgbClr>
          </a:solidFill>
        </p:spPr>
        <p:txBody>
          <a:bodyPr/>
          <a:lstStyle/>
          <a:p>
            <a:endParaRPr lang="ko-KR" altLang="en-US"/>
          </a:p>
        </p:txBody>
      </p:sp>
      <p:sp>
        <p:nvSpPr>
          <p:cNvPr id="12" name="TextBox 12"/>
          <p:cNvSpPr txBox="1"/>
          <p:nvPr/>
        </p:nvSpPr>
        <p:spPr>
          <a:xfrm>
            <a:off x="1476375" y="2620899"/>
            <a:ext cx="7143750"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Sliding-window inference</a:t>
            </a:r>
          </a:p>
        </p:txBody>
      </p:sp>
      <p:sp>
        <p:nvSpPr>
          <p:cNvPr id="13" name="TextBox 13"/>
          <p:cNvSpPr txBox="1"/>
          <p:nvPr/>
        </p:nvSpPr>
        <p:spPr>
          <a:xfrm>
            <a:off x="1476375" y="3125724"/>
            <a:ext cx="7143750" cy="568643"/>
          </a:xfrm>
          <a:prstGeom prst="rect">
            <a:avLst/>
          </a:prstGeom>
        </p:spPr>
        <p:txBody>
          <a:bodyPr lIns="0" tIns="0" rIns="0" bIns="0" rtlCol="0" anchor="t">
            <a:spAutoFit/>
          </a:bodyPr>
          <a:lstStyle/>
          <a:p>
            <a:pPr algn="l">
              <a:lnSpc>
                <a:spcPts val="2362"/>
              </a:lnSpc>
            </a:pPr>
            <a:r>
              <a:rPr lang="en-US" sz="1575">
                <a:solidFill>
                  <a:srgbClr val="A6ABCE"/>
                </a:solidFill>
                <a:latin typeface="IBM Plex Sans"/>
                <a:ea typeface="IBM Plex Sans"/>
                <a:cs typeface="IBM Plex Sans"/>
                <a:sym typeface="IBM Plex Sans"/>
              </a:rPr>
              <a:t>Continuous signals are sliced into overlapping windows, so a verdict updates every step instead of waiting for the clip to end.</a:t>
            </a:r>
          </a:p>
        </p:txBody>
      </p:sp>
      <p:grpSp>
        <p:nvGrpSpPr>
          <p:cNvPr id="14" name="Group 14"/>
          <p:cNvGrpSpPr/>
          <p:nvPr/>
        </p:nvGrpSpPr>
        <p:grpSpPr>
          <a:xfrm>
            <a:off x="9334500" y="2325624"/>
            <a:ext cx="7810500" cy="7046976"/>
            <a:chOff x="0" y="0"/>
            <a:chExt cx="10414000" cy="9395968"/>
          </a:xfrm>
        </p:grpSpPr>
        <p:sp>
          <p:nvSpPr>
            <p:cNvPr id="15" name="Freeform 15"/>
            <p:cNvSpPr/>
            <p:nvPr/>
          </p:nvSpPr>
          <p:spPr>
            <a:xfrm>
              <a:off x="0" y="0"/>
              <a:ext cx="10414000" cy="9395968"/>
            </a:xfrm>
            <a:custGeom>
              <a:avLst/>
              <a:gdLst/>
              <a:ahLst/>
              <a:cxnLst/>
              <a:rect l="l" t="t" r="r" b="b"/>
              <a:pathLst>
                <a:path w="10414000" h="9395968">
                  <a:moveTo>
                    <a:pt x="279400" y="0"/>
                  </a:moveTo>
                  <a:lnTo>
                    <a:pt x="10134600" y="0"/>
                  </a:lnTo>
                  <a:cubicBezTo>
                    <a:pt x="10288905" y="0"/>
                    <a:pt x="10414000" y="125095"/>
                    <a:pt x="10414000" y="279400"/>
                  </a:cubicBezTo>
                  <a:lnTo>
                    <a:pt x="10414000" y="9116568"/>
                  </a:lnTo>
                  <a:cubicBezTo>
                    <a:pt x="10414000" y="9270874"/>
                    <a:pt x="10288905" y="9395968"/>
                    <a:pt x="10134600" y="9395968"/>
                  </a:cubicBezTo>
                  <a:lnTo>
                    <a:pt x="279400" y="9395968"/>
                  </a:lnTo>
                  <a:cubicBezTo>
                    <a:pt x="125095" y="9395968"/>
                    <a:pt x="0" y="9270874"/>
                    <a:pt x="0" y="9116568"/>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16" name="AutoShape 16"/>
          <p:cNvSpPr/>
          <p:nvPr/>
        </p:nvSpPr>
        <p:spPr>
          <a:xfrm>
            <a:off x="9334500" y="2325624"/>
            <a:ext cx="7810500" cy="9525"/>
          </a:xfrm>
          <a:prstGeom prst="rect">
            <a:avLst/>
          </a:prstGeom>
          <a:solidFill>
            <a:srgbClr val="FFFFFF">
              <a:alpha val="7843"/>
            </a:srgbClr>
          </a:solidFill>
        </p:spPr>
        <p:txBody>
          <a:bodyPr/>
          <a:lstStyle/>
          <a:p>
            <a:endParaRPr lang="ko-KR" altLang="en-US"/>
          </a:p>
        </p:txBody>
      </p:sp>
      <p:sp>
        <p:nvSpPr>
          <p:cNvPr id="17" name="AutoShape 17"/>
          <p:cNvSpPr/>
          <p:nvPr/>
        </p:nvSpPr>
        <p:spPr>
          <a:xfrm>
            <a:off x="17135475" y="2335149"/>
            <a:ext cx="9525" cy="7027926"/>
          </a:xfrm>
          <a:prstGeom prst="rect">
            <a:avLst/>
          </a:prstGeom>
          <a:solidFill>
            <a:srgbClr val="FFFFFF">
              <a:alpha val="7843"/>
            </a:srgbClr>
          </a:solidFill>
        </p:spPr>
        <p:txBody>
          <a:bodyPr/>
          <a:lstStyle/>
          <a:p>
            <a:endParaRPr lang="ko-KR" altLang="en-US"/>
          </a:p>
        </p:txBody>
      </p:sp>
      <p:sp>
        <p:nvSpPr>
          <p:cNvPr id="18" name="AutoShape 18"/>
          <p:cNvSpPr/>
          <p:nvPr/>
        </p:nvSpPr>
        <p:spPr>
          <a:xfrm>
            <a:off x="9334500" y="9363075"/>
            <a:ext cx="7810500" cy="9525"/>
          </a:xfrm>
          <a:prstGeom prst="rect">
            <a:avLst/>
          </a:prstGeom>
          <a:solidFill>
            <a:srgbClr val="FFFFFF">
              <a:alpha val="7843"/>
            </a:srgbClr>
          </a:solidFill>
        </p:spPr>
        <p:txBody>
          <a:bodyPr/>
          <a:lstStyle/>
          <a:p>
            <a:endParaRPr lang="ko-KR" altLang="en-US"/>
          </a:p>
        </p:txBody>
      </p:sp>
      <p:sp>
        <p:nvSpPr>
          <p:cNvPr id="19" name="AutoShape 19"/>
          <p:cNvSpPr/>
          <p:nvPr/>
        </p:nvSpPr>
        <p:spPr>
          <a:xfrm>
            <a:off x="9334500" y="2335149"/>
            <a:ext cx="9525" cy="7027926"/>
          </a:xfrm>
          <a:prstGeom prst="rect">
            <a:avLst/>
          </a:prstGeom>
          <a:solidFill>
            <a:srgbClr val="FFFFFF">
              <a:alpha val="7843"/>
            </a:srgbClr>
          </a:solidFill>
        </p:spPr>
        <p:txBody>
          <a:bodyPr/>
          <a:lstStyle/>
          <a:p>
            <a:endParaRPr lang="ko-KR" altLang="en-US"/>
          </a:p>
        </p:txBody>
      </p:sp>
      <p:sp>
        <p:nvSpPr>
          <p:cNvPr id="20" name="TextBox 20"/>
          <p:cNvSpPr txBox="1"/>
          <p:nvPr/>
        </p:nvSpPr>
        <p:spPr>
          <a:xfrm>
            <a:off x="9667875" y="2620899"/>
            <a:ext cx="7143750" cy="409575"/>
          </a:xfrm>
          <a:prstGeom prst="rect">
            <a:avLst/>
          </a:prstGeom>
        </p:spPr>
        <p:txBody>
          <a:bodyPr lIns="0" tIns="0" rIns="0" bIns="0" rtlCol="0" anchor="t">
            <a:spAutoFit/>
          </a:bodyPr>
          <a:lstStyle/>
          <a:p>
            <a:pPr algn="l">
              <a:lnSpc>
                <a:spcPts val="3149"/>
              </a:lnSpc>
            </a:pPr>
            <a:r>
              <a:rPr lang="en-US" sz="2250" b="1" spc="-29">
                <a:solidFill>
                  <a:srgbClr val="EEF0FF"/>
                </a:solidFill>
                <a:latin typeface="IBM Plex Sans Bold"/>
                <a:ea typeface="IBM Plex Sans Bold"/>
                <a:cs typeface="IBM Plex Sans Bold"/>
                <a:sym typeface="IBM Plex Sans Bold"/>
              </a:rPr>
              <a:t>Fingertip PPG lock policy</a:t>
            </a:r>
          </a:p>
        </p:txBody>
      </p:sp>
      <p:sp>
        <p:nvSpPr>
          <p:cNvPr id="21" name="TextBox 21"/>
          <p:cNvSpPr txBox="1"/>
          <p:nvPr/>
        </p:nvSpPr>
        <p:spPr>
          <a:xfrm>
            <a:off x="9667875" y="3125724"/>
            <a:ext cx="7143750" cy="638175"/>
          </a:xfrm>
          <a:prstGeom prst="rect">
            <a:avLst/>
          </a:prstGeom>
        </p:spPr>
        <p:txBody>
          <a:bodyPr lIns="0" tIns="0" rIns="0" bIns="0" rtlCol="0" anchor="t">
            <a:spAutoFit/>
          </a:bodyPr>
          <a:lstStyle/>
          <a:p>
            <a:pPr algn="l">
              <a:lnSpc>
                <a:spcPts val="2362"/>
              </a:lnSpc>
            </a:pPr>
            <a:r>
              <a:rPr lang="en-US" sz="1575">
                <a:solidFill>
                  <a:srgbClr val="A6ABCE"/>
                </a:solidFill>
                <a:latin typeface="IBM Plex Sans"/>
                <a:ea typeface="IBM Plex Sans"/>
                <a:cs typeface="IBM Plex Sans"/>
                <a:sym typeface="IBM Plex Sans"/>
              </a:rPr>
              <a:t>A policy gates </a:t>
            </a:r>
            <a:r>
              <a:rPr lang="en-US" sz="1575">
                <a:solidFill>
                  <a:srgbClr val="9AA0FF"/>
                </a:solidFill>
                <a:latin typeface="IBM Plex Sans"/>
                <a:ea typeface="IBM Plex Sans"/>
                <a:cs typeface="IBM Plex Sans"/>
                <a:sym typeface="IBM Plex Sans"/>
              </a:rPr>
              <a:t>when</a:t>
            </a:r>
            <a:r>
              <a:rPr lang="en-US" sz="1575">
                <a:solidFill>
                  <a:srgbClr val="A6ABCE"/>
                </a:solidFill>
                <a:latin typeface="IBM Plex Sans"/>
                <a:ea typeface="IBM Plex Sans"/>
                <a:cs typeface="IBM Plex Sans"/>
                <a:sym typeface="IBM Plex Sans"/>
              </a:rPr>
              <a:t> the pulse is sampled — only while the fingertip covers the lens and the red channel is stable.</a:t>
            </a:r>
          </a:p>
        </p:txBody>
      </p:sp>
      <p:grpSp>
        <p:nvGrpSpPr>
          <p:cNvPr id="22" name="Group 22"/>
          <p:cNvGrpSpPr/>
          <p:nvPr/>
        </p:nvGrpSpPr>
        <p:grpSpPr>
          <a:xfrm>
            <a:off x="9667875" y="3992499"/>
            <a:ext cx="572548" cy="360045"/>
            <a:chOff x="0" y="0"/>
            <a:chExt cx="763397" cy="480060"/>
          </a:xfrm>
        </p:grpSpPr>
        <p:sp>
          <p:nvSpPr>
            <p:cNvPr id="23" name="Freeform 23"/>
            <p:cNvSpPr/>
            <p:nvPr/>
          </p:nvSpPr>
          <p:spPr>
            <a:xfrm>
              <a:off x="0" y="0"/>
              <a:ext cx="763397" cy="480060"/>
            </a:xfrm>
            <a:custGeom>
              <a:avLst/>
              <a:gdLst/>
              <a:ahLst/>
              <a:cxnLst/>
              <a:rect l="l" t="t" r="r" b="b"/>
              <a:pathLst>
                <a:path w="763397" h="480060">
                  <a:moveTo>
                    <a:pt x="240030" y="0"/>
                  </a:moveTo>
                  <a:lnTo>
                    <a:pt x="523367" y="0"/>
                  </a:lnTo>
                  <a:cubicBezTo>
                    <a:pt x="655955" y="0"/>
                    <a:pt x="763397" y="107442"/>
                    <a:pt x="763397" y="240030"/>
                  </a:cubicBezTo>
                  <a:cubicBezTo>
                    <a:pt x="763397" y="372618"/>
                    <a:pt x="655955" y="480060"/>
                    <a:pt x="523367" y="480060"/>
                  </a:cubicBezTo>
                  <a:lnTo>
                    <a:pt x="240030" y="480060"/>
                  </a:lnTo>
                  <a:cubicBezTo>
                    <a:pt x="107442" y="480060"/>
                    <a:pt x="0" y="372618"/>
                    <a:pt x="0" y="240030"/>
                  </a:cubicBezTo>
                  <a:cubicBezTo>
                    <a:pt x="0" y="107442"/>
                    <a:pt x="107442" y="0"/>
                    <a:pt x="240030" y="0"/>
                  </a:cubicBezTo>
                  <a:close/>
                </a:path>
              </a:pathLst>
            </a:custGeom>
            <a:solidFill>
              <a:srgbClr val="34D39E">
                <a:alpha val="1569"/>
              </a:srgbClr>
            </a:solidFill>
          </p:spPr>
          <p:txBody>
            <a:bodyPr/>
            <a:lstStyle/>
            <a:p>
              <a:endParaRPr lang="ko-KR" altLang="en-US"/>
            </a:p>
          </p:txBody>
        </p:sp>
      </p:grpSp>
      <p:grpSp>
        <p:nvGrpSpPr>
          <p:cNvPr id="24" name="Group 24"/>
          <p:cNvGrpSpPr/>
          <p:nvPr/>
        </p:nvGrpSpPr>
        <p:grpSpPr>
          <a:xfrm>
            <a:off x="9667875" y="4523899"/>
            <a:ext cx="674465" cy="360045"/>
            <a:chOff x="0" y="0"/>
            <a:chExt cx="899287" cy="480060"/>
          </a:xfrm>
        </p:grpSpPr>
        <p:sp>
          <p:nvSpPr>
            <p:cNvPr id="25" name="Freeform 25"/>
            <p:cNvSpPr/>
            <p:nvPr/>
          </p:nvSpPr>
          <p:spPr>
            <a:xfrm>
              <a:off x="0" y="0"/>
              <a:ext cx="899287" cy="480060"/>
            </a:xfrm>
            <a:custGeom>
              <a:avLst/>
              <a:gdLst/>
              <a:ahLst/>
              <a:cxnLst/>
              <a:rect l="l" t="t" r="r" b="b"/>
              <a:pathLst>
                <a:path w="899287" h="480060">
                  <a:moveTo>
                    <a:pt x="240030" y="0"/>
                  </a:moveTo>
                  <a:lnTo>
                    <a:pt x="659257" y="0"/>
                  </a:lnTo>
                  <a:cubicBezTo>
                    <a:pt x="791845" y="0"/>
                    <a:pt x="899287" y="107442"/>
                    <a:pt x="899287" y="240030"/>
                  </a:cubicBezTo>
                  <a:cubicBezTo>
                    <a:pt x="899287" y="372618"/>
                    <a:pt x="791845" y="480060"/>
                    <a:pt x="659257" y="480060"/>
                  </a:cubicBezTo>
                  <a:lnTo>
                    <a:pt x="240030" y="480060"/>
                  </a:lnTo>
                  <a:cubicBezTo>
                    <a:pt x="107442" y="480060"/>
                    <a:pt x="0" y="372618"/>
                    <a:pt x="0" y="240030"/>
                  </a:cubicBezTo>
                  <a:cubicBezTo>
                    <a:pt x="0" y="107442"/>
                    <a:pt x="107442" y="0"/>
                    <a:pt x="240030" y="0"/>
                  </a:cubicBezTo>
                  <a:close/>
                </a:path>
              </a:pathLst>
            </a:custGeom>
            <a:solidFill>
              <a:srgbClr val="262C54"/>
            </a:solidFill>
          </p:spPr>
          <p:txBody>
            <a:bodyPr/>
            <a:lstStyle/>
            <a:p>
              <a:endParaRPr lang="ko-KR" altLang="en-US"/>
            </a:p>
          </p:txBody>
        </p:sp>
      </p:grpSp>
      <p:grpSp>
        <p:nvGrpSpPr>
          <p:cNvPr id="26" name="Group 26"/>
          <p:cNvGrpSpPr/>
          <p:nvPr/>
        </p:nvGrpSpPr>
        <p:grpSpPr>
          <a:xfrm>
            <a:off x="9667875" y="5055394"/>
            <a:ext cx="674465" cy="360045"/>
            <a:chOff x="0" y="0"/>
            <a:chExt cx="899287" cy="480060"/>
          </a:xfrm>
        </p:grpSpPr>
        <p:sp>
          <p:nvSpPr>
            <p:cNvPr id="27" name="Freeform 27"/>
            <p:cNvSpPr/>
            <p:nvPr/>
          </p:nvSpPr>
          <p:spPr>
            <a:xfrm>
              <a:off x="0" y="0"/>
              <a:ext cx="899287" cy="480060"/>
            </a:xfrm>
            <a:custGeom>
              <a:avLst/>
              <a:gdLst/>
              <a:ahLst/>
              <a:cxnLst/>
              <a:rect l="l" t="t" r="r" b="b"/>
              <a:pathLst>
                <a:path w="899287" h="480060">
                  <a:moveTo>
                    <a:pt x="240030" y="0"/>
                  </a:moveTo>
                  <a:lnTo>
                    <a:pt x="659257" y="0"/>
                  </a:lnTo>
                  <a:cubicBezTo>
                    <a:pt x="791845" y="0"/>
                    <a:pt x="899287" y="107442"/>
                    <a:pt x="899287" y="240030"/>
                  </a:cubicBezTo>
                  <a:cubicBezTo>
                    <a:pt x="899287" y="372618"/>
                    <a:pt x="791845" y="480060"/>
                    <a:pt x="659257" y="480060"/>
                  </a:cubicBezTo>
                  <a:lnTo>
                    <a:pt x="240030" y="480060"/>
                  </a:lnTo>
                  <a:cubicBezTo>
                    <a:pt x="107442" y="480060"/>
                    <a:pt x="0" y="372618"/>
                    <a:pt x="0" y="240030"/>
                  </a:cubicBezTo>
                  <a:cubicBezTo>
                    <a:pt x="0" y="107442"/>
                    <a:pt x="107442" y="0"/>
                    <a:pt x="240030" y="0"/>
                  </a:cubicBezTo>
                  <a:close/>
                </a:path>
              </a:pathLst>
            </a:custGeom>
            <a:solidFill>
              <a:srgbClr val="FF6B6B">
                <a:alpha val="1569"/>
              </a:srgbClr>
            </a:solidFill>
          </p:spPr>
          <p:txBody>
            <a:bodyPr/>
            <a:lstStyle/>
            <a:p>
              <a:endParaRPr lang="ko-KR" altLang="en-US"/>
            </a:p>
          </p:txBody>
        </p:sp>
      </p:grpSp>
      <p:sp>
        <p:nvSpPr>
          <p:cNvPr id="28" name="TextBox 28"/>
          <p:cNvSpPr txBox="1"/>
          <p:nvPr/>
        </p:nvSpPr>
        <p:spPr>
          <a:xfrm>
            <a:off x="9725025" y="4004786"/>
            <a:ext cx="7143750" cy="1369695"/>
          </a:xfrm>
          <a:prstGeom prst="rect">
            <a:avLst/>
          </a:prstGeom>
        </p:spPr>
        <p:txBody>
          <a:bodyPr lIns="0" tIns="0" rIns="0" bIns="0" rtlCol="0" anchor="t">
            <a:spAutoFit/>
          </a:bodyPr>
          <a:lstStyle/>
          <a:p>
            <a:pPr algn="l">
              <a:lnSpc>
                <a:spcPts val="2204"/>
              </a:lnSpc>
            </a:pPr>
            <a:r>
              <a:rPr lang="en-US" sz="1575" b="1">
                <a:solidFill>
                  <a:srgbClr val="34D39E"/>
                </a:solidFill>
                <a:latin typeface="IBM Plex Sans Medium"/>
                <a:ea typeface="IBM Plex Sans Medium"/>
                <a:cs typeface="IBM Plex Sans Medium"/>
                <a:sym typeface="IBM Plex Sans Medium"/>
              </a:rPr>
              <a:t>RUN    </a:t>
            </a:r>
            <a:r>
              <a:rPr lang="en-US" sz="1575">
                <a:solidFill>
                  <a:srgbClr val="A6ABCE"/>
                </a:solidFill>
                <a:latin typeface="IBM Plex Sans"/>
                <a:ea typeface="IBM Plex Sans"/>
                <a:cs typeface="IBM Plex Sans"/>
                <a:sym typeface="IBM Plex Sans"/>
              </a:rPr>
              <a:t>Finger covers the lens, red channel stable → sample PPG, refresh BPM.</a:t>
            </a:r>
          </a:p>
          <a:p>
            <a:pPr algn="l">
              <a:lnSpc>
                <a:spcPts val="2204"/>
              </a:lnSpc>
            </a:pPr>
            <a:endParaRPr lang="en-US" sz="1575">
              <a:solidFill>
                <a:srgbClr val="A6ABCE"/>
              </a:solidFill>
              <a:latin typeface="IBM Plex Sans"/>
              <a:ea typeface="IBM Plex Sans"/>
              <a:cs typeface="IBM Plex Sans"/>
              <a:sym typeface="IBM Plex Sans"/>
            </a:endParaRPr>
          </a:p>
          <a:p>
            <a:pPr algn="l">
              <a:lnSpc>
                <a:spcPts val="2204"/>
              </a:lnSpc>
            </a:pPr>
            <a:r>
              <a:rPr lang="en-US" sz="1575" b="1">
                <a:solidFill>
                  <a:srgbClr val="A6ABCE"/>
                </a:solidFill>
                <a:latin typeface="IBM Plex Sans Medium"/>
                <a:ea typeface="IBM Plex Sans Medium"/>
                <a:cs typeface="IBM Plex Sans Medium"/>
                <a:sym typeface="IBM Plex Sans Medium"/>
              </a:rPr>
              <a:t>HOLD   </a:t>
            </a:r>
            <a:r>
              <a:rPr lang="en-US" sz="1575">
                <a:solidFill>
                  <a:srgbClr val="A6ABCE"/>
                </a:solidFill>
                <a:latin typeface="IBM Plex Sans"/>
                <a:ea typeface="IBM Plex Sans"/>
                <a:cs typeface="IBM Plex Sans"/>
                <a:sym typeface="IBM Plex Sans"/>
              </a:rPr>
              <a:t>Finger lifts or signal noisy → reuse last stable BPM.</a:t>
            </a:r>
          </a:p>
          <a:p>
            <a:pPr algn="l">
              <a:lnSpc>
                <a:spcPts val="2204"/>
              </a:lnSpc>
            </a:pPr>
            <a:endParaRPr lang="en-US" sz="1575">
              <a:solidFill>
                <a:srgbClr val="A6ABCE"/>
              </a:solidFill>
              <a:latin typeface="IBM Plex Sans"/>
              <a:ea typeface="IBM Plex Sans"/>
              <a:cs typeface="IBM Plex Sans"/>
              <a:sym typeface="IBM Plex Sans"/>
            </a:endParaRPr>
          </a:p>
          <a:p>
            <a:pPr algn="l">
              <a:lnSpc>
                <a:spcPts val="2204"/>
              </a:lnSpc>
            </a:pPr>
            <a:r>
              <a:rPr lang="en-US" sz="1575" b="1">
                <a:solidFill>
                  <a:srgbClr val="FF6B6B"/>
                </a:solidFill>
                <a:latin typeface="IBM Plex Sans Medium"/>
                <a:ea typeface="IBM Plex Sans Medium"/>
                <a:cs typeface="IBM Plex Sans Medium"/>
                <a:sym typeface="IBM Plex Sans Medium"/>
              </a:rPr>
              <a:t>WARN   </a:t>
            </a:r>
            <a:r>
              <a:rPr lang="en-US" sz="1575">
                <a:solidFill>
                  <a:srgbClr val="A6ABCE"/>
                </a:solidFill>
                <a:latin typeface="IBM Plex Sans"/>
                <a:ea typeface="IBM Plex Sans"/>
                <a:cs typeface="IBM Plex Sans"/>
                <a:sym typeface="IBM Plex Sans"/>
              </a:rPr>
              <a:t>No pulse lock → prompt the user to place a fingertip.</a:t>
            </a:r>
          </a:p>
        </p:txBody>
      </p:sp>
      <p:sp>
        <p:nvSpPr>
          <p:cNvPr id="29" name="AutoShape 29"/>
          <p:cNvSpPr/>
          <p:nvPr/>
        </p:nvSpPr>
        <p:spPr>
          <a:xfrm>
            <a:off x="1573530" y="1038225"/>
            <a:ext cx="438150" cy="19050"/>
          </a:xfrm>
          <a:prstGeom prst="rect">
            <a:avLst/>
          </a:prstGeom>
          <a:solidFill>
            <a:srgbClr val="7C83FF">
              <a:alpha val="69804"/>
            </a:srgbClr>
          </a:solidFill>
        </p:spPr>
        <p:txBody>
          <a:bodyPr/>
          <a:lstStyle/>
          <a:p>
            <a:endParaRPr lang="ko-KR" altLang="en-US"/>
          </a:p>
        </p:txBody>
      </p:sp>
      <p:sp>
        <p:nvSpPr>
          <p:cNvPr id="30" name="TextBox 30"/>
          <p:cNvSpPr txBox="1"/>
          <p:nvPr/>
        </p:nvSpPr>
        <p:spPr>
          <a:xfrm>
            <a:off x="1476375" y="9020175"/>
            <a:ext cx="85916" cy="200025"/>
          </a:xfrm>
          <a:prstGeom prst="rect">
            <a:avLst/>
          </a:prstGeom>
        </p:spPr>
        <p:txBody>
          <a:bodyPr lIns="0" tIns="0" rIns="0" bIns="0" rtlCol="0" anchor="t">
            <a:spAutoFit/>
          </a:bodyPr>
          <a:lstStyle/>
          <a:p>
            <a:pPr algn="l">
              <a:lnSpc>
                <a:spcPts val="1574"/>
              </a:lnSpc>
            </a:pPr>
            <a:r>
              <a:rPr lang="en-US" sz="1125">
                <a:solidFill>
                  <a:srgbClr val="6B7099"/>
                </a:solidFill>
                <a:latin typeface="IBM Plex Mono"/>
                <a:ea typeface="IBM Plex Mono"/>
                <a:cs typeface="IBM Plex Mono"/>
                <a:sym typeface="IBM Plex Mono"/>
              </a:rPr>
              <a:t>t</a:t>
            </a:r>
          </a:p>
        </p:txBody>
      </p:sp>
      <p:sp>
        <p:nvSpPr>
          <p:cNvPr id="31" name="TextBox 31"/>
          <p:cNvSpPr txBox="1"/>
          <p:nvPr/>
        </p:nvSpPr>
        <p:spPr>
          <a:xfrm>
            <a:off x="3782606" y="4673814"/>
            <a:ext cx="1322640" cy="205184"/>
          </a:xfrm>
          <a:prstGeom prst="rect">
            <a:avLst/>
          </a:prstGeom>
        </p:spPr>
        <p:txBody>
          <a:bodyPr wrap="square" lIns="0" tIns="0" rIns="0" bIns="0" rtlCol="0" anchor="t">
            <a:spAutoFit/>
          </a:bodyPr>
          <a:lstStyle/>
          <a:p>
            <a:pPr algn="l">
              <a:lnSpc>
                <a:spcPts val="1574"/>
              </a:lnSpc>
            </a:pPr>
            <a:r>
              <a:rPr lang="en-US" sz="1400">
                <a:solidFill>
                  <a:srgbClr val="6B7099"/>
                </a:solidFill>
                <a:latin typeface="IBM Plex Mono"/>
                <a:ea typeface="IBM Plex Mono"/>
                <a:cs typeface="IBM Plex Mono"/>
                <a:sym typeface="IBM Plex Mono"/>
              </a:rPr>
              <a:t>2.5 s stride </a:t>
            </a:r>
          </a:p>
        </p:txBody>
      </p:sp>
      <p:grpSp>
        <p:nvGrpSpPr>
          <p:cNvPr id="32" name="Group 32"/>
          <p:cNvGrpSpPr/>
          <p:nvPr/>
        </p:nvGrpSpPr>
        <p:grpSpPr>
          <a:xfrm>
            <a:off x="1476375" y="8220075"/>
            <a:ext cx="7143750" cy="38100"/>
            <a:chOff x="0" y="0"/>
            <a:chExt cx="9525000" cy="50800"/>
          </a:xfrm>
        </p:grpSpPr>
        <p:sp>
          <p:nvSpPr>
            <p:cNvPr id="33" name="Freeform 33"/>
            <p:cNvSpPr/>
            <p:nvPr/>
          </p:nvSpPr>
          <p:spPr>
            <a:xfrm>
              <a:off x="0" y="0"/>
              <a:ext cx="9525000" cy="50800"/>
            </a:xfrm>
            <a:custGeom>
              <a:avLst/>
              <a:gdLst/>
              <a:ahLst/>
              <a:cxnLst/>
              <a:rect l="l" t="t" r="r" b="b"/>
              <a:pathLst>
                <a:path w="9525000" h="50800">
                  <a:moveTo>
                    <a:pt x="25400" y="0"/>
                  </a:moveTo>
                  <a:lnTo>
                    <a:pt x="9499600" y="0"/>
                  </a:lnTo>
                  <a:cubicBezTo>
                    <a:pt x="9513570" y="0"/>
                    <a:pt x="9525000" y="11430"/>
                    <a:pt x="9525000" y="25400"/>
                  </a:cubicBezTo>
                  <a:cubicBezTo>
                    <a:pt x="9525000" y="39370"/>
                    <a:pt x="9513570" y="50800"/>
                    <a:pt x="9499600" y="50800"/>
                  </a:cubicBezTo>
                  <a:lnTo>
                    <a:pt x="25400" y="50800"/>
                  </a:lnTo>
                  <a:cubicBezTo>
                    <a:pt x="11430" y="50800"/>
                    <a:pt x="0" y="39370"/>
                    <a:pt x="0" y="25400"/>
                  </a:cubicBezTo>
                  <a:cubicBezTo>
                    <a:pt x="0" y="11430"/>
                    <a:pt x="11430" y="0"/>
                    <a:pt x="25400" y="0"/>
                  </a:cubicBezTo>
                  <a:close/>
                </a:path>
              </a:pathLst>
            </a:custGeom>
            <a:solidFill>
              <a:srgbClr val="262C54"/>
            </a:solidFill>
          </p:spPr>
          <p:txBody>
            <a:bodyPr/>
            <a:lstStyle/>
            <a:p>
              <a:endParaRPr lang="ko-KR" altLang="en-US"/>
            </a:p>
          </p:txBody>
        </p:sp>
      </p:grpSp>
      <p:grpSp>
        <p:nvGrpSpPr>
          <p:cNvPr id="34" name="Group 34"/>
          <p:cNvGrpSpPr/>
          <p:nvPr/>
        </p:nvGrpSpPr>
        <p:grpSpPr>
          <a:xfrm>
            <a:off x="2057400" y="4152900"/>
            <a:ext cx="1476379" cy="1537336"/>
            <a:chOff x="0" y="0"/>
            <a:chExt cx="2286000" cy="584200"/>
          </a:xfrm>
        </p:grpSpPr>
        <p:sp>
          <p:nvSpPr>
            <p:cNvPr id="35" name="Freeform 35"/>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7C83FF">
                <a:alpha val="1569"/>
              </a:srgbClr>
            </a:solidFill>
          </p:spPr>
          <p:txBody>
            <a:bodyPr/>
            <a:lstStyle/>
            <a:p>
              <a:endParaRPr lang="ko-KR" altLang="en-US"/>
            </a:p>
          </p:txBody>
        </p:sp>
        <p:sp>
          <p:nvSpPr>
            <p:cNvPr id="36" name="Freeform 36"/>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grpSp>
        <p:nvGrpSpPr>
          <p:cNvPr id="37" name="Group 37"/>
          <p:cNvGrpSpPr/>
          <p:nvPr/>
        </p:nvGrpSpPr>
        <p:grpSpPr>
          <a:xfrm>
            <a:off x="3733800" y="4991100"/>
            <a:ext cx="1476379" cy="1537336"/>
            <a:chOff x="0" y="0"/>
            <a:chExt cx="2286000" cy="584200"/>
          </a:xfrm>
        </p:grpSpPr>
        <p:sp>
          <p:nvSpPr>
            <p:cNvPr id="38" name="Freeform 38"/>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7C83FF">
                <a:alpha val="1569"/>
              </a:srgbClr>
            </a:solidFill>
          </p:spPr>
          <p:txBody>
            <a:bodyPr/>
            <a:lstStyle/>
            <a:p>
              <a:endParaRPr lang="ko-KR" altLang="en-US"/>
            </a:p>
          </p:txBody>
        </p:sp>
        <p:sp>
          <p:nvSpPr>
            <p:cNvPr id="39" name="Freeform 39"/>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grpSp>
        <p:nvGrpSpPr>
          <p:cNvPr id="40" name="Group 40"/>
          <p:cNvGrpSpPr/>
          <p:nvPr/>
        </p:nvGrpSpPr>
        <p:grpSpPr>
          <a:xfrm>
            <a:off x="5334000" y="5905500"/>
            <a:ext cx="1476379" cy="1537336"/>
            <a:chOff x="0" y="0"/>
            <a:chExt cx="2286000" cy="584200"/>
          </a:xfrm>
        </p:grpSpPr>
        <p:sp>
          <p:nvSpPr>
            <p:cNvPr id="41" name="Freeform 41"/>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7C83FF">
                <a:alpha val="1569"/>
              </a:srgbClr>
            </a:solidFill>
          </p:spPr>
          <p:txBody>
            <a:bodyPr/>
            <a:lstStyle/>
            <a:p>
              <a:endParaRPr lang="ko-KR" altLang="en-US"/>
            </a:p>
          </p:txBody>
        </p:sp>
        <p:sp>
          <p:nvSpPr>
            <p:cNvPr id="42" name="Freeform 42"/>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sp>
        <p:nvSpPr>
          <p:cNvPr id="43" name="TextBox 43"/>
          <p:cNvSpPr txBox="1"/>
          <p:nvPr/>
        </p:nvSpPr>
        <p:spPr>
          <a:xfrm>
            <a:off x="16939165" y="9563099"/>
            <a:ext cx="32013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07</a:t>
            </a:r>
          </a:p>
        </p:txBody>
      </p:sp>
      <p:grpSp>
        <p:nvGrpSpPr>
          <p:cNvPr id="44" name="Group 44"/>
          <p:cNvGrpSpPr/>
          <p:nvPr/>
        </p:nvGrpSpPr>
        <p:grpSpPr>
          <a:xfrm>
            <a:off x="7010400" y="6743700"/>
            <a:ext cx="1476379" cy="1537336"/>
            <a:chOff x="0" y="0"/>
            <a:chExt cx="2286000" cy="584200"/>
          </a:xfrm>
        </p:grpSpPr>
        <p:sp>
          <p:nvSpPr>
            <p:cNvPr id="45" name="Freeform 45"/>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7C83FF">
                <a:alpha val="1569"/>
              </a:srgbClr>
            </a:solidFill>
          </p:spPr>
          <p:txBody>
            <a:bodyPr/>
            <a:lstStyle/>
            <a:p>
              <a:endParaRPr lang="ko-KR" altLang="en-US"/>
            </a:p>
          </p:txBody>
        </p:sp>
        <p:sp>
          <p:nvSpPr>
            <p:cNvPr id="46" name="Freeform 46"/>
            <p:cNvSpPr/>
            <p:nvPr/>
          </p:nvSpPr>
          <p:spPr>
            <a:xfrm>
              <a:off x="0" y="0"/>
              <a:ext cx="2286000" cy="584200"/>
            </a:xfrm>
            <a:custGeom>
              <a:avLst/>
              <a:gdLst/>
              <a:ahLst/>
              <a:cxnLst/>
              <a:rect l="l" t="t" r="r" b="b"/>
              <a:pathLst>
                <a:path w="2286000" h="584200">
                  <a:moveTo>
                    <a:pt x="101600" y="0"/>
                  </a:moveTo>
                  <a:lnTo>
                    <a:pt x="2184400" y="0"/>
                  </a:lnTo>
                  <a:cubicBezTo>
                    <a:pt x="2240534" y="0"/>
                    <a:pt x="2286000" y="45466"/>
                    <a:pt x="2286000" y="101600"/>
                  </a:cubicBezTo>
                  <a:lnTo>
                    <a:pt x="2286000" y="482600"/>
                  </a:lnTo>
                  <a:cubicBezTo>
                    <a:pt x="2286000" y="538734"/>
                    <a:pt x="2240534" y="584200"/>
                    <a:pt x="2184400" y="584200"/>
                  </a:cubicBezTo>
                  <a:lnTo>
                    <a:pt x="101600" y="584200"/>
                  </a:lnTo>
                  <a:cubicBezTo>
                    <a:pt x="45466" y="584200"/>
                    <a:pt x="0" y="538734"/>
                    <a:pt x="0" y="482600"/>
                  </a:cubicBezTo>
                  <a:lnTo>
                    <a:pt x="0" y="101600"/>
                  </a:lnTo>
                  <a:cubicBezTo>
                    <a:pt x="0" y="45466"/>
                    <a:pt x="45466" y="0"/>
                    <a:pt x="101600" y="0"/>
                  </a:cubicBezTo>
                  <a:close/>
                </a:path>
              </a:pathLst>
            </a:custGeom>
            <a:solidFill>
              <a:srgbClr val="000000">
                <a:alpha val="0"/>
              </a:srgbClr>
            </a:solidFill>
            <a:ln w="9525" cap="sq">
              <a:solidFill>
                <a:srgbClr val="4F46E5"/>
              </a:solidFill>
              <a:prstDash val="solid"/>
              <a:miter/>
            </a:ln>
          </p:spPr>
          <p:txBody>
            <a:bodyPr/>
            <a:lstStyle/>
            <a:p>
              <a:endParaRPr lang="ko-KR" altLang="en-US"/>
            </a:p>
          </p:txBody>
        </p:sp>
      </p:grpSp>
      <p:cxnSp>
        <p:nvCxnSpPr>
          <p:cNvPr id="48" name="Straight Arrow Connector 47">
            <a:extLst>
              <a:ext uri="{FF2B5EF4-FFF2-40B4-BE49-F238E27FC236}">
                <a16:creationId xmlns:a16="http://schemas.microsoft.com/office/drawing/2014/main" id="{140BB72B-5A4D-E387-792C-E81031FC957F}"/>
              </a:ext>
            </a:extLst>
          </p:cNvPr>
          <p:cNvCxnSpPr/>
          <p:nvPr/>
        </p:nvCxnSpPr>
        <p:spPr>
          <a:xfrm>
            <a:off x="1905000" y="4152900"/>
            <a:ext cx="0" cy="15373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31">
            <a:extLst>
              <a:ext uri="{FF2B5EF4-FFF2-40B4-BE49-F238E27FC236}">
                <a16:creationId xmlns:a16="http://schemas.microsoft.com/office/drawing/2014/main" id="{C91B3D70-5104-44C1-0ABB-72E5127F0DD8}"/>
              </a:ext>
            </a:extLst>
          </p:cNvPr>
          <p:cNvSpPr txBox="1"/>
          <p:nvPr/>
        </p:nvSpPr>
        <p:spPr>
          <a:xfrm>
            <a:off x="1447800" y="4762500"/>
            <a:ext cx="404622" cy="205184"/>
          </a:xfrm>
          <a:prstGeom prst="rect">
            <a:avLst/>
          </a:prstGeom>
        </p:spPr>
        <p:txBody>
          <a:bodyPr wrap="square" lIns="0" tIns="0" rIns="0" bIns="0" rtlCol="0" anchor="t">
            <a:spAutoFit/>
          </a:bodyPr>
          <a:lstStyle/>
          <a:p>
            <a:pPr algn="l">
              <a:lnSpc>
                <a:spcPts val="1574"/>
              </a:lnSpc>
            </a:pPr>
            <a:r>
              <a:rPr lang="en-US" sz="1400">
                <a:solidFill>
                  <a:srgbClr val="6B7099"/>
                </a:solidFill>
                <a:latin typeface="IBM Plex Mono"/>
                <a:ea typeface="IBM Plex Mono"/>
                <a:cs typeface="IBM Plex Mono"/>
                <a:sym typeface="IBM Plex Mono"/>
              </a:rPr>
              <a:t>5 s</a:t>
            </a:r>
          </a:p>
        </p:txBody>
      </p:sp>
      <p:cxnSp>
        <p:nvCxnSpPr>
          <p:cNvPr id="50" name="Straight Arrow Connector 49">
            <a:extLst>
              <a:ext uri="{FF2B5EF4-FFF2-40B4-BE49-F238E27FC236}">
                <a16:creationId xmlns:a16="http://schemas.microsoft.com/office/drawing/2014/main" id="{FD4E9B92-5695-C6C9-FC9B-9B845E3C5AD5}"/>
              </a:ext>
            </a:extLst>
          </p:cNvPr>
          <p:cNvCxnSpPr>
            <a:cxnSpLocks/>
          </p:cNvCxnSpPr>
          <p:nvPr/>
        </p:nvCxnSpPr>
        <p:spPr>
          <a:xfrm>
            <a:off x="3636000" y="4991100"/>
            <a:ext cx="0" cy="6991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3000" y="885825"/>
            <a:ext cx="64770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07</a:t>
            </a:r>
          </a:p>
        </p:txBody>
      </p:sp>
      <p:sp>
        <p:nvSpPr>
          <p:cNvPr id="4" name="TextBox 4"/>
          <p:cNvSpPr txBox="1"/>
          <p:nvPr/>
        </p:nvSpPr>
        <p:spPr>
          <a:xfrm>
            <a:off x="2145030" y="885825"/>
            <a:ext cx="524637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BEFORE / AFTER OPTIMIZATION</a:t>
            </a:r>
          </a:p>
        </p:txBody>
      </p:sp>
      <p:sp>
        <p:nvSpPr>
          <p:cNvPr id="5" name="TextBox 5"/>
          <p:cNvSpPr txBox="1"/>
          <p:nvPr/>
        </p:nvSpPr>
        <p:spPr>
          <a:xfrm>
            <a:off x="1143000" y="1447800"/>
            <a:ext cx="16002000" cy="477774"/>
          </a:xfrm>
          <a:prstGeom prst="rect">
            <a:avLst/>
          </a:prstGeom>
        </p:spPr>
        <p:txBody>
          <a:bodyPr lIns="0" tIns="0" rIns="0" bIns="0" rtlCol="0" anchor="t">
            <a:spAutoFit/>
          </a:bodyPr>
          <a:lstStyle/>
          <a:p>
            <a:pPr algn="l">
              <a:lnSpc>
                <a:spcPts val="4212"/>
              </a:lnSpc>
            </a:pPr>
            <a:r>
              <a:rPr lang="en-US" sz="4050" b="1" spc="-121" dirty="0">
                <a:solidFill>
                  <a:srgbClr val="EEF0FF"/>
                </a:solidFill>
                <a:latin typeface="IBM Plex Sans Bold"/>
                <a:ea typeface="IBM Plex Sans Bold"/>
                <a:cs typeface="IBM Plex Sans Bold"/>
                <a:sym typeface="IBM Plex Sans Bold"/>
              </a:rPr>
              <a:t>Shrinking the model to fit the phone</a:t>
            </a:r>
          </a:p>
        </p:txBody>
      </p:sp>
      <p:grpSp>
        <p:nvGrpSpPr>
          <p:cNvPr id="76" name="Group 75">
            <a:extLst>
              <a:ext uri="{FF2B5EF4-FFF2-40B4-BE49-F238E27FC236}">
                <a16:creationId xmlns:a16="http://schemas.microsoft.com/office/drawing/2014/main" id="{8FC23A52-A733-BBFB-17AF-2C8513496E70}"/>
              </a:ext>
            </a:extLst>
          </p:cNvPr>
          <p:cNvGrpSpPr/>
          <p:nvPr/>
        </p:nvGrpSpPr>
        <p:grpSpPr>
          <a:xfrm>
            <a:off x="9753600" y="607171"/>
            <a:ext cx="3429000" cy="1919288"/>
            <a:chOff x="1143000" y="3834574"/>
            <a:chExt cx="3429000" cy="1919288"/>
          </a:xfrm>
        </p:grpSpPr>
        <p:grpSp>
          <p:nvGrpSpPr>
            <p:cNvPr id="6" name="Group 6"/>
            <p:cNvGrpSpPr/>
            <p:nvPr/>
          </p:nvGrpSpPr>
          <p:grpSpPr>
            <a:xfrm>
              <a:off x="1143000" y="3834574"/>
              <a:ext cx="3429000" cy="1919288"/>
              <a:chOff x="0" y="0"/>
              <a:chExt cx="4572000" cy="2559050"/>
            </a:xfrm>
          </p:grpSpPr>
          <p:sp>
            <p:nvSpPr>
              <p:cNvPr id="7" name="Freeform 7"/>
              <p:cNvSpPr/>
              <p:nvPr/>
            </p:nvSpPr>
            <p:spPr>
              <a:xfrm>
                <a:off x="0" y="0"/>
                <a:ext cx="4572000" cy="2559050"/>
              </a:xfrm>
              <a:custGeom>
                <a:avLst/>
                <a:gdLst/>
                <a:ahLst/>
                <a:cxnLst/>
                <a:rect l="l" t="t" r="r" b="b"/>
                <a:pathLst>
                  <a:path w="4572000" h="2559050">
                    <a:moveTo>
                      <a:pt x="279400" y="0"/>
                    </a:moveTo>
                    <a:lnTo>
                      <a:pt x="4292600" y="0"/>
                    </a:lnTo>
                    <a:cubicBezTo>
                      <a:pt x="4446905" y="0"/>
                      <a:pt x="4572000" y="125095"/>
                      <a:pt x="4572000" y="279400"/>
                    </a:cubicBezTo>
                    <a:lnTo>
                      <a:pt x="4572000" y="2279650"/>
                    </a:lnTo>
                    <a:cubicBezTo>
                      <a:pt x="4572000" y="2433955"/>
                      <a:pt x="4446905" y="2559050"/>
                      <a:pt x="4292600" y="2559050"/>
                    </a:cubicBezTo>
                    <a:lnTo>
                      <a:pt x="279400" y="2559050"/>
                    </a:lnTo>
                    <a:cubicBezTo>
                      <a:pt x="125095" y="2559050"/>
                      <a:pt x="0" y="2433955"/>
                      <a:pt x="0" y="2279650"/>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8" name="AutoShape 8"/>
            <p:cNvSpPr/>
            <p:nvPr/>
          </p:nvSpPr>
          <p:spPr>
            <a:xfrm>
              <a:off x="1143000" y="3834574"/>
              <a:ext cx="3429000" cy="9525"/>
            </a:xfrm>
            <a:prstGeom prst="rect">
              <a:avLst/>
            </a:prstGeom>
            <a:solidFill>
              <a:srgbClr val="FFFFFF">
                <a:alpha val="7843"/>
              </a:srgbClr>
            </a:solidFill>
          </p:spPr>
          <p:txBody>
            <a:bodyPr/>
            <a:lstStyle/>
            <a:p>
              <a:endParaRPr lang="ko-KR" altLang="en-US"/>
            </a:p>
          </p:txBody>
        </p:sp>
        <p:sp>
          <p:nvSpPr>
            <p:cNvPr id="9" name="AutoShape 9"/>
            <p:cNvSpPr/>
            <p:nvPr/>
          </p:nvSpPr>
          <p:spPr>
            <a:xfrm>
              <a:off x="4562475" y="3844100"/>
              <a:ext cx="9525" cy="1900238"/>
            </a:xfrm>
            <a:prstGeom prst="rect">
              <a:avLst/>
            </a:prstGeom>
            <a:solidFill>
              <a:srgbClr val="FFFFFF">
                <a:alpha val="7843"/>
              </a:srgbClr>
            </a:solidFill>
          </p:spPr>
          <p:txBody>
            <a:bodyPr/>
            <a:lstStyle/>
            <a:p>
              <a:endParaRPr lang="ko-KR" altLang="en-US"/>
            </a:p>
          </p:txBody>
        </p:sp>
        <p:sp>
          <p:nvSpPr>
            <p:cNvPr id="10" name="AutoShape 10"/>
            <p:cNvSpPr/>
            <p:nvPr/>
          </p:nvSpPr>
          <p:spPr>
            <a:xfrm>
              <a:off x="1143000" y="5744337"/>
              <a:ext cx="3429000" cy="9525"/>
            </a:xfrm>
            <a:prstGeom prst="rect">
              <a:avLst/>
            </a:prstGeom>
            <a:solidFill>
              <a:srgbClr val="FFFFFF">
                <a:alpha val="7843"/>
              </a:srgbClr>
            </a:solidFill>
          </p:spPr>
          <p:txBody>
            <a:bodyPr/>
            <a:lstStyle/>
            <a:p>
              <a:endParaRPr lang="ko-KR" altLang="en-US"/>
            </a:p>
          </p:txBody>
        </p:sp>
        <p:sp>
          <p:nvSpPr>
            <p:cNvPr id="11" name="AutoShape 11"/>
            <p:cNvSpPr/>
            <p:nvPr/>
          </p:nvSpPr>
          <p:spPr>
            <a:xfrm>
              <a:off x="1143000" y="3844100"/>
              <a:ext cx="9525" cy="1900238"/>
            </a:xfrm>
            <a:prstGeom prst="rect">
              <a:avLst/>
            </a:prstGeom>
            <a:solidFill>
              <a:srgbClr val="FFFFFF">
                <a:alpha val="7843"/>
              </a:srgbClr>
            </a:solidFill>
          </p:spPr>
          <p:txBody>
            <a:bodyPr/>
            <a:lstStyle/>
            <a:p>
              <a:endParaRPr lang="ko-KR" altLang="en-US"/>
            </a:p>
          </p:txBody>
        </p:sp>
        <p:grpSp>
          <p:nvGrpSpPr>
            <p:cNvPr id="12" name="Group 12"/>
            <p:cNvGrpSpPr/>
            <p:nvPr/>
          </p:nvGrpSpPr>
          <p:grpSpPr>
            <a:xfrm>
              <a:off x="1438275" y="4110800"/>
              <a:ext cx="457200" cy="457200"/>
              <a:chOff x="0" y="0"/>
              <a:chExt cx="609600" cy="609600"/>
            </a:xfrm>
          </p:grpSpPr>
          <p:sp>
            <p:nvSpPr>
              <p:cNvPr id="13" name="Freeform 13"/>
              <p:cNvSpPr/>
              <p:nvPr/>
            </p:nvSpPr>
            <p:spPr>
              <a:xfrm>
                <a:off x="0" y="0"/>
                <a:ext cx="609600" cy="609600"/>
              </a:xfrm>
              <a:custGeom>
                <a:avLst/>
                <a:gdLst/>
                <a:ahLst/>
                <a:cxnLst/>
                <a:rect l="l" t="t" r="r" b="b"/>
                <a:pathLst>
                  <a:path w="609600" h="609600">
                    <a:moveTo>
                      <a:pt x="165100" y="0"/>
                    </a:moveTo>
                    <a:lnTo>
                      <a:pt x="444500" y="0"/>
                    </a:lnTo>
                    <a:cubicBezTo>
                      <a:pt x="535686" y="0"/>
                      <a:pt x="609600" y="73914"/>
                      <a:pt x="609600" y="165100"/>
                    </a:cubicBezTo>
                    <a:lnTo>
                      <a:pt x="609600" y="444500"/>
                    </a:lnTo>
                    <a:cubicBezTo>
                      <a:pt x="609600" y="535686"/>
                      <a:pt x="535686" y="609600"/>
                      <a:pt x="444500" y="609600"/>
                    </a:cubicBezTo>
                    <a:lnTo>
                      <a:pt x="165100" y="609600"/>
                    </a:lnTo>
                    <a:cubicBezTo>
                      <a:pt x="73914" y="609600"/>
                      <a:pt x="0" y="535686"/>
                      <a:pt x="0" y="444500"/>
                    </a:cubicBezTo>
                    <a:lnTo>
                      <a:pt x="0" y="165100"/>
                    </a:lnTo>
                    <a:cubicBezTo>
                      <a:pt x="0" y="73914"/>
                      <a:pt x="73914" y="0"/>
                      <a:pt x="165100" y="0"/>
                    </a:cubicBezTo>
                    <a:close/>
                  </a:path>
                </a:pathLst>
              </a:custGeom>
              <a:solidFill>
                <a:srgbClr val="7C83FF">
                  <a:alpha val="1569"/>
                </a:srgbClr>
              </a:solidFill>
            </p:spPr>
            <p:txBody>
              <a:bodyPr/>
              <a:lstStyle/>
              <a:p>
                <a:endParaRPr lang="ko-KR" altLang="en-US"/>
              </a:p>
            </p:txBody>
          </p:sp>
        </p:grpSp>
        <p:sp>
          <p:nvSpPr>
            <p:cNvPr id="14" name="TextBox 14"/>
            <p:cNvSpPr txBox="1"/>
            <p:nvPr/>
          </p:nvSpPr>
          <p:spPr>
            <a:xfrm>
              <a:off x="2028824" y="4139374"/>
              <a:ext cx="1142997" cy="323165"/>
            </a:xfrm>
            <a:prstGeom prst="rect">
              <a:avLst/>
            </a:prstGeom>
          </p:spPr>
          <p:txBody>
            <a:bodyPr wrap="square" lIns="0" tIns="0" rIns="0" bIns="0" rtlCol="0" anchor="t">
              <a:spAutoFit/>
            </a:bodyPr>
            <a:lstStyle/>
            <a:p>
              <a:pPr algn="l">
                <a:lnSpc>
                  <a:spcPts val="2729"/>
                </a:lnSpc>
              </a:pPr>
              <a:r>
                <a:rPr lang="en-US" sz="1950" b="1" spc="-29" dirty="0">
                  <a:solidFill>
                    <a:srgbClr val="EEF0FF"/>
                  </a:solidFill>
                  <a:latin typeface="IBM Plex Sans Bold"/>
                  <a:ea typeface="IBM Plex Sans Bold"/>
                  <a:cs typeface="IBM Plex Sans Bold"/>
                  <a:sym typeface="IBM Plex Sans Bold"/>
                </a:rPr>
                <a:t>Pruning</a:t>
              </a:r>
            </a:p>
          </p:txBody>
        </p:sp>
        <p:sp>
          <p:nvSpPr>
            <p:cNvPr id="15" name="TextBox 15"/>
            <p:cNvSpPr txBox="1"/>
            <p:nvPr/>
          </p:nvSpPr>
          <p:spPr>
            <a:xfrm>
              <a:off x="1438275" y="4615625"/>
              <a:ext cx="2838450" cy="862013"/>
            </a:xfrm>
            <a:prstGeom prst="rect">
              <a:avLst/>
            </a:prstGeom>
          </p:spPr>
          <p:txBody>
            <a:bodyPr lIns="0" tIns="0" rIns="0" bIns="0" rtlCol="0" anchor="t">
              <a:spAutoFit/>
            </a:bodyPr>
            <a:lstStyle/>
            <a:p>
              <a:pPr algn="l">
                <a:lnSpc>
                  <a:spcPts val="2137"/>
                </a:lnSpc>
              </a:pPr>
              <a:r>
                <a:rPr lang="en-US" sz="1425">
                  <a:solidFill>
                    <a:srgbClr val="A6ABCE"/>
                  </a:solidFill>
                  <a:latin typeface="IBM Plex Sans"/>
                  <a:ea typeface="IBM Plex Sans"/>
                  <a:cs typeface="IBM Plex Sans"/>
                  <a:sym typeface="IBM Plex Sans"/>
                </a:rPr>
                <a:t>Remove low-importance weights / channels to cut compute with minimal accuracy loss.</a:t>
              </a:r>
            </a:p>
          </p:txBody>
        </p:sp>
        <p:sp>
          <p:nvSpPr>
            <p:cNvPr id="69" name="Freeform 69"/>
            <p:cNvSpPr/>
            <p:nvPr/>
          </p:nvSpPr>
          <p:spPr>
            <a:xfrm>
              <a:off x="1543050" y="4215574"/>
              <a:ext cx="247650" cy="247650"/>
            </a:xfrm>
            <a:custGeom>
              <a:avLst/>
              <a:gdLst/>
              <a:ahLst/>
              <a:cxnLst/>
              <a:rect l="l" t="t" r="r" b="b"/>
              <a:pathLst>
                <a:path w="247650" h="247650">
                  <a:moveTo>
                    <a:pt x="0" y="0"/>
                  </a:moveTo>
                  <a:lnTo>
                    <a:pt x="247650" y="0"/>
                  </a:lnTo>
                  <a:lnTo>
                    <a:pt x="247650" y="247650"/>
                  </a:lnTo>
                  <a:lnTo>
                    <a:pt x="0" y="247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ko-KR" altLang="en-US"/>
            </a:p>
          </p:txBody>
        </p:sp>
      </p:grpSp>
      <p:grpSp>
        <p:nvGrpSpPr>
          <p:cNvPr id="77" name="Group 76">
            <a:extLst>
              <a:ext uri="{FF2B5EF4-FFF2-40B4-BE49-F238E27FC236}">
                <a16:creationId xmlns:a16="http://schemas.microsoft.com/office/drawing/2014/main" id="{EC71A372-FCD8-C3E1-0FEC-8130C247E861}"/>
              </a:ext>
            </a:extLst>
          </p:cNvPr>
          <p:cNvGrpSpPr/>
          <p:nvPr/>
        </p:nvGrpSpPr>
        <p:grpSpPr>
          <a:xfrm>
            <a:off x="13510165" y="597646"/>
            <a:ext cx="3429000" cy="1919288"/>
            <a:chOff x="1143000" y="5963412"/>
            <a:chExt cx="3429000" cy="1919288"/>
          </a:xfrm>
        </p:grpSpPr>
        <p:grpSp>
          <p:nvGrpSpPr>
            <p:cNvPr id="16" name="Group 16"/>
            <p:cNvGrpSpPr/>
            <p:nvPr/>
          </p:nvGrpSpPr>
          <p:grpSpPr>
            <a:xfrm>
              <a:off x="1143000" y="5963412"/>
              <a:ext cx="3429000" cy="1919288"/>
              <a:chOff x="0" y="0"/>
              <a:chExt cx="4572000" cy="2559050"/>
            </a:xfrm>
          </p:grpSpPr>
          <p:sp>
            <p:nvSpPr>
              <p:cNvPr id="17" name="Freeform 17"/>
              <p:cNvSpPr/>
              <p:nvPr/>
            </p:nvSpPr>
            <p:spPr>
              <a:xfrm>
                <a:off x="0" y="0"/>
                <a:ext cx="4572000" cy="2559050"/>
              </a:xfrm>
              <a:custGeom>
                <a:avLst/>
                <a:gdLst/>
                <a:ahLst/>
                <a:cxnLst/>
                <a:rect l="l" t="t" r="r" b="b"/>
                <a:pathLst>
                  <a:path w="4572000" h="2559050">
                    <a:moveTo>
                      <a:pt x="279400" y="0"/>
                    </a:moveTo>
                    <a:lnTo>
                      <a:pt x="4292600" y="0"/>
                    </a:lnTo>
                    <a:cubicBezTo>
                      <a:pt x="4446905" y="0"/>
                      <a:pt x="4572000" y="125095"/>
                      <a:pt x="4572000" y="279400"/>
                    </a:cubicBezTo>
                    <a:lnTo>
                      <a:pt x="4572000" y="2279650"/>
                    </a:lnTo>
                    <a:cubicBezTo>
                      <a:pt x="4572000" y="2433955"/>
                      <a:pt x="4446905" y="2559050"/>
                      <a:pt x="4292600" y="2559050"/>
                    </a:cubicBezTo>
                    <a:lnTo>
                      <a:pt x="279400" y="2559050"/>
                    </a:lnTo>
                    <a:cubicBezTo>
                      <a:pt x="125095" y="2559050"/>
                      <a:pt x="0" y="2433955"/>
                      <a:pt x="0" y="2279650"/>
                    </a:cubicBezTo>
                    <a:lnTo>
                      <a:pt x="0" y="279400"/>
                    </a:lnTo>
                    <a:cubicBezTo>
                      <a:pt x="0" y="125095"/>
                      <a:pt x="125095" y="0"/>
                      <a:pt x="279400" y="0"/>
                    </a:cubicBezTo>
                    <a:close/>
                  </a:path>
                </a:pathLst>
              </a:custGeom>
              <a:solidFill>
                <a:srgbClr val="161A32"/>
              </a:solidFill>
            </p:spPr>
            <p:txBody>
              <a:bodyPr/>
              <a:lstStyle/>
              <a:p>
                <a:endParaRPr lang="ko-KR" altLang="en-US"/>
              </a:p>
            </p:txBody>
          </p:sp>
        </p:grpSp>
        <p:sp>
          <p:nvSpPr>
            <p:cNvPr id="18" name="AutoShape 18"/>
            <p:cNvSpPr/>
            <p:nvPr/>
          </p:nvSpPr>
          <p:spPr>
            <a:xfrm>
              <a:off x="1143000" y="5963412"/>
              <a:ext cx="3429000" cy="9525"/>
            </a:xfrm>
            <a:prstGeom prst="rect">
              <a:avLst/>
            </a:prstGeom>
            <a:solidFill>
              <a:srgbClr val="FFFFFF">
                <a:alpha val="7843"/>
              </a:srgbClr>
            </a:solidFill>
          </p:spPr>
          <p:txBody>
            <a:bodyPr/>
            <a:lstStyle/>
            <a:p>
              <a:endParaRPr lang="ko-KR" altLang="en-US"/>
            </a:p>
          </p:txBody>
        </p:sp>
        <p:sp>
          <p:nvSpPr>
            <p:cNvPr id="19" name="AutoShape 19"/>
            <p:cNvSpPr/>
            <p:nvPr/>
          </p:nvSpPr>
          <p:spPr>
            <a:xfrm>
              <a:off x="4562475" y="5972937"/>
              <a:ext cx="9525" cy="1900238"/>
            </a:xfrm>
            <a:prstGeom prst="rect">
              <a:avLst/>
            </a:prstGeom>
            <a:solidFill>
              <a:srgbClr val="FFFFFF">
                <a:alpha val="7843"/>
              </a:srgbClr>
            </a:solidFill>
          </p:spPr>
          <p:txBody>
            <a:bodyPr/>
            <a:lstStyle/>
            <a:p>
              <a:endParaRPr lang="ko-KR" altLang="en-US"/>
            </a:p>
          </p:txBody>
        </p:sp>
        <p:sp>
          <p:nvSpPr>
            <p:cNvPr id="20" name="AutoShape 20"/>
            <p:cNvSpPr/>
            <p:nvPr/>
          </p:nvSpPr>
          <p:spPr>
            <a:xfrm>
              <a:off x="1143000" y="7873175"/>
              <a:ext cx="3429000" cy="9525"/>
            </a:xfrm>
            <a:prstGeom prst="rect">
              <a:avLst/>
            </a:prstGeom>
            <a:solidFill>
              <a:srgbClr val="FFFFFF">
                <a:alpha val="7843"/>
              </a:srgbClr>
            </a:solidFill>
          </p:spPr>
          <p:txBody>
            <a:bodyPr/>
            <a:lstStyle/>
            <a:p>
              <a:endParaRPr lang="ko-KR" altLang="en-US"/>
            </a:p>
          </p:txBody>
        </p:sp>
        <p:sp>
          <p:nvSpPr>
            <p:cNvPr id="21" name="AutoShape 21"/>
            <p:cNvSpPr/>
            <p:nvPr/>
          </p:nvSpPr>
          <p:spPr>
            <a:xfrm>
              <a:off x="1143000" y="5972937"/>
              <a:ext cx="9525" cy="1900238"/>
            </a:xfrm>
            <a:prstGeom prst="rect">
              <a:avLst/>
            </a:prstGeom>
            <a:solidFill>
              <a:srgbClr val="FFFFFF">
                <a:alpha val="7843"/>
              </a:srgbClr>
            </a:solidFill>
          </p:spPr>
          <p:txBody>
            <a:bodyPr/>
            <a:lstStyle/>
            <a:p>
              <a:endParaRPr lang="ko-KR" altLang="en-US"/>
            </a:p>
          </p:txBody>
        </p:sp>
        <p:grpSp>
          <p:nvGrpSpPr>
            <p:cNvPr id="22" name="Group 22"/>
            <p:cNvGrpSpPr/>
            <p:nvPr/>
          </p:nvGrpSpPr>
          <p:grpSpPr>
            <a:xfrm>
              <a:off x="1438275" y="6239637"/>
              <a:ext cx="457200" cy="457200"/>
              <a:chOff x="0" y="0"/>
              <a:chExt cx="609600" cy="609600"/>
            </a:xfrm>
          </p:grpSpPr>
          <p:sp>
            <p:nvSpPr>
              <p:cNvPr id="23" name="Freeform 23"/>
              <p:cNvSpPr/>
              <p:nvPr/>
            </p:nvSpPr>
            <p:spPr>
              <a:xfrm>
                <a:off x="0" y="0"/>
                <a:ext cx="609600" cy="609600"/>
              </a:xfrm>
              <a:custGeom>
                <a:avLst/>
                <a:gdLst/>
                <a:ahLst/>
                <a:cxnLst/>
                <a:rect l="l" t="t" r="r" b="b"/>
                <a:pathLst>
                  <a:path w="609600" h="609600">
                    <a:moveTo>
                      <a:pt x="165100" y="0"/>
                    </a:moveTo>
                    <a:lnTo>
                      <a:pt x="444500" y="0"/>
                    </a:lnTo>
                    <a:cubicBezTo>
                      <a:pt x="535686" y="0"/>
                      <a:pt x="609600" y="73914"/>
                      <a:pt x="609600" y="165100"/>
                    </a:cubicBezTo>
                    <a:lnTo>
                      <a:pt x="609600" y="444500"/>
                    </a:lnTo>
                    <a:cubicBezTo>
                      <a:pt x="609600" y="535686"/>
                      <a:pt x="535686" y="609600"/>
                      <a:pt x="444500" y="609600"/>
                    </a:cubicBezTo>
                    <a:lnTo>
                      <a:pt x="165100" y="609600"/>
                    </a:lnTo>
                    <a:cubicBezTo>
                      <a:pt x="73914" y="609600"/>
                      <a:pt x="0" y="535686"/>
                      <a:pt x="0" y="444500"/>
                    </a:cubicBezTo>
                    <a:lnTo>
                      <a:pt x="0" y="165100"/>
                    </a:lnTo>
                    <a:cubicBezTo>
                      <a:pt x="0" y="73914"/>
                      <a:pt x="73914" y="0"/>
                      <a:pt x="165100" y="0"/>
                    </a:cubicBezTo>
                    <a:close/>
                  </a:path>
                </a:pathLst>
              </a:custGeom>
              <a:solidFill>
                <a:srgbClr val="7C83FF">
                  <a:alpha val="1569"/>
                </a:srgbClr>
              </a:solidFill>
            </p:spPr>
            <p:txBody>
              <a:bodyPr/>
              <a:lstStyle/>
              <a:p>
                <a:endParaRPr lang="ko-KR" altLang="en-US"/>
              </a:p>
            </p:txBody>
          </p:sp>
        </p:grpSp>
        <p:sp>
          <p:nvSpPr>
            <p:cNvPr id="24" name="TextBox 24"/>
            <p:cNvSpPr txBox="1"/>
            <p:nvPr/>
          </p:nvSpPr>
          <p:spPr>
            <a:xfrm>
              <a:off x="2028825" y="6268211"/>
              <a:ext cx="2076450" cy="323165"/>
            </a:xfrm>
            <a:prstGeom prst="rect">
              <a:avLst/>
            </a:prstGeom>
          </p:spPr>
          <p:txBody>
            <a:bodyPr wrap="square" lIns="0" tIns="0" rIns="0" bIns="0" rtlCol="0" anchor="t">
              <a:spAutoFit/>
            </a:bodyPr>
            <a:lstStyle/>
            <a:p>
              <a:pPr algn="l">
                <a:lnSpc>
                  <a:spcPts val="2729"/>
                </a:lnSpc>
              </a:pPr>
              <a:r>
                <a:rPr lang="en-US" sz="1950" b="1" spc="-29" dirty="0">
                  <a:solidFill>
                    <a:srgbClr val="EEF0FF"/>
                  </a:solidFill>
                  <a:latin typeface="IBM Plex Sans Bold"/>
                  <a:ea typeface="IBM Plex Sans Bold"/>
                  <a:cs typeface="IBM Plex Sans Bold"/>
                  <a:sym typeface="IBM Plex Sans Bold"/>
                </a:rPr>
                <a:t>Quantization</a:t>
              </a:r>
            </a:p>
          </p:txBody>
        </p:sp>
        <p:sp>
          <p:nvSpPr>
            <p:cNvPr id="25" name="TextBox 25"/>
            <p:cNvSpPr txBox="1"/>
            <p:nvPr/>
          </p:nvSpPr>
          <p:spPr>
            <a:xfrm>
              <a:off x="1438275" y="6744462"/>
              <a:ext cx="2838450" cy="862013"/>
            </a:xfrm>
            <a:prstGeom prst="rect">
              <a:avLst/>
            </a:prstGeom>
          </p:spPr>
          <p:txBody>
            <a:bodyPr lIns="0" tIns="0" rIns="0" bIns="0" rtlCol="0" anchor="t">
              <a:spAutoFit/>
            </a:bodyPr>
            <a:lstStyle/>
            <a:p>
              <a:pPr algn="l">
                <a:lnSpc>
                  <a:spcPts val="2137"/>
                </a:lnSpc>
              </a:pPr>
              <a:r>
                <a:rPr lang="en-US" sz="1425">
                  <a:solidFill>
                    <a:srgbClr val="A6ABCE"/>
                  </a:solidFill>
                  <a:latin typeface="IBM Plex Sans"/>
                  <a:ea typeface="IBM Plex Sans"/>
                  <a:cs typeface="IBM Plex Sans"/>
                  <a:sym typeface="IBM Plex Sans"/>
                </a:rPr>
                <a:t>Shipped as float16 TFLite (FP32 → FP16, 2× smaller); swap to INT8 figures only if measured.</a:t>
              </a:r>
            </a:p>
          </p:txBody>
        </p:sp>
        <p:sp>
          <p:nvSpPr>
            <p:cNvPr id="70" name="Freeform 70"/>
            <p:cNvSpPr/>
            <p:nvPr/>
          </p:nvSpPr>
          <p:spPr>
            <a:xfrm>
              <a:off x="1543050" y="6344412"/>
              <a:ext cx="247650" cy="247650"/>
            </a:xfrm>
            <a:custGeom>
              <a:avLst/>
              <a:gdLst/>
              <a:ahLst/>
              <a:cxnLst/>
              <a:rect l="l" t="t" r="r" b="b"/>
              <a:pathLst>
                <a:path w="247650" h="247650">
                  <a:moveTo>
                    <a:pt x="0" y="0"/>
                  </a:moveTo>
                  <a:lnTo>
                    <a:pt x="247650" y="0"/>
                  </a:lnTo>
                  <a:lnTo>
                    <a:pt x="247650" y="247650"/>
                  </a:lnTo>
                  <a:lnTo>
                    <a:pt x="0" y="2476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ko-KR" altLang="en-US"/>
            </a:p>
          </p:txBody>
        </p:sp>
      </p:grpSp>
      <p:sp>
        <p:nvSpPr>
          <p:cNvPr id="71" name="AutoShape 71"/>
          <p:cNvSpPr/>
          <p:nvPr/>
        </p:nvSpPr>
        <p:spPr>
          <a:xfrm>
            <a:off x="1573530" y="1038225"/>
            <a:ext cx="438150" cy="19050"/>
          </a:xfrm>
          <a:prstGeom prst="rect">
            <a:avLst/>
          </a:prstGeom>
          <a:solidFill>
            <a:srgbClr val="7C83FF">
              <a:alpha val="69804"/>
            </a:srgbClr>
          </a:solidFill>
        </p:spPr>
        <p:txBody>
          <a:bodyPr/>
          <a:lstStyle/>
          <a:p>
            <a:endParaRPr lang="ko-KR" altLang="en-US"/>
          </a:p>
        </p:txBody>
      </p:sp>
      <p:sp>
        <p:nvSpPr>
          <p:cNvPr id="72" name="TextBox 72"/>
          <p:cNvSpPr txBox="1"/>
          <p:nvPr/>
        </p:nvSpPr>
        <p:spPr>
          <a:xfrm>
            <a:off x="16939165" y="9563100"/>
            <a:ext cx="49158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08</a:t>
            </a:r>
          </a:p>
        </p:txBody>
      </p:sp>
      <p:graphicFrame>
        <p:nvGraphicFramePr>
          <p:cNvPr id="75" name="Chart 74">
            <a:extLst>
              <a:ext uri="{FF2B5EF4-FFF2-40B4-BE49-F238E27FC236}">
                <a16:creationId xmlns:a16="http://schemas.microsoft.com/office/drawing/2014/main" id="{57A2A629-01C7-8AEB-C8F7-DD00F02339C1}"/>
              </a:ext>
            </a:extLst>
          </p:cNvPr>
          <p:cNvGraphicFramePr/>
          <p:nvPr>
            <p:extLst>
              <p:ext uri="{D42A27DB-BD31-4B8C-83A1-F6EECF244321}">
                <p14:modId xmlns:p14="http://schemas.microsoft.com/office/powerpoint/2010/main" val="3697938512"/>
              </p:ext>
            </p:extLst>
          </p:nvPr>
        </p:nvGraphicFramePr>
        <p:xfrm>
          <a:off x="882015" y="3543300"/>
          <a:ext cx="7920000" cy="432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8" name="Chart 77">
            <a:extLst>
              <a:ext uri="{FF2B5EF4-FFF2-40B4-BE49-F238E27FC236}">
                <a16:creationId xmlns:a16="http://schemas.microsoft.com/office/drawing/2014/main" id="{AF34D5B8-E77E-1DA2-A47C-9C3A671C912F}"/>
              </a:ext>
            </a:extLst>
          </p:cNvPr>
          <p:cNvGraphicFramePr/>
          <p:nvPr>
            <p:extLst>
              <p:ext uri="{D42A27DB-BD31-4B8C-83A1-F6EECF244321}">
                <p14:modId xmlns:p14="http://schemas.microsoft.com/office/powerpoint/2010/main" val="20971597"/>
              </p:ext>
            </p:extLst>
          </p:nvPr>
        </p:nvGraphicFramePr>
        <p:xfrm>
          <a:off x="9360000" y="3543300"/>
          <a:ext cx="7920000" cy="4320000"/>
        </p:xfrm>
        <a:graphic>
          <a:graphicData uri="http://schemas.openxmlformats.org/drawingml/2006/chart">
            <c:chart xmlns:c="http://schemas.openxmlformats.org/drawingml/2006/chart" xmlns:r="http://schemas.openxmlformats.org/officeDocument/2006/relationships" r:id="rId8"/>
          </a:graphicData>
        </a:graphic>
      </p:graphicFrame>
      <p:sp>
        <p:nvSpPr>
          <p:cNvPr id="79" name="TextBox 13">
            <a:extLst>
              <a:ext uri="{FF2B5EF4-FFF2-40B4-BE49-F238E27FC236}">
                <a16:creationId xmlns:a16="http://schemas.microsoft.com/office/drawing/2014/main" id="{4F8B1F4D-C9E2-F002-7FA9-927429D898E5}"/>
              </a:ext>
            </a:extLst>
          </p:cNvPr>
          <p:cNvSpPr txBox="1"/>
          <p:nvPr/>
        </p:nvSpPr>
        <p:spPr>
          <a:xfrm>
            <a:off x="3819525" y="8154257"/>
            <a:ext cx="10338340" cy="615553"/>
          </a:xfrm>
          <a:prstGeom prst="rect">
            <a:avLst/>
          </a:prstGeom>
        </p:spPr>
        <p:txBody>
          <a:bodyPr wrap="square" lIns="0" tIns="0" rIns="0" bIns="0" rtlCol="0" anchor="t">
            <a:spAutoFit/>
          </a:bodyPr>
          <a:lstStyle/>
          <a:p>
            <a:pPr algn="l">
              <a:lnSpc>
                <a:spcPts val="2362"/>
              </a:lnSpc>
            </a:pPr>
            <a:r>
              <a:rPr lang="en-US" sz="2000">
                <a:solidFill>
                  <a:srgbClr val="A6ABCE"/>
                </a:solidFill>
                <a:latin typeface="IBM Plex Sans"/>
                <a:ea typeface="IBM Plex Sans"/>
                <a:cs typeface="IBM Plex Sans"/>
                <a:sym typeface="IBM Plex Sans"/>
              </a:rPr>
              <a:t>Quantization and pruning applied to 3 models.</a:t>
            </a:r>
          </a:p>
          <a:p>
            <a:pPr algn="l">
              <a:lnSpc>
                <a:spcPts val="2362"/>
              </a:lnSpc>
            </a:pPr>
            <a:r>
              <a:rPr lang="en-US" sz="2000">
                <a:solidFill>
                  <a:srgbClr val="A6ABCE"/>
                </a:solidFill>
                <a:latin typeface="IBM Plex Sans"/>
                <a:ea typeface="IBM Plex Sans"/>
                <a:cs typeface="IBM Plex Sans"/>
                <a:sym typeface="IBM Plex Sans"/>
              </a:rPr>
              <a:t>Original TFLite models retained for 2 models to preserve accuracy.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3000" y="885825"/>
            <a:ext cx="868680"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08</a:t>
            </a:r>
          </a:p>
        </p:txBody>
      </p:sp>
      <p:sp>
        <p:nvSpPr>
          <p:cNvPr id="4" name="TextBox 4"/>
          <p:cNvSpPr txBox="1"/>
          <p:nvPr/>
        </p:nvSpPr>
        <p:spPr>
          <a:xfrm>
            <a:off x="2145030" y="885825"/>
            <a:ext cx="189357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DEMO</a:t>
            </a:r>
          </a:p>
        </p:txBody>
      </p:sp>
      <p:sp>
        <p:nvSpPr>
          <p:cNvPr id="5" name="TextBox 5"/>
          <p:cNvSpPr txBox="1"/>
          <p:nvPr/>
        </p:nvSpPr>
        <p:spPr>
          <a:xfrm>
            <a:off x="1143000" y="1447800"/>
            <a:ext cx="16002000" cy="477774"/>
          </a:xfrm>
          <a:prstGeom prst="rect">
            <a:avLst/>
          </a:prstGeom>
        </p:spPr>
        <p:txBody>
          <a:bodyPr lIns="0" tIns="0" rIns="0" bIns="0" rtlCol="0" anchor="t">
            <a:spAutoFit/>
          </a:bodyPr>
          <a:lstStyle/>
          <a:p>
            <a:pPr algn="l">
              <a:lnSpc>
                <a:spcPts val="4212"/>
              </a:lnSpc>
            </a:pPr>
            <a:r>
              <a:rPr lang="en-US" sz="4050" b="1" spc="-121">
                <a:solidFill>
                  <a:srgbClr val="EEF0FF"/>
                </a:solidFill>
                <a:latin typeface="IBM Plex Sans Bold"/>
                <a:ea typeface="IBM Plex Sans Bold"/>
                <a:cs typeface="IBM Plex Sans Bold"/>
                <a:sym typeface="IBM Plex Sans Bold"/>
              </a:rPr>
              <a:t>See it run</a:t>
            </a:r>
          </a:p>
        </p:txBody>
      </p:sp>
      <p:sp>
        <p:nvSpPr>
          <p:cNvPr id="6" name="AutoShape 6"/>
          <p:cNvSpPr/>
          <p:nvPr/>
        </p:nvSpPr>
        <p:spPr>
          <a:xfrm>
            <a:off x="1573530" y="1038225"/>
            <a:ext cx="438150" cy="19050"/>
          </a:xfrm>
          <a:prstGeom prst="rect">
            <a:avLst/>
          </a:prstGeom>
          <a:solidFill>
            <a:srgbClr val="7C83FF">
              <a:alpha val="69804"/>
            </a:srgbClr>
          </a:solidFill>
        </p:spPr>
        <p:txBody>
          <a:bodyPr/>
          <a:lstStyle/>
          <a:p>
            <a:endParaRPr lang="ko-KR" altLang="en-US"/>
          </a:p>
        </p:txBody>
      </p:sp>
      <p:sp>
        <p:nvSpPr>
          <p:cNvPr id="7" name="TextBox 7"/>
          <p:cNvSpPr txBox="1"/>
          <p:nvPr/>
        </p:nvSpPr>
        <p:spPr>
          <a:xfrm>
            <a:off x="16939165" y="9563100"/>
            <a:ext cx="81543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grpSp>
        <p:nvGrpSpPr>
          <p:cNvPr id="3" name="Group 3"/>
          <p:cNvGrpSpPr/>
          <p:nvPr/>
        </p:nvGrpSpPr>
        <p:grpSpPr>
          <a:xfrm>
            <a:off x="1143000" y="4030599"/>
            <a:ext cx="7848600" cy="1625899"/>
            <a:chOff x="0" y="0"/>
            <a:chExt cx="10464800" cy="2167865"/>
          </a:xfrm>
        </p:grpSpPr>
        <p:sp>
          <p:nvSpPr>
            <p:cNvPr id="4" name="Freeform 4"/>
            <p:cNvSpPr/>
            <p:nvPr/>
          </p:nvSpPr>
          <p:spPr>
            <a:xfrm>
              <a:off x="0" y="0"/>
              <a:ext cx="10464800" cy="2167865"/>
            </a:xfrm>
            <a:custGeom>
              <a:avLst/>
              <a:gdLst/>
              <a:ahLst/>
              <a:cxnLst/>
              <a:rect l="l" t="t" r="r" b="b"/>
              <a:pathLst>
                <a:path w="10464800" h="2167865">
                  <a:moveTo>
                    <a:pt x="279400" y="0"/>
                  </a:moveTo>
                  <a:lnTo>
                    <a:pt x="10185400" y="0"/>
                  </a:lnTo>
                  <a:cubicBezTo>
                    <a:pt x="10339705" y="0"/>
                    <a:pt x="10464800" y="148288"/>
                    <a:pt x="10464800" y="331202"/>
                  </a:cubicBezTo>
                  <a:lnTo>
                    <a:pt x="10464800" y="1836664"/>
                  </a:lnTo>
                  <a:cubicBezTo>
                    <a:pt x="10464800" y="2019577"/>
                    <a:pt x="10339705" y="2167865"/>
                    <a:pt x="10185400" y="2167865"/>
                  </a:cubicBezTo>
                  <a:lnTo>
                    <a:pt x="279400" y="2167865"/>
                  </a:lnTo>
                  <a:cubicBezTo>
                    <a:pt x="125095" y="2167865"/>
                    <a:pt x="0" y="2019577"/>
                    <a:pt x="0" y="1836664"/>
                  </a:cubicBezTo>
                  <a:lnTo>
                    <a:pt x="0" y="331202"/>
                  </a:lnTo>
                  <a:cubicBezTo>
                    <a:pt x="0" y="148288"/>
                    <a:pt x="125095" y="0"/>
                    <a:pt x="279400" y="0"/>
                  </a:cubicBezTo>
                  <a:close/>
                </a:path>
              </a:pathLst>
            </a:custGeom>
            <a:solidFill>
              <a:srgbClr val="161A32"/>
            </a:solidFill>
          </p:spPr>
          <p:txBody>
            <a:bodyPr/>
            <a:lstStyle/>
            <a:p>
              <a:endParaRPr lang="ko-KR" altLang="en-US"/>
            </a:p>
          </p:txBody>
        </p:sp>
      </p:grpSp>
      <p:sp>
        <p:nvSpPr>
          <p:cNvPr id="5" name="AutoShape 5"/>
          <p:cNvSpPr/>
          <p:nvPr/>
        </p:nvSpPr>
        <p:spPr>
          <a:xfrm>
            <a:off x="1143000" y="4030599"/>
            <a:ext cx="7848600" cy="9525"/>
          </a:xfrm>
          <a:prstGeom prst="rect">
            <a:avLst/>
          </a:prstGeom>
          <a:solidFill>
            <a:srgbClr val="FFFFFF">
              <a:alpha val="7843"/>
            </a:srgbClr>
          </a:solidFill>
        </p:spPr>
        <p:txBody>
          <a:bodyPr/>
          <a:lstStyle/>
          <a:p>
            <a:endParaRPr lang="ko-KR" altLang="en-US"/>
          </a:p>
        </p:txBody>
      </p:sp>
      <p:sp>
        <p:nvSpPr>
          <p:cNvPr id="6" name="AutoShape 6"/>
          <p:cNvSpPr/>
          <p:nvPr/>
        </p:nvSpPr>
        <p:spPr>
          <a:xfrm>
            <a:off x="8982075" y="4040124"/>
            <a:ext cx="9525" cy="1352550"/>
          </a:xfrm>
          <a:prstGeom prst="rect">
            <a:avLst/>
          </a:prstGeom>
          <a:solidFill>
            <a:srgbClr val="FFFFFF">
              <a:alpha val="7843"/>
            </a:srgbClr>
          </a:solidFill>
        </p:spPr>
        <p:txBody>
          <a:bodyPr/>
          <a:lstStyle/>
          <a:p>
            <a:endParaRPr lang="ko-KR" altLang="en-US"/>
          </a:p>
        </p:txBody>
      </p:sp>
      <p:sp>
        <p:nvSpPr>
          <p:cNvPr id="7" name="AutoShape 7"/>
          <p:cNvSpPr/>
          <p:nvPr/>
        </p:nvSpPr>
        <p:spPr>
          <a:xfrm>
            <a:off x="1143000" y="4040124"/>
            <a:ext cx="9525" cy="1352550"/>
          </a:xfrm>
          <a:prstGeom prst="rect">
            <a:avLst/>
          </a:prstGeom>
          <a:solidFill>
            <a:srgbClr val="FFFFFF">
              <a:alpha val="7843"/>
            </a:srgbClr>
          </a:solidFill>
        </p:spPr>
        <p:txBody>
          <a:bodyPr/>
          <a:lstStyle/>
          <a:p>
            <a:endParaRPr lang="ko-KR" altLang="en-US"/>
          </a:p>
        </p:txBody>
      </p:sp>
      <p:grpSp>
        <p:nvGrpSpPr>
          <p:cNvPr id="8" name="Group 8"/>
          <p:cNvGrpSpPr/>
          <p:nvPr/>
        </p:nvGrpSpPr>
        <p:grpSpPr>
          <a:xfrm>
            <a:off x="1476375" y="4363974"/>
            <a:ext cx="704850" cy="704850"/>
            <a:chOff x="0" y="0"/>
            <a:chExt cx="939800" cy="939800"/>
          </a:xfrm>
        </p:grpSpPr>
        <p:sp>
          <p:nvSpPr>
            <p:cNvPr id="9" name="Freeform 9"/>
            <p:cNvSpPr/>
            <p:nvPr/>
          </p:nvSpPr>
          <p:spPr>
            <a:xfrm>
              <a:off x="0" y="0"/>
              <a:ext cx="939800" cy="939800"/>
            </a:xfrm>
            <a:custGeom>
              <a:avLst/>
              <a:gdLst/>
              <a:ahLst/>
              <a:cxnLst/>
              <a:rect l="l" t="t" r="r" b="b"/>
              <a:pathLst>
                <a:path w="939800" h="939800">
                  <a:moveTo>
                    <a:pt x="469900" y="0"/>
                  </a:moveTo>
                  <a:cubicBezTo>
                    <a:pt x="729361" y="0"/>
                    <a:pt x="939800" y="210439"/>
                    <a:pt x="939800" y="469900"/>
                  </a:cubicBezTo>
                  <a:cubicBezTo>
                    <a:pt x="939800" y="729361"/>
                    <a:pt x="729361" y="939800"/>
                    <a:pt x="469900" y="939800"/>
                  </a:cubicBezTo>
                  <a:cubicBezTo>
                    <a:pt x="210439" y="939800"/>
                    <a:pt x="0" y="729361"/>
                    <a:pt x="0" y="469900"/>
                  </a:cubicBezTo>
                  <a:cubicBezTo>
                    <a:pt x="0" y="210439"/>
                    <a:pt x="210439" y="0"/>
                    <a:pt x="469900" y="0"/>
                  </a:cubicBezTo>
                  <a:close/>
                </a:path>
              </a:pathLst>
            </a:custGeom>
            <a:solidFill>
              <a:srgbClr val="7C83FF">
                <a:alpha val="1569"/>
              </a:srgbClr>
            </a:solidFill>
          </p:spPr>
          <p:txBody>
            <a:bodyPr/>
            <a:lstStyle/>
            <a:p>
              <a:endParaRPr lang="ko-KR" altLang="en-US"/>
            </a:p>
          </p:txBody>
        </p:sp>
        <p:sp>
          <p:nvSpPr>
            <p:cNvPr id="10" name="TextBox 10"/>
            <p:cNvSpPr txBox="1"/>
            <p:nvPr/>
          </p:nvSpPr>
          <p:spPr>
            <a:xfrm>
              <a:off x="0" y="-38100"/>
              <a:ext cx="939800" cy="977900"/>
            </a:xfrm>
            <a:prstGeom prst="rect">
              <a:avLst/>
            </a:prstGeom>
          </p:spPr>
          <p:txBody>
            <a:bodyPr lIns="254000" tIns="254000" rIns="254000" bIns="254000" rtlCol="0" anchor="ctr"/>
            <a:lstStyle/>
            <a:p>
              <a:pPr algn="l">
                <a:lnSpc>
                  <a:spcPts val="2729"/>
                </a:lnSpc>
              </a:pPr>
              <a:r>
                <a:rPr lang="en-US" sz="1950" b="1">
                  <a:solidFill>
                    <a:srgbClr val="9AA0FF"/>
                  </a:solidFill>
                  <a:latin typeface="IBM Plex Mono Medium"/>
                  <a:ea typeface="IBM Plex Mono Medium"/>
                  <a:cs typeface="IBM Plex Mono Medium"/>
                  <a:sym typeface="IBM Plex Mono Medium"/>
                </a:rPr>
                <a:t>준</a:t>
              </a:r>
            </a:p>
          </p:txBody>
        </p:sp>
      </p:grpSp>
      <p:grpSp>
        <p:nvGrpSpPr>
          <p:cNvPr id="11" name="Group 11"/>
          <p:cNvGrpSpPr/>
          <p:nvPr/>
        </p:nvGrpSpPr>
        <p:grpSpPr>
          <a:xfrm>
            <a:off x="9296400" y="4030599"/>
            <a:ext cx="7848600" cy="1625899"/>
            <a:chOff x="0" y="0"/>
            <a:chExt cx="10464800" cy="2167865"/>
          </a:xfrm>
        </p:grpSpPr>
        <p:sp>
          <p:nvSpPr>
            <p:cNvPr id="12" name="Freeform 12"/>
            <p:cNvSpPr/>
            <p:nvPr/>
          </p:nvSpPr>
          <p:spPr>
            <a:xfrm>
              <a:off x="0" y="0"/>
              <a:ext cx="10464800" cy="2167865"/>
            </a:xfrm>
            <a:custGeom>
              <a:avLst/>
              <a:gdLst/>
              <a:ahLst/>
              <a:cxnLst/>
              <a:rect l="l" t="t" r="r" b="b"/>
              <a:pathLst>
                <a:path w="10464800" h="2167865">
                  <a:moveTo>
                    <a:pt x="279400" y="0"/>
                  </a:moveTo>
                  <a:lnTo>
                    <a:pt x="10185400" y="0"/>
                  </a:lnTo>
                  <a:cubicBezTo>
                    <a:pt x="10339705" y="0"/>
                    <a:pt x="10464800" y="148288"/>
                    <a:pt x="10464800" y="331202"/>
                  </a:cubicBezTo>
                  <a:lnTo>
                    <a:pt x="10464800" y="1836664"/>
                  </a:lnTo>
                  <a:cubicBezTo>
                    <a:pt x="10464800" y="2019577"/>
                    <a:pt x="10339705" y="2167865"/>
                    <a:pt x="10185400" y="2167865"/>
                  </a:cubicBezTo>
                  <a:lnTo>
                    <a:pt x="279400" y="2167865"/>
                  </a:lnTo>
                  <a:cubicBezTo>
                    <a:pt x="125095" y="2167865"/>
                    <a:pt x="0" y="2019577"/>
                    <a:pt x="0" y="1836664"/>
                  </a:cubicBezTo>
                  <a:lnTo>
                    <a:pt x="0" y="331202"/>
                  </a:lnTo>
                  <a:cubicBezTo>
                    <a:pt x="0" y="148288"/>
                    <a:pt x="125095" y="0"/>
                    <a:pt x="279400" y="0"/>
                  </a:cubicBezTo>
                  <a:close/>
                </a:path>
              </a:pathLst>
            </a:custGeom>
            <a:solidFill>
              <a:srgbClr val="161A32"/>
            </a:solidFill>
          </p:spPr>
          <p:txBody>
            <a:bodyPr/>
            <a:lstStyle/>
            <a:p>
              <a:endParaRPr lang="ko-KR" altLang="en-US"/>
            </a:p>
          </p:txBody>
        </p:sp>
      </p:grpSp>
      <p:sp>
        <p:nvSpPr>
          <p:cNvPr id="13" name="AutoShape 13"/>
          <p:cNvSpPr/>
          <p:nvPr/>
        </p:nvSpPr>
        <p:spPr>
          <a:xfrm>
            <a:off x="9296400" y="4030599"/>
            <a:ext cx="7848600" cy="9525"/>
          </a:xfrm>
          <a:prstGeom prst="rect">
            <a:avLst/>
          </a:prstGeom>
          <a:solidFill>
            <a:srgbClr val="FFFFFF">
              <a:alpha val="7843"/>
            </a:srgbClr>
          </a:solidFill>
        </p:spPr>
        <p:txBody>
          <a:bodyPr/>
          <a:lstStyle/>
          <a:p>
            <a:endParaRPr lang="ko-KR" altLang="en-US"/>
          </a:p>
        </p:txBody>
      </p:sp>
      <p:sp>
        <p:nvSpPr>
          <p:cNvPr id="14" name="AutoShape 14"/>
          <p:cNvSpPr/>
          <p:nvPr/>
        </p:nvSpPr>
        <p:spPr>
          <a:xfrm>
            <a:off x="17135475" y="4040124"/>
            <a:ext cx="9525" cy="1352550"/>
          </a:xfrm>
          <a:prstGeom prst="rect">
            <a:avLst/>
          </a:prstGeom>
          <a:solidFill>
            <a:srgbClr val="FFFFFF">
              <a:alpha val="7843"/>
            </a:srgbClr>
          </a:solidFill>
        </p:spPr>
        <p:txBody>
          <a:bodyPr/>
          <a:lstStyle/>
          <a:p>
            <a:endParaRPr lang="ko-KR" altLang="en-US"/>
          </a:p>
        </p:txBody>
      </p:sp>
      <p:sp>
        <p:nvSpPr>
          <p:cNvPr id="15" name="AutoShape 15"/>
          <p:cNvSpPr/>
          <p:nvPr/>
        </p:nvSpPr>
        <p:spPr>
          <a:xfrm>
            <a:off x="9296400" y="4040124"/>
            <a:ext cx="9525" cy="1352550"/>
          </a:xfrm>
          <a:prstGeom prst="rect">
            <a:avLst/>
          </a:prstGeom>
          <a:solidFill>
            <a:srgbClr val="FFFFFF">
              <a:alpha val="7843"/>
            </a:srgbClr>
          </a:solidFill>
        </p:spPr>
        <p:txBody>
          <a:bodyPr/>
          <a:lstStyle/>
          <a:p>
            <a:endParaRPr lang="ko-KR" altLang="en-US"/>
          </a:p>
        </p:txBody>
      </p:sp>
      <p:grpSp>
        <p:nvGrpSpPr>
          <p:cNvPr id="16" name="Group 16"/>
          <p:cNvGrpSpPr/>
          <p:nvPr/>
        </p:nvGrpSpPr>
        <p:grpSpPr>
          <a:xfrm>
            <a:off x="9629775" y="4363974"/>
            <a:ext cx="704850" cy="704850"/>
            <a:chOff x="0" y="0"/>
            <a:chExt cx="939800" cy="939800"/>
          </a:xfrm>
        </p:grpSpPr>
        <p:sp>
          <p:nvSpPr>
            <p:cNvPr id="17" name="Freeform 17"/>
            <p:cNvSpPr/>
            <p:nvPr/>
          </p:nvSpPr>
          <p:spPr>
            <a:xfrm>
              <a:off x="0" y="0"/>
              <a:ext cx="939800" cy="939800"/>
            </a:xfrm>
            <a:custGeom>
              <a:avLst/>
              <a:gdLst/>
              <a:ahLst/>
              <a:cxnLst/>
              <a:rect l="l" t="t" r="r" b="b"/>
              <a:pathLst>
                <a:path w="939800" h="939800">
                  <a:moveTo>
                    <a:pt x="469900" y="0"/>
                  </a:moveTo>
                  <a:cubicBezTo>
                    <a:pt x="729361" y="0"/>
                    <a:pt x="939800" y="210439"/>
                    <a:pt x="939800" y="469900"/>
                  </a:cubicBezTo>
                  <a:cubicBezTo>
                    <a:pt x="939800" y="729361"/>
                    <a:pt x="729361" y="939800"/>
                    <a:pt x="469900" y="939800"/>
                  </a:cubicBezTo>
                  <a:cubicBezTo>
                    <a:pt x="210439" y="939800"/>
                    <a:pt x="0" y="729361"/>
                    <a:pt x="0" y="469900"/>
                  </a:cubicBezTo>
                  <a:cubicBezTo>
                    <a:pt x="0" y="210439"/>
                    <a:pt x="210439" y="0"/>
                    <a:pt x="469900" y="0"/>
                  </a:cubicBezTo>
                  <a:close/>
                </a:path>
              </a:pathLst>
            </a:custGeom>
            <a:solidFill>
              <a:srgbClr val="7C83FF">
                <a:alpha val="1569"/>
              </a:srgbClr>
            </a:solidFill>
          </p:spPr>
          <p:txBody>
            <a:bodyPr/>
            <a:lstStyle/>
            <a:p>
              <a:endParaRPr lang="ko-KR" altLang="en-US"/>
            </a:p>
          </p:txBody>
        </p:sp>
        <p:sp>
          <p:nvSpPr>
            <p:cNvPr id="18" name="TextBox 18"/>
            <p:cNvSpPr txBox="1"/>
            <p:nvPr/>
          </p:nvSpPr>
          <p:spPr>
            <a:xfrm>
              <a:off x="0" y="-38100"/>
              <a:ext cx="939800" cy="977900"/>
            </a:xfrm>
            <a:prstGeom prst="rect">
              <a:avLst/>
            </a:prstGeom>
          </p:spPr>
          <p:txBody>
            <a:bodyPr lIns="254000" tIns="254000" rIns="254000" bIns="254000" rtlCol="0" anchor="ctr"/>
            <a:lstStyle/>
            <a:p>
              <a:pPr algn="l">
                <a:lnSpc>
                  <a:spcPts val="2729"/>
                </a:lnSpc>
              </a:pPr>
              <a:r>
                <a:rPr lang="en-US" sz="1950" b="1">
                  <a:solidFill>
                    <a:srgbClr val="9AA0FF"/>
                  </a:solidFill>
                  <a:latin typeface="IBM Plex Mono Medium"/>
                  <a:ea typeface="IBM Plex Mono Medium"/>
                  <a:cs typeface="IBM Plex Mono Medium"/>
                  <a:sym typeface="IBM Plex Mono Medium"/>
                </a:rPr>
                <a:t>재</a:t>
              </a:r>
            </a:p>
          </p:txBody>
        </p:sp>
      </p:grpSp>
      <p:sp>
        <p:nvSpPr>
          <p:cNvPr id="19" name="AutoShape 19"/>
          <p:cNvSpPr/>
          <p:nvPr/>
        </p:nvSpPr>
        <p:spPr>
          <a:xfrm>
            <a:off x="1573530" y="1038225"/>
            <a:ext cx="438150" cy="19050"/>
          </a:xfrm>
          <a:prstGeom prst="rect">
            <a:avLst/>
          </a:prstGeom>
          <a:solidFill>
            <a:srgbClr val="7C83FF">
              <a:alpha val="69804"/>
            </a:srgbClr>
          </a:solidFill>
        </p:spPr>
        <p:txBody>
          <a:bodyPr/>
          <a:lstStyle/>
          <a:p>
            <a:endParaRPr lang="ko-KR" altLang="en-US"/>
          </a:p>
        </p:txBody>
      </p:sp>
      <p:grpSp>
        <p:nvGrpSpPr>
          <p:cNvPr id="20" name="Group 20"/>
          <p:cNvGrpSpPr/>
          <p:nvPr/>
        </p:nvGrpSpPr>
        <p:grpSpPr>
          <a:xfrm>
            <a:off x="1143000" y="2611374"/>
            <a:ext cx="16002000" cy="28575"/>
            <a:chOff x="0" y="0"/>
            <a:chExt cx="21336000" cy="38100"/>
          </a:xfrm>
        </p:grpSpPr>
        <p:sp>
          <p:nvSpPr>
            <p:cNvPr id="21" name="Freeform 21"/>
            <p:cNvSpPr/>
            <p:nvPr/>
          </p:nvSpPr>
          <p:spPr>
            <a:xfrm>
              <a:off x="0" y="0"/>
              <a:ext cx="21336000" cy="38100"/>
            </a:xfrm>
            <a:custGeom>
              <a:avLst/>
              <a:gdLst/>
              <a:ahLst/>
              <a:cxnLst/>
              <a:rect l="l" t="t" r="r" b="b"/>
              <a:pathLst>
                <a:path w="21336000" h="38100">
                  <a:moveTo>
                    <a:pt x="19050" y="0"/>
                  </a:moveTo>
                  <a:lnTo>
                    <a:pt x="21316950" y="0"/>
                  </a:lnTo>
                  <a:cubicBezTo>
                    <a:pt x="21327490" y="0"/>
                    <a:pt x="21336000" y="8509"/>
                    <a:pt x="21336000" y="19050"/>
                  </a:cubicBezTo>
                  <a:cubicBezTo>
                    <a:pt x="21336000" y="29591"/>
                    <a:pt x="21327490" y="38100"/>
                    <a:pt x="21316950" y="38100"/>
                  </a:cubicBezTo>
                  <a:lnTo>
                    <a:pt x="19050" y="38100"/>
                  </a:lnTo>
                  <a:cubicBezTo>
                    <a:pt x="8509" y="38100"/>
                    <a:pt x="0" y="29591"/>
                    <a:pt x="0" y="19050"/>
                  </a:cubicBezTo>
                  <a:cubicBezTo>
                    <a:pt x="0" y="8509"/>
                    <a:pt x="8509" y="0"/>
                    <a:pt x="19050" y="0"/>
                  </a:cubicBezTo>
                  <a:close/>
                </a:path>
              </a:pathLst>
            </a:custGeom>
            <a:solidFill>
              <a:srgbClr val="262C54"/>
            </a:solidFill>
          </p:spPr>
          <p:txBody>
            <a:bodyPr/>
            <a:lstStyle/>
            <a:p>
              <a:endParaRPr lang="ko-KR" altLang="en-US"/>
            </a:p>
          </p:txBody>
        </p:sp>
      </p:grpSp>
      <p:grpSp>
        <p:nvGrpSpPr>
          <p:cNvPr id="22" name="Group 22"/>
          <p:cNvGrpSpPr/>
          <p:nvPr/>
        </p:nvGrpSpPr>
        <p:grpSpPr>
          <a:xfrm>
            <a:off x="1143000" y="2611374"/>
            <a:ext cx="16002000" cy="28575"/>
            <a:chOff x="0" y="0"/>
            <a:chExt cx="21336000" cy="38100"/>
          </a:xfrm>
        </p:grpSpPr>
        <p:sp>
          <p:nvSpPr>
            <p:cNvPr id="23" name="Freeform 23"/>
            <p:cNvSpPr/>
            <p:nvPr/>
          </p:nvSpPr>
          <p:spPr>
            <a:xfrm>
              <a:off x="0" y="0"/>
              <a:ext cx="21336000" cy="38100"/>
            </a:xfrm>
            <a:custGeom>
              <a:avLst/>
              <a:gdLst/>
              <a:ahLst/>
              <a:cxnLst/>
              <a:rect l="l" t="t" r="r" b="b"/>
              <a:pathLst>
                <a:path w="21336000" h="38100">
                  <a:moveTo>
                    <a:pt x="19050" y="0"/>
                  </a:moveTo>
                  <a:lnTo>
                    <a:pt x="21316950" y="0"/>
                  </a:lnTo>
                  <a:cubicBezTo>
                    <a:pt x="21327490" y="0"/>
                    <a:pt x="21336000" y="8509"/>
                    <a:pt x="21336000" y="19050"/>
                  </a:cubicBezTo>
                  <a:cubicBezTo>
                    <a:pt x="21336000" y="29591"/>
                    <a:pt x="21327490" y="38100"/>
                    <a:pt x="21316950" y="38100"/>
                  </a:cubicBezTo>
                  <a:lnTo>
                    <a:pt x="19050" y="38100"/>
                  </a:lnTo>
                  <a:cubicBezTo>
                    <a:pt x="8509" y="38100"/>
                    <a:pt x="0" y="29591"/>
                    <a:pt x="0" y="19050"/>
                  </a:cubicBezTo>
                  <a:cubicBezTo>
                    <a:pt x="0" y="8509"/>
                    <a:pt x="8509" y="0"/>
                    <a:pt x="19050" y="0"/>
                  </a:cubicBezTo>
                  <a:close/>
                </a:path>
              </a:pathLst>
            </a:custGeom>
            <a:gradFill rotWithShape="1">
              <a:gsLst>
                <a:gs pos="0">
                  <a:srgbClr val="7C83FF">
                    <a:alpha val="100000"/>
                  </a:srgbClr>
                </a:gs>
                <a:gs pos="100000">
                  <a:srgbClr val="4F46E5">
                    <a:alpha val="100000"/>
                  </a:srgbClr>
                </a:gs>
              </a:gsLst>
              <a:lin ang="0"/>
            </a:gradFill>
          </p:spPr>
          <p:txBody>
            <a:bodyPr/>
            <a:lstStyle/>
            <a:p>
              <a:endParaRPr lang="ko-KR" altLang="en-US"/>
            </a:p>
          </p:txBody>
        </p:sp>
      </p:grpSp>
      <p:grpSp>
        <p:nvGrpSpPr>
          <p:cNvPr id="24" name="Group 24"/>
          <p:cNvGrpSpPr/>
          <p:nvPr/>
        </p:nvGrpSpPr>
        <p:grpSpPr>
          <a:xfrm>
            <a:off x="1143000" y="2535174"/>
            <a:ext cx="152400" cy="152400"/>
            <a:chOff x="0" y="0"/>
            <a:chExt cx="203200" cy="203200"/>
          </a:xfrm>
        </p:grpSpPr>
        <p:sp>
          <p:nvSpPr>
            <p:cNvPr id="25" name="Freeform 25"/>
            <p:cNvSpPr/>
            <p:nvPr/>
          </p:nvSpPr>
          <p:spPr>
            <a:xfrm>
              <a:off x="0" y="0"/>
              <a:ext cx="203200" cy="203200"/>
            </a:xfrm>
            <a:custGeom>
              <a:avLst/>
              <a:gdLst/>
              <a:ahLst/>
              <a:cxnLst/>
              <a:rect l="l" t="t" r="r" b="b"/>
              <a:pathLst>
                <a:path w="203200" h="203200">
                  <a:moveTo>
                    <a:pt x="101600" y="0"/>
                  </a:moveTo>
                  <a:cubicBezTo>
                    <a:pt x="157734" y="0"/>
                    <a:pt x="203200" y="45466"/>
                    <a:pt x="203200" y="101600"/>
                  </a:cubicBezTo>
                  <a:cubicBezTo>
                    <a:pt x="203200" y="157734"/>
                    <a:pt x="157734" y="203200"/>
                    <a:pt x="101600" y="203200"/>
                  </a:cubicBezTo>
                  <a:cubicBezTo>
                    <a:pt x="45466" y="203200"/>
                    <a:pt x="0" y="157734"/>
                    <a:pt x="0" y="101600"/>
                  </a:cubicBezTo>
                  <a:cubicBezTo>
                    <a:pt x="0" y="45466"/>
                    <a:pt x="45466" y="0"/>
                    <a:pt x="101600" y="0"/>
                  </a:cubicBezTo>
                  <a:close/>
                </a:path>
              </a:pathLst>
            </a:custGeom>
            <a:solidFill>
              <a:srgbClr val="7C83FF"/>
            </a:solidFill>
          </p:spPr>
          <p:txBody>
            <a:bodyPr/>
            <a:lstStyle/>
            <a:p>
              <a:endParaRPr lang="ko-KR" altLang="en-US"/>
            </a:p>
          </p:txBody>
        </p:sp>
      </p:grpSp>
      <p:grpSp>
        <p:nvGrpSpPr>
          <p:cNvPr id="26" name="Group 26"/>
          <p:cNvGrpSpPr/>
          <p:nvPr/>
        </p:nvGrpSpPr>
        <p:grpSpPr>
          <a:xfrm>
            <a:off x="6426232" y="2535174"/>
            <a:ext cx="152400" cy="152400"/>
            <a:chOff x="0" y="0"/>
            <a:chExt cx="203200" cy="203200"/>
          </a:xfrm>
        </p:grpSpPr>
        <p:sp>
          <p:nvSpPr>
            <p:cNvPr id="27" name="Freeform 27"/>
            <p:cNvSpPr/>
            <p:nvPr/>
          </p:nvSpPr>
          <p:spPr>
            <a:xfrm>
              <a:off x="0" y="0"/>
              <a:ext cx="203200" cy="203200"/>
            </a:xfrm>
            <a:custGeom>
              <a:avLst/>
              <a:gdLst/>
              <a:ahLst/>
              <a:cxnLst/>
              <a:rect l="l" t="t" r="r" b="b"/>
              <a:pathLst>
                <a:path w="203200" h="203200">
                  <a:moveTo>
                    <a:pt x="101600" y="0"/>
                  </a:moveTo>
                  <a:cubicBezTo>
                    <a:pt x="157734" y="0"/>
                    <a:pt x="203200" y="45466"/>
                    <a:pt x="203200" y="101600"/>
                  </a:cubicBezTo>
                  <a:cubicBezTo>
                    <a:pt x="203200" y="157734"/>
                    <a:pt x="157734" y="203200"/>
                    <a:pt x="101600" y="203200"/>
                  </a:cubicBezTo>
                  <a:cubicBezTo>
                    <a:pt x="45466" y="203200"/>
                    <a:pt x="0" y="157734"/>
                    <a:pt x="0" y="101600"/>
                  </a:cubicBezTo>
                  <a:cubicBezTo>
                    <a:pt x="0" y="45466"/>
                    <a:pt x="45466" y="0"/>
                    <a:pt x="101600" y="0"/>
                  </a:cubicBezTo>
                  <a:close/>
                </a:path>
              </a:pathLst>
            </a:custGeom>
            <a:solidFill>
              <a:srgbClr val="7C83FF"/>
            </a:solidFill>
          </p:spPr>
          <p:txBody>
            <a:bodyPr/>
            <a:lstStyle/>
            <a:p>
              <a:endParaRPr lang="ko-KR" altLang="en-US"/>
            </a:p>
          </p:txBody>
        </p:sp>
      </p:grpSp>
      <p:grpSp>
        <p:nvGrpSpPr>
          <p:cNvPr id="28" name="Group 28"/>
          <p:cNvGrpSpPr/>
          <p:nvPr/>
        </p:nvGrpSpPr>
        <p:grpSpPr>
          <a:xfrm>
            <a:off x="11709368" y="2535174"/>
            <a:ext cx="152400" cy="152400"/>
            <a:chOff x="0" y="0"/>
            <a:chExt cx="203200" cy="203200"/>
          </a:xfrm>
        </p:grpSpPr>
        <p:sp>
          <p:nvSpPr>
            <p:cNvPr id="29" name="Freeform 29"/>
            <p:cNvSpPr/>
            <p:nvPr/>
          </p:nvSpPr>
          <p:spPr>
            <a:xfrm>
              <a:off x="0" y="0"/>
              <a:ext cx="203200" cy="203200"/>
            </a:xfrm>
            <a:custGeom>
              <a:avLst/>
              <a:gdLst/>
              <a:ahLst/>
              <a:cxnLst/>
              <a:rect l="l" t="t" r="r" b="b"/>
              <a:pathLst>
                <a:path w="203200" h="203200">
                  <a:moveTo>
                    <a:pt x="101600" y="0"/>
                  </a:moveTo>
                  <a:cubicBezTo>
                    <a:pt x="157734" y="0"/>
                    <a:pt x="203200" y="45466"/>
                    <a:pt x="203200" y="101600"/>
                  </a:cubicBezTo>
                  <a:cubicBezTo>
                    <a:pt x="203200" y="157734"/>
                    <a:pt x="157734" y="203200"/>
                    <a:pt x="101600" y="203200"/>
                  </a:cubicBezTo>
                  <a:cubicBezTo>
                    <a:pt x="45466" y="203200"/>
                    <a:pt x="0" y="157734"/>
                    <a:pt x="0" y="101600"/>
                  </a:cubicBezTo>
                  <a:cubicBezTo>
                    <a:pt x="0" y="45466"/>
                    <a:pt x="45466" y="0"/>
                    <a:pt x="101600" y="0"/>
                  </a:cubicBezTo>
                  <a:close/>
                </a:path>
              </a:pathLst>
            </a:custGeom>
            <a:solidFill>
              <a:srgbClr val="7C83FF"/>
            </a:solidFill>
          </p:spPr>
          <p:txBody>
            <a:bodyPr/>
            <a:lstStyle/>
            <a:p>
              <a:endParaRPr lang="ko-KR" altLang="en-US"/>
            </a:p>
          </p:txBody>
        </p:sp>
      </p:grpSp>
      <p:grpSp>
        <p:nvGrpSpPr>
          <p:cNvPr id="30" name="Group 30"/>
          <p:cNvGrpSpPr/>
          <p:nvPr/>
        </p:nvGrpSpPr>
        <p:grpSpPr>
          <a:xfrm>
            <a:off x="16992600" y="2535174"/>
            <a:ext cx="152400" cy="152400"/>
            <a:chOff x="0" y="0"/>
            <a:chExt cx="203200" cy="203200"/>
          </a:xfrm>
        </p:grpSpPr>
        <p:sp>
          <p:nvSpPr>
            <p:cNvPr id="31" name="Freeform 31"/>
            <p:cNvSpPr/>
            <p:nvPr/>
          </p:nvSpPr>
          <p:spPr>
            <a:xfrm>
              <a:off x="0" y="0"/>
              <a:ext cx="203200" cy="203200"/>
            </a:xfrm>
            <a:custGeom>
              <a:avLst/>
              <a:gdLst/>
              <a:ahLst/>
              <a:cxnLst/>
              <a:rect l="l" t="t" r="r" b="b"/>
              <a:pathLst>
                <a:path w="203200" h="203200">
                  <a:moveTo>
                    <a:pt x="101600" y="0"/>
                  </a:moveTo>
                  <a:cubicBezTo>
                    <a:pt x="157734" y="0"/>
                    <a:pt x="203200" y="45466"/>
                    <a:pt x="203200" y="101600"/>
                  </a:cubicBezTo>
                  <a:cubicBezTo>
                    <a:pt x="203200" y="157734"/>
                    <a:pt x="157734" y="203200"/>
                    <a:pt x="101600" y="203200"/>
                  </a:cubicBezTo>
                  <a:cubicBezTo>
                    <a:pt x="45466" y="203200"/>
                    <a:pt x="0" y="157734"/>
                    <a:pt x="0" y="101600"/>
                  </a:cubicBezTo>
                  <a:cubicBezTo>
                    <a:pt x="0" y="45466"/>
                    <a:pt x="45466" y="0"/>
                    <a:pt x="101600" y="0"/>
                  </a:cubicBezTo>
                  <a:close/>
                </a:path>
              </a:pathLst>
            </a:custGeom>
            <a:solidFill>
              <a:srgbClr val="7C83FF"/>
            </a:solidFill>
          </p:spPr>
          <p:txBody>
            <a:bodyPr/>
            <a:lstStyle/>
            <a:p>
              <a:endParaRPr lang="ko-KR" altLang="en-US"/>
            </a:p>
          </p:txBody>
        </p:sp>
      </p:grpSp>
      <p:sp>
        <p:nvSpPr>
          <p:cNvPr id="32" name="Freeform 32"/>
          <p:cNvSpPr/>
          <p:nvPr/>
        </p:nvSpPr>
        <p:spPr>
          <a:xfrm>
            <a:off x="1923971" y="5773674"/>
            <a:ext cx="3031705" cy="4042273"/>
          </a:xfrm>
          <a:custGeom>
            <a:avLst/>
            <a:gdLst/>
            <a:ahLst/>
            <a:cxnLst/>
            <a:rect l="l" t="t" r="r" b="b"/>
            <a:pathLst>
              <a:path w="3031705" h="4042273">
                <a:moveTo>
                  <a:pt x="0" y="0"/>
                </a:moveTo>
                <a:lnTo>
                  <a:pt x="3031704" y="0"/>
                </a:lnTo>
                <a:lnTo>
                  <a:pt x="3031704" y="4042273"/>
                </a:lnTo>
                <a:lnTo>
                  <a:pt x="0" y="4042273"/>
                </a:lnTo>
                <a:lnTo>
                  <a:pt x="0" y="0"/>
                </a:lnTo>
                <a:close/>
              </a:path>
            </a:pathLst>
          </a:custGeom>
          <a:blipFill>
            <a:blip r:embed="rId3"/>
            <a:stretch>
              <a:fillRect/>
            </a:stretch>
          </a:blipFill>
        </p:spPr>
        <p:txBody>
          <a:bodyPr/>
          <a:lstStyle/>
          <a:p>
            <a:endParaRPr lang="ko-KR" altLang="en-US"/>
          </a:p>
        </p:txBody>
      </p:sp>
      <p:sp>
        <p:nvSpPr>
          <p:cNvPr id="33" name="Freeform 33"/>
          <p:cNvSpPr/>
          <p:nvPr/>
        </p:nvSpPr>
        <p:spPr>
          <a:xfrm>
            <a:off x="5303520" y="5773674"/>
            <a:ext cx="2972131" cy="4042273"/>
          </a:xfrm>
          <a:custGeom>
            <a:avLst/>
            <a:gdLst/>
            <a:ahLst/>
            <a:cxnLst/>
            <a:rect l="l" t="t" r="r" b="b"/>
            <a:pathLst>
              <a:path w="2972131" h="4042273">
                <a:moveTo>
                  <a:pt x="0" y="0"/>
                </a:moveTo>
                <a:lnTo>
                  <a:pt x="2972131" y="0"/>
                </a:lnTo>
                <a:lnTo>
                  <a:pt x="2972131" y="4042273"/>
                </a:lnTo>
                <a:lnTo>
                  <a:pt x="0" y="4042273"/>
                </a:lnTo>
                <a:lnTo>
                  <a:pt x="0" y="0"/>
                </a:lnTo>
                <a:close/>
              </a:path>
            </a:pathLst>
          </a:custGeom>
          <a:blipFill>
            <a:blip r:embed="rId4"/>
            <a:stretch>
              <a:fillRect l="-1002" r="-1002"/>
            </a:stretch>
          </a:blipFill>
        </p:spPr>
        <p:txBody>
          <a:bodyPr/>
          <a:lstStyle/>
          <a:p>
            <a:endParaRPr lang="ko-KR" altLang="en-US"/>
          </a:p>
        </p:txBody>
      </p:sp>
      <p:sp>
        <p:nvSpPr>
          <p:cNvPr id="34" name="TextBox 34"/>
          <p:cNvSpPr txBox="1"/>
          <p:nvPr/>
        </p:nvSpPr>
        <p:spPr>
          <a:xfrm>
            <a:off x="1142999" y="885825"/>
            <a:ext cx="1247775" cy="262829"/>
          </a:xfrm>
          <a:prstGeom prst="rect">
            <a:avLst/>
          </a:prstGeom>
        </p:spPr>
        <p:txBody>
          <a:bodyPr wrap="square" lIns="0" tIns="0" rIns="0" bIns="0" rtlCol="0" anchor="t">
            <a:spAutoFit/>
          </a:bodyPr>
          <a:lstStyle/>
          <a:p>
            <a:pPr algn="l">
              <a:lnSpc>
                <a:spcPts val="2204"/>
              </a:lnSpc>
            </a:pPr>
            <a:r>
              <a:rPr lang="en-US" sz="1575" b="1" spc="225" dirty="0">
                <a:solidFill>
                  <a:srgbClr val="6B7099"/>
                </a:solidFill>
                <a:latin typeface="IBM Plex Mono Medium"/>
                <a:ea typeface="IBM Plex Mono Medium"/>
                <a:cs typeface="IBM Plex Mono Medium"/>
                <a:sym typeface="IBM Plex Mono Medium"/>
              </a:rPr>
              <a:t>09</a:t>
            </a:r>
          </a:p>
        </p:txBody>
      </p:sp>
      <p:sp>
        <p:nvSpPr>
          <p:cNvPr id="35" name="TextBox 35"/>
          <p:cNvSpPr txBox="1"/>
          <p:nvPr/>
        </p:nvSpPr>
        <p:spPr>
          <a:xfrm>
            <a:off x="2145030" y="885825"/>
            <a:ext cx="4895910" cy="262829"/>
          </a:xfrm>
          <a:prstGeom prst="rect">
            <a:avLst/>
          </a:prstGeom>
        </p:spPr>
        <p:txBody>
          <a:bodyPr wrap="square" lIns="0" tIns="0" rIns="0" bIns="0" rtlCol="0" anchor="t">
            <a:spAutoFit/>
          </a:bodyPr>
          <a:lstStyle/>
          <a:p>
            <a:pPr algn="l">
              <a:lnSpc>
                <a:spcPts val="2204"/>
              </a:lnSpc>
            </a:pPr>
            <a:r>
              <a:rPr lang="en-US" sz="1575" b="1" spc="225" dirty="0">
                <a:solidFill>
                  <a:srgbClr val="9AA0FF"/>
                </a:solidFill>
                <a:latin typeface="IBM Plex Mono Medium"/>
                <a:ea typeface="IBM Plex Mono Medium"/>
                <a:cs typeface="IBM Plex Mono Medium"/>
                <a:sym typeface="IBM Plex Mono Medium"/>
              </a:rPr>
              <a:t>TIMELINE &amp; CONTRIBUTIONS</a:t>
            </a:r>
          </a:p>
        </p:txBody>
      </p:sp>
      <p:sp>
        <p:nvSpPr>
          <p:cNvPr id="36" name="TextBox 36"/>
          <p:cNvSpPr txBox="1"/>
          <p:nvPr/>
        </p:nvSpPr>
        <p:spPr>
          <a:xfrm>
            <a:off x="1142999" y="1447799"/>
            <a:ext cx="7680865" cy="538609"/>
          </a:xfrm>
          <a:prstGeom prst="rect">
            <a:avLst/>
          </a:prstGeom>
        </p:spPr>
        <p:txBody>
          <a:bodyPr wrap="square" lIns="0" tIns="0" rIns="0" bIns="0" rtlCol="0" anchor="t">
            <a:spAutoFit/>
          </a:bodyPr>
          <a:lstStyle/>
          <a:p>
            <a:pPr algn="l">
              <a:lnSpc>
                <a:spcPts val="4212"/>
              </a:lnSpc>
            </a:pPr>
            <a:r>
              <a:rPr lang="en-US" sz="4050" b="1" spc="-121" dirty="0">
                <a:solidFill>
                  <a:srgbClr val="EEF0FF"/>
                </a:solidFill>
                <a:latin typeface="IBM Plex Sans Bold"/>
                <a:ea typeface="IBM Plex Sans Bold"/>
                <a:cs typeface="IBM Plex Sans Bold"/>
                <a:sym typeface="IBM Plex Sans Bold"/>
              </a:rPr>
              <a:t>Timeline &amp; Contributions</a:t>
            </a:r>
          </a:p>
        </p:txBody>
      </p:sp>
      <p:sp>
        <p:nvSpPr>
          <p:cNvPr id="37" name="TextBox 37"/>
          <p:cNvSpPr txBox="1"/>
          <p:nvPr/>
        </p:nvSpPr>
        <p:spPr>
          <a:xfrm>
            <a:off x="1152525" y="2992373"/>
            <a:ext cx="3190875" cy="202556"/>
          </a:xfrm>
          <a:prstGeom prst="rect">
            <a:avLst/>
          </a:prstGeom>
        </p:spPr>
        <p:txBody>
          <a:bodyPr wrap="square" lIns="0" tIns="0" rIns="0" bIns="0" rtlCol="0" anchor="t">
            <a:spAutoFit/>
          </a:bodyPr>
          <a:lstStyle/>
          <a:p>
            <a:pPr algn="l">
              <a:lnSpc>
                <a:spcPts val="1679"/>
              </a:lnSpc>
            </a:pPr>
            <a:r>
              <a:rPr lang="en-US" sz="1200" dirty="0">
                <a:solidFill>
                  <a:srgbClr val="9AA0FF"/>
                </a:solidFill>
                <a:latin typeface="IBM Plex Mono"/>
                <a:ea typeface="IBM Plex Mono"/>
                <a:cs typeface="IBM Plex Mono"/>
                <a:sym typeface="IBM Plex Mono"/>
              </a:rPr>
              <a:t>PHASE 1 (5.11 - 5.24)</a:t>
            </a:r>
          </a:p>
        </p:txBody>
      </p:sp>
      <p:sp>
        <p:nvSpPr>
          <p:cNvPr id="38" name="TextBox 38"/>
          <p:cNvSpPr txBox="1"/>
          <p:nvPr/>
        </p:nvSpPr>
        <p:spPr>
          <a:xfrm>
            <a:off x="1143000" y="3211449"/>
            <a:ext cx="3520345" cy="285750"/>
          </a:xfrm>
          <a:prstGeom prst="rect">
            <a:avLst/>
          </a:prstGeom>
        </p:spPr>
        <p:txBody>
          <a:bodyPr lIns="0" tIns="0" rIns="0" bIns="0" rtlCol="0" anchor="t">
            <a:spAutoFit/>
          </a:bodyPr>
          <a:lstStyle/>
          <a:p>
            <a:pPr algn="l">
              <a:lnSpc>
                <a:spcPts val="2100"/>
              </a:lnSpc>
            </a:pPr>
            <a:r>
              <a:rPr lang="en-US" sz="1500" dirty="0">
                <a:solidFill>
                  <a:srgbClr val="A6ABCE"/>
                </a:solidFill>
                <a:latin typeface="IBM Plex Sans"/>
                <a:ea typeface="IBM Plex Sans"/>
                <a:cs typeface="IBM Plex Sans"/>
                <a:sym typeface="IBM Plex Sans"/>
              </a:rPr>
              <a:t>Data &amp; model design</a:t>
            </a:r>
          </a:p>
        </p:txBody>
      </p:sp>
      <p:sp>
        <p:nvSpPr>
          <p:cNvPr id="39" name="TextBox 39"/>
          <p:cNvSpPr txBox="1"/>
          <p:nvPr/>
        </p:nvSpPr>
        <p:spPr>
          <a:xfrm>
            <a:off x="5303520" y="2992373"/>
            <a:ext cx="3990156" cy="202556"/>
          </a:xfrm>
          <a:prstGeom prst="rect">
            <a:avLst/>
          </a:prstGeom>
        </p:spPr>
        <p:txBody>
          <a:bodyPr wrap="square" lIns="0" tIns="0" rIns="0" bIns="0" rtlCol="0" anchor="t">
            <a:spAutoFit/>
          </a:bodyPr>
          <a:lstStyle/>
          <a:p>
            <a:pPr algn="l">
              <a:lnSpc>
                <a:spcPts val="1679"/>
              </a:lnSpc>
            </a:pPr>
            <a:r>
              <a:rPr lang="en-US" sz="1200" dirty="0">
                <a:solidFill>
                  <a:srgbClr val="9AA0FF"/>
                </a:solidFill>
                <a:latin typeface="IBM Plex Mono"/>
                <a:ea typeface="IBM Plex Mono"/>
                <a:cs typeface="IBM Plex Mono"/>
                <a:sym typeface="IBM Plex Mono"/>
              </a:rPr>
              <a:t>PHASE 2 (5.24~5.31)</a:t>
            </a:r>
          </a:p>
        </p:txBody>
      </p:sp>
      <p:sp>
        <p:nvSpPr>
          <p:cNvPr id="40" name="TextBox 40"/>
          <p:cNvSpPr txBox="1"/>
          <p:nvPr/>
        </p:nvSpPr>
        <p:spPr>
          <a:xfrm>
            <a:off x="5303520" y="3211449"/>
            <a:ext cx="3520345" cy="285750"/>
          </a:xfrm>
          <a:prstGeom prst="rect">
            <a:avLst/>
          </a:prstGeom>
        </p:spPr>
        <p:txBody>
          <a:bodyPr lIns="0" tIns="0" rIns="0" bIns="0" rtlCol="0" anchor="t">
            <a:spAutoFit/>
          </a:bodyPr>
          <a:lstStyle/>
          <a:p>
            <a:pPr algn="l">
              <a:lnSpc>
                <a:spcPts val="2100"/>
              </a:lnSpc>
            </a:pPr>
            <a:r>
              <a:rPr lang="en-US" sz="1500">
                <a:solidFill>
                  <a:srgbClr val="A6ABCE"/>
                </a:solidFill>
                <a:latin typeface="IBM Plex Sans"/>
                <a:ea typeface="IBM Plex Sans"/>
                <a:cs typeface="IBM Plex Sans"/>
                <a:sym typeface="IBM Plex Sans"/>
              </a:rPr>
              <a:t>Training (per-modality models)</a:t>
            </a:r>
          </a:p>
        </p:txBody>
      </p:sp>
      <p:sp>
        <p:nvSpPr>
          <p:cNvPr id="41" name="TextBox 41"/>
          <p:cNvSpPr txBox="1"/>
          <p:nvPr/>
        </p:nvSpPr>
        <p:spPr>
          <a:xfrm>
            <a:off x="10636736" y="2992373"/>
            <a:ext cx="2698264" cy="202556"/>
          </a:xfrm>
          <a:prstGeom prst="rect">
            <a:avLst/>
          </a:prstGeom>
        </p:spPr>
        <p:txBody>
          <a:bodyPr wrap="square" lIns="0" tIns="0" rIns="0" bIns="0" rtlCol="0" anchor="t">
            <a:spAutoFit/>
          </a:bodyPr>
          <a:lstStyle/>
          <a:p>
            <a:pPr algn="l">
              <a:lnSpc>
                <a:spcPts val="1679"/>
              </a:lnSpc>
            </a:pPr>
            <a:r>
              <a:rPr lang="en-US" sz="1200" dirty="0">
                <a:solidFill>
                  <a:srgbClr val="9AA0FF"/>
                </a:solidFill>
                <a:latin typeface="IBM Plex Mono"/>
                <a:ea typeface="IBM Plex Mono"/>
                <a:cs typeface="IBM Plex Mono"/>
                <a:sym typeface="IBM Plex Mono"/>
              </a:rPr>
              <a:t>PHASE 3 (5.24~5.31)</a:t>
            </a:r>
          </a:p>
        </p:txBody>
      </p:sp>
      <p:sp>
        <p:nvSpPr>
          <p:cNvPr id="42" name="TextBox 42"/>
          <p:cNvSpPr txBox="1"/>
          <p:nvPr/>
        </p:nvSpPr>
        <p:spPr>
          <a:xfrm>
            <a:off x="10636736" y="3211449"/>
            <a:ext cx="3520345" cy="285750"/>
          </a:xfrm>
          <a:prstGeom prst="rect">
            <a:avLst/>
          </a:prstGeom>
        </p:spPr>
        <p:txBody>
          <a:bodyPr lIns="0" tIns="0" rIns="0" bIns="0" rtlCol="0" anchor="t">
            <a:spAutoFit/>
          </a:bodyPr>
          <a:lstStyle/>
          <a:p>
            <a:pPr algn="l">
              <a:lnSpc>
                <a:spcPts val="2100"/>
              </a:lnSpc>
            </a:pPr>
            <a:r>
              <a:rPr lang="en-US" sz="1500">
                <a:solidFill>
                  <a:srgbClr val="A6ABCE"/>
                </a:solidFill>
                <a:latin typeface="IBM Plex Sans"/>
                <a:ea typeface="IBM Plex Sans"/>
                <a:cs typeface="IBM Plex Sans"/>
                <a:sym typeface="IBM Plex Sans"/>
              </a:rPr>
              <a:t>App &amp; sensing</a:t>
            </a:r>
          </a:p>
        </p:txBody>
      </p:sp>
      <p:sp>
        <p:nvSpPr>
          <p:cNvPr id="43" name="TextBox 43"/>
          <p:cNvSpPr txBox="1"/>
          <p:nvPr/>
        </p:nvSpPr>
        <p:spPr>
          <a:xfrm>
            <a:off x="13624655" y="2992374"/>
            <a:ext cx="3520345" cy="209550"/>
          </a:xfrm>
          <a:prstGeom prst="rect">
            <a:avLst/>
          </a:prstGeom>
        </p:spPr>
        <p:txBody>
          <a:bodyPr lIns="0" tIns="0" rIns="0" bIns="0" rtlCol="0" anchor="t">
            <a:spAutoFit/>
          </a:bodyPr>
          <a:lstStyle/>
          <a:p>
            <a:pPr algn="r">
              <a:lnSpc>
                <a:spcPts val="1679"/>
              </a:lnSpc>
            </a:pPr>
            <a:r>
              <a:rPr lang="en-US" sz="1200">
                <a:solidFill>
                  <a:srgbClr val="9AA0FF"/>
                </a:solidFill>
                <a:latin typeface="IBM Plex Mono"/>
                <a:ea typeface="IBM Plex Mono"/>
                <a:cs typeface="IBM Plex Mono"/>
                <a:sym typeface="IBM Plex Mono"/>
              </a:rPr>
              <a:t>PHASE 4</a:t>
            </a:r>
          </a:p>
        </p:txBody>
      </p:sp>
      <p:sp>
        <p:nvSpPr>
          <p:cNvPr id="44" name="TextBox 44"/>
          <p:cNvSpPr txBox="1"/>
          <p:nvPr/>
        </p:nvSpPr>
        <p:spPr>
          <a:xfrm>
            <a:off x="13624655" y="3211449"/>
            <a:ext cx="3520345" cy="285750"/>
          </a:xfrm>
          <a:prstGeom prst="rect">
            <a:avLst/>
          </a:prstGeom>
        </p:spPr>
        <p:txBody>
          <a:bodyPr lIns="0" tIns="0" rIns="0" bIns="0" rtlCol="0" anchor="t">
            <a:spAutoFit/>
          </a:bodyPr>
          <a:lstStyle/>
          <a:p>
            <a:pPr algn="r">
              <a:lnSpc>
                <a:spcPts val="2100"/>
              </a:lnSpc>
            </a:pPr>
            <a:r>
              <a:rPr lang="en-US" sz="1500">
                <a:solidFill>
                  <a:srgbClr val="A6ABCE"/>
                </a:solidFill>
                <a:latin typeface="IBM Plex Sans"/>
                <a:ea typeface="IBM Plex Sans"/>
                <a:cs typeface="IBM Plex Sans"/>
                <a:sym typeface="IBM Plex Sans"/>
              </a:rPr>
              <a:t>Optimize &amp; demo</a:t>
            </a:r>
          </a:p>
        </p:txBody>
      </p:sp>
      <p:sp>
        <p:nvSpPr>
          <p:cNvPr id="45" name="TextBox 45"/>
          <p:cNvSpPr txBox="1"/>
          <p:nvPr/>
        </p:nvSpPr>
        <p:spPr>
          <a:xfrm>
            <a:off x="2390775" y="4340161"/>
            <a:ext cx="6237256" cy="400050"/>
          </a:xfrm>
          <a:prstGeom prst="rect">
            <a:avLst/>
          </a:prstGeom>
        </p:spPr>
        <p:txBody>
          <a:bodyPr lIns="0" tIns="0" rIns="0" bIns="0" rtlCol="0" anchor="t">
            <a:spAutoFit/>
          </a:bodyPr>
          <a:lstStyle/>
          <a:p>
            <a:pPr algn="l">
              <a:lnSpc>
                <a:spcPts val="2940"/>
              </a:lnSpc>
            </a:pPr>
            <a:r>
              <a:rPr lang="en-US" sz="2100" b="1">
                <a:solidFill>
                  <a:srgbClr val="EEF0FF"/>
                </a:solidFill>
                <a:latin typeface="IBM Plex Sans Bold"/>
                <a:ea typeface="IBM Plex Sans Bold"/>
                <a:cs typeface="IBM Plex Sans Bold"/>
                <a:sym typeface="IBM Plex Sans Bold"/>
              </a:rPr>
              <a:t>준병</a:t>
            </a:r>
          </a:p>
        </p:txBody>
      </p:sp>
      <p:sp>
        <p:nvSpPr>
          <p:cNvPr id="46" name="TextBox 46"/>
          <p:cNvSpPr txBox="1"/>
          <p:nvPr/>
        </p:nvSpPr>
        <p:spPr>
          <a:xfrm>
            <a:off x="2390775" y="4749737"/>
            <a:ext cx="6591300" cy="541020"/>
          </a:xfrm>
          <a:prstGeom prst="rect">
            <a:avLst/>
          </a:prstGeom>
        </p:spPr>
        <p:txBody>
          <a:bodyPr lIns="0" tIns="0" rIns="0" bIns="0" rtlCol="0" anchor="t">
            <a:spAutoFit/>
          </a:bodyPr>
          <a:lstStyle/>
          <a:p>
            <a:pPr algn="l">
              <a:lnSpc>
                <a:spcPts val="2204"/>
              </a:lnSpc>
            </a:pPr>
            <a:r>
              <a:rPr lang="en-US" sz="1575">
                <a:solidFill>
                  <a:srgbClr val="A6ABCE"/>
                </a:solidFill>
                <a:latin typeface="IBM Plex Sans"/>
                <a:ea typeface="IBM Plex Sans"/>
                <a:cs typeface="IBM Plex Sans"/>
                <a:sym typeface="IBM Plex Sans"/>
              </a:rPr>
              <a:t>App design &amp; engineering — UI, sensing pipeline, on-device inference, data preprocessing (mel-spectrogram, ML kit face detection)</a:t>
            </a:r>
          </a:p>
        </p:txBody>
      </p:sp>
      <p:sp>
        <p:nvSpPr>
          <p:cNvPr id="47" name="TextBox 47"/>
          <p:cNvSpPr txBox="1"/>
          <p:nvPr/>
        </p:nvSpPr>
        <p:spPr>
          <a:xfrm>
            <a:off x="10544175" y="4340161"/>
            <a:ext cx="5350097" cy="400050"/>
          </a:xfrm>
          <a:prstGeom prst="rect">
            <a:avLst/>
          </a:prstGeom>
        </p:spPr>
        <p:txBody>
          <a:bodyPr lIns="0" tIns="0" rIns="0" bIns="0" rtlCol="0" anchor="t">
            <a:spAutoFit/>
          </a:bodyPr>
          <a:lstStyle/>
          <a:p>
            <a:pPr algn="l">
              <a:lnSpc>
                <a:spcPts val="2940"/>
              </a:lnSpc>
            </a:pPr>
            <a:r>
              <a:rPr lang="en-US" sz="2100" b="1">
                <a:solidFill>
                  <a:srgbClr val="EEF0FF"/>
                </a:solidFill>
                <a:latin typeface="IBM Plex Sans Bold"/>
                <a:ea typeface="IBM Plex Sans Bold"/>
                <a:cs typeface="IBM Plex Sans Bold"/>
                <a:sym typeface="IBM Plex Sans Bold"/>
              </a:rPr>
              <a:t>재웅</a:t>
            </a:r>
          </a:p>
        </p:txBody>
      </p:sp>
      <p:sp>
        <p:nvSpPr>
          <p:cNvPr id="48" name="TextBox 48"/>
          <p:cNvSpPr txBox="1"/>
          <p:nvPr/>
        </p:nvSpPr>
        <p:spPr>
          <a:xfrm>
            <a:off x="10544175" y="4749737"/>
            <a:ext cx="5350097" cy="541020"/>
          </a:xfrm>
          <a:prstGeom prst="rect">
            <a:avLst/>
          </a:prstGeom>
        </p:spPr>
        <p:txBody>
          <a:bodyPr lIns="0" tIns="0" rIns="0" bIns="0" rtlCol="0" anchor="t">
            <a:spAutoFit/>
          </a:bodyPr>
          <a:lstStyle/>
          <a:p>
            <a:pPr algn="l">
              <a:lnSpc>
                <a:spcPts val="2204"/>
              </a:lnSpc>
            </a:pPr>
            <a:r>
              <a:rPr lang="en-US" sz="1575">
                <a:solidFill>
                  <a:srgbClr val="A6ABCE"/>
                </a:solidFill>
                <a:latin typeface="IBM Plex Sans"/>
                <a:ea typeface="IBM Plex Sans"/>
                <a:cs typeface="IBM Plex Sans"/>
                <a:sym typeface="IBM Plex Sans"/>
              </a:rPr>
              <a:t>Model Plan &amp; training — per modality, accuracy analysis</a:t>
            </a:r>
          </a:p>
          <a:p>
            <a:pPr algn="l">
              <a:lnSpc>
                <a:spcPts val="2204"/>
              </a:lnSpc>
            </a:pPr>
            <a:r>
              <a:rPr lang="en-US" sz="1575">
                <a:solidFill>
                  <a:srgbClr val="A6ABCE"/>
                </a:solidFill>
                <a:latin typeface="IBM Plex Sans"/>
                <a:ea typeface="IBM Plex Sans"/>
                <a:cs typeface="IBM Plex Sans"/>
                <a:sym typeface="IBM Plex Sans"/>
              </a:rPr>
              <a:t>Optimization -  pruning &amp; quantization.</a:t>
            </a:r>
          </a:p>
        </p:txBody>
      </p:sp>
      <p:sp>
        <p:nvSpPr>
          <p:cNvPr id="49" name="TextBox 49"/>
          <p:cNvSpPr txBox="1"/>
          <p:nvPr/>
        </p:nvSpPr>
        <p:spPr>
          <a:xfrm>
            <a:off x="16939165" y="9563100"/>
            <a:ext cx="79638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10</a:t>
            </a:r>
          </a:p>
        </p:txBody>
      </p:sp>
      <p:sp>
        <p:nvSpPr>
          <p:cNvPr id="50" name="TextBox 50"/>
          <p:cNvSpPr txBox="1"/>
          <p:nvPr/>
        </p:nvSpPr>
        <p:spPr>
          <a:xfrm>
            <a:off x="11139794" y="6954774"/>
            <a:ext cx="4158860" cy="1276985"/>
          </a:xfrm>
          <a:prstGeom prst="rect">
            <a:avLst/>
          </a:prstGeom>
        </p:spPr>
        <p:txBody>
          <a:bodyPr lIns="0" tIns="0" rIns="0" bIns="0" rtlCol="0" anchor="t">
            <a:spAutoFit/>
          </a:bodyPr>
          <a:lstStyle/>
          <a:p>
            <a:pPr algn="ctr">
              <a:lnSpc>
                <a:spcPts val="2589"/>
              </a:lnSpc>
            </a:pPr>
            <a:r>
              <a:rPr lang="en-US" sz="1849">
                <a:solidFill>
                  <a:srgbClr val="FFFFFF"/>
                </a:solidFill>
                <a:latin typeface="IBM Plex Mono"/>
                <a:ea typeface="IBM Plex Mono"/>
                <a:cs typeface="IBM Plex Mono"/>
                <a:sym typeface="IBM Plex Mono"/>
              </a:rPr>
              <a:t>We have collected for 35 participants!</a:t>
            </a:r>
          </a:p>
          <a:p>
            <a:pPr algn="ctr">
              <a:lnSpc>
                <a:spcPts val="2589"/>
              </a:lnSpc>
              <a:spcBef>
                <a:spcPct val="0"/>
              </a:spcBef>
            </a:pPr>
            <a:r>
              <a:rPr lang="en-US" sz="1849">
                <a:solidFill>
                  <a:srgbClr val="FFFFFF"/>
                </a:solidFill>
                <a:latin typeface="IBM Plex Mono"/>
                <a:ea typeface="IBM Plex Mono"/>
                <a:cs typeface="IBM Plex Mono"/>
                <a:sym typeface="IBM Plex Mono"/>
              </a:rPr>
              <a:t>(from class, outdoor, friends, etc)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B0E1C"/>
          </a:solidFill>
        </p:spPr>
        <p:txBody>
          <a:bodyPr/>
          <a:lstStyle/>
          <a:p>
            <a:endParaRPr lang="ko-KR" altLang="en-US"/>
          </a:p>
        </p:txBody>
      </p:sp>
      <p:sp>
        <p:nvSpPr>
          <p:cNvPr id="3" name="TextBox 3"/>
          <p:cNvSpPr txBox="1"/>
          <p:nvPr/>
        </p:nvSpPr>
        <p:spPr>
          <a:xfrm>
            <a:off x="1143000" y="3255931"/>
            <a:ext cx="7299865" cy="848868"/>
          </a:xfrm>
          <a:prstGeom prst="rect">
            <a:avLst/>
          </a:prstGeom>
        </p:spPr>
        <p:txBody>
          <a:bodyPr lIns="0" tIns="0" rIns="0" bIns="0" rtlCol="0" anchor="t">
            <a:spAutoFit/>
          </a:bodyPr>
          <a:lstStyle/>
          <a:p>
            <a:pPr algn="l">
              <a:lnSpc>
                <a:spcPts val="6426"/>
              </a:lnSpc>
            </a:pPr>
            <a:r>
              <a:rPr lang="en-US" sz="6300" b="1" spc="-182">
                <a:solidFill>
                  <a:srgbClr val="EEF0FF"/>
                </a:solidFill>
                <a:latin typeface="IBM Plex Sans Bold"/>
                <a:ea typeface="IBM Plex Sans Bold"/>
                <a:cs typeface="IBM Plex Sans Bold"/>
                <a:sym typeface="IBM Plex Sans Bold"/>
              </a:rPr>
              <a:t>Thank You !</a:t>
            </a:r>
          </a:p>
        </p:txBody>
      </p:sp>
      <p:grpSp>
        <p:nvGrpSpPr>
          <p:cNvPr id="4" name="Group 4"/>
          <p:cNvGrpSpPr/>
          <p:nvPr/>
        </p:nvGrpSpPr>
        <p:grpSpPr>
          <a:xfrm>
            <a:off x="1143000" y="6516719"/>
            <a:ext cx="776288" cy="342900"/>
            <a:chOff x="0" y="0"/>
            <a:chExt cx="1035050" cy="457200"/>
          </a:xfrm>
        </p:grpSpPr>
        <p:sp>
          <p:nvSpPr>
            <p:cNvPr id="5" name="Freeform 5"/>
            <p:cNvSpPr/>
            <p:nvPr/>
          </p:nvSpPr>
          <p:spPr>
            <a:xfrm>
              <a:off x="0" y="0"/>
              <a:ext cx="1035050" cy="457200"/>
            </a:xfrm>
            <a:custGeom>
              <a:avLst/>
              <a:gdLst/>
              <a:ahLst/>
              <a:cxnLst/>
              <a:rect l="l" t="t" r="r" b="b"/>
              <a:pathLst>
                <a:path w="1035050" h="457200">
                  <a:moveTo>
                    <a:pt x="228600" y="0"/>
                  </a:moveTo>
                  <a:lnTo>
                    <a:pt x="806450" y="0"/>
                  </a:lnTo>
                  <a:cubicBezTo>
                    <a:pt x="932688" y="0"/>
                    <a:pt x="1035050" y="102362"/>
                    <a:pt x="1035050" y="228600"/>
                  </a:cubicBezTo>
                  <a:cubicBezTo>
                    <a:pt x="1035050" y="354838"/>
                    <a:pt x="932688" y="457200"/>
                    <a:pt x="806450"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6" name="TextBox 6"/>
            <p:cNvSpPr txBox="1"/>
            <p:nvPr/>
          </p:nvSpPr>
          <p:spPr>
            <a:xfrm>
              <a:off x="0" y="-19050"/>
              <a:ext cx="1035050"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VOICE</a:t>
              </a:r>
            </a:p>
          </p:txBody>
        </p:sp>
      </p:grpSp>
      <p:grpSp>
        <p:nvGrpSpPr>
          <p:cNvPr id="7" name="Group 7"/>
          <p:cNvGrpSpPr/>
          <p:nvPr/>
        </p:nvGrpSpPr>
        <p:grpSpPr>
          <a:xfrm>
            <a:off x="2033588" y="6516719"/>
            <a:ext cx="674465" cy="342900"/>
            <a:chOff x="0" y="0"/>
            <a:chExt cx="899287" cy="457200"/>
          </a:xfrm>
        </p:grpSpPr>
        <p:sp>
          <p:nvSpPr>
            <p:cNvPr id="8" name="Freeform 8"/>
            <p:cNvSpPr/>
            <p:nvPr/>
          </p:nvSpPr>
          <p:spPr>
            <a:xfrm>
              <a:off x="0" y="0"/>
              <a:ext cx="899287" cy="457200"/>
            </a:xfrm>
            <a:custGeom>
              <a:avLst/>
              <a:gdLst/>
              <a:ahLst/>
              <a:cxnLst/>
              <a:rect l="l" t="t" r="r" b="b"/>
              <a:pathLst>
                <a:path w="899287" h="457200">
                  <a:moveTo>
                    <a:pt x="228600" y="0"/>
                  </a:moveTo>
                  <a:lnTo>
                    <a:pt x="670687" y="0"/>
                  </a:lnTo>
                  <a:cubicBezTo>
                    <a:pt x="796925" y="0"/>
                    <a:pt x="899287" y="102362"/>
                    <a:pt x="899287" y="228600"/>
                  </a:cubicBezTo>
                  <a:cubicBezTo>
                    <a:pt x="899287" y="354838"/>
                    <a:pt x="796925" y="457200"/>
                    <a:pt x="670687"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9" name="TextBox 9"/>
            <p:cNvSpPr txBox="1"/>
            <p:nvPr/>
          </p:nvSpPr>
          <p:spPr>
            <a:xfrm>
              <a:off x="0" y="-19050"/>
              <a:ext cx="89928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FACE</a:t>
              </a:r>
            </a:p>
          </p:txBody>
        </p:sp>
      </p:grpSp>
      <p:grpSp>
        <p:nvGrpSpPr>
          <p:cNvPr id="10" name="Group 10"/>
          <p:cNvGrpSpPr/>
          <p:nvPr/>
        </p:nvGrpSpPr>
        <p:grpSpPr>
          <a:xfrm>
            <a:off x="2822353" y="6516719"/>
            <a:ext cx="572548" cy="342900"/>
            <a:chOff x="0" y="0"/>
            <a:chExt cx="763397" cy="457200"/>
          </a:xfrm>
        </p:grpSpPr>
        <p:sp>
          <p:nvSpPr>
            <p:cNvPr id="11" name="Freeform 11"/>
            <p:cNvSpPr/>
            <p:nvPr/>
          </p:nvSpPr>
          <p:spPr>
            <a:xfrm>
              <a:off x="0" y="0"/>
              <a:ext cx="763397" cy="457200"/>
            </a:xfrm>
            <a:custGeom>
              <a:avLst/>
              <a:gdLst/>
              <a:ahLst/>
              <a:cxnLst/>
              <a:rect l="l" t="t" r="r" b="b"/>
              <a:pathLst>
                <a:path w="763397" h="457200">
                  <a:moveTo>
                    <a:pt x="228600" y="0"/>
                  </a:moveTo>
                  <a:lnTo>
                    <a:pt x="534797" y="0"/>
                  </a:lnTo>
                  <a:cubicBezTo>
                    <a:pt x="661035" y="0"/>
                    <a:pt x="763397" y="102362"/>
                    <a:pt x="763397" y="228600"/>
                  </a:cubicBezTo>
                  <a:cubicBezTo>
                    <a:pt x="763397" y="354838"/>
                    <a:pt x="661035" y="457200"/>
                    <a:pt x="534797" y="457200"/>
                  </a:cubicBezTo>
                  <a:lnTo>
                    <a:pt x="228600" y="457200"/>
                  </a:lnTo>
                  <a:cubicBezTo>
                    <a:pt x="102362" y="457200"/>
                    <a:pt x="0" y="354838"/>
                    <a:pt x="0" y="228600"/>
                  </a:cubicBezTo>
                  <a:cubicBezTo>
                    <a:pt x="0" y="102362"/>
                    <a:pt x="102362" y="0"/>
                    <a:pt x="228600" y="0"/>
                  </a:cubicBezTo>
                  <a:close/>
                </a:path>
              </a:pathLst>
            </a:custGeom>
            <a:solidFill>
              <a:srgbClr val="7C83FF">
                <a:alpha val="1569"/>
              </a:srgbClr>
            </a:solidFill>
          </p:spPr>
          <p:txBody>
            <a:bodyPr/>
            <a:lstStyle/>
            <a:p>
              <a:endParaRPr lang="ko-KR" altLang="en-US"/>
            </a:p>
          </p:txBody>
        </p:sp>
        <p:sp>
          <p:nvSpPr>
            <p:cNvPr id="12" name="TextBox 12"/>
            <p:cNvSpPr txBox="1"/>
            <p:nvPr/>
          </p:nvSpPr>
          <p:spPr>
            <a:xfrm>
              <a:off x="0" y="-19050"/>
              <a:ext cx="763397" cy="476250"/>
            </a:xfrm>
            <a:prstGeom prst="rect">
              <a:avLst/>
            </a:prstGeom>
          </p:spPr>
          <p:txBody>
            <a:bodyPr lIns="88900" tIns="88900" rIns="88900" bIns="88900" rtlCol="0" anchor="ctr"/>
            <a:lstStyle/>
            <a:p>
              <a:pPr algn="l">
                <a:lnSpc>
                  <a:spcPts val="1784"/>
                </a:lnSpc>
              </a:pPr>
              <a:r>
                <a:rPr lang="en-US" sz="1275" b="1" spc="36">
                  <a:solidFill>
                    <a:srgbClr val="9AA0FF"/>
                  </a:solidFill>
                  <a:latin typeface="IBM Plex Mono Medium"/>
                  <a:ea typeface="IBM Plex Mono Medium"/>
                  <a:cs typeface="IBM Plex Mono Medium"/>
                  <a:sym typeface="IBM Plex Mono Medium"/>
                </a:rPr>
                <a:t>PPG</a:t>
              </a:r>
            </a:p>
          </p:txBody>
        </p:sp>
      </p:grpSp>
      <p:grpSp>
        <p:nvGrpSpPr>
          <p:cNvPr id="13" name="Group 13"/>
          <p:cNvGrpSpPr/>
          <p:nvPr/>
        </p:nvGrpSpPr>
        <p:grpSpPr>
          <a:xfrm>
            <a:off x="3509200" y="6516719"/>
            <a:ext cx="1184053" cy="342900"/>
            <a:chOff x="0" y="0"/>
            <a:chExt cx="1578737" cy="457200"/>
          </a:xfrm>
        </p:grpSpPr>
        <p:sp>
          <p:nvSpPr>
            <p:cNvPr id="14" name="Freeform 14"/>
            <p:cNvSpPr/>
            <p:nvPr/>
          </p:nvSpPr>
          <p:spPr>
            <a:xfrm>
              <a:off x="0" y="0"/>
              <a:ext cx="1578737" cy="457200"/>
            </a:xfrm>
            <a:custGeom>
              <a:avLst/>
              <a:gdLst/>
              <a:ahLst/>
              <a:cxnLst/>
              <a:rect l="l" t="t" r="r" b="b"/>
              <a:pathLst>
                <a:path w="1578737" h="457200">
                  <a:moveTo>
                    <a:pt x="228600" y="0"/>
                  </a:moveTo>
                  <a:lnTo>
                    <a:pt x="1350137" y="0"/>
                  </a:lnTo>
                  <a:cubicBezTo>
                    <a:pt x="1476375" y="0"/>
                    <a:pt x="1578737" y="102362"/>
                    <a:pt x="1578737" y="228600"/>
                  </a:cubicBezTo>
                  <a:cubicBezTo>
                    <a:pt x="1578737" y="354838"/>
                    <a:pt x="1476375" y="457200"/>
                    <a:pt x="1350137" y="457200"/>
                  </a:cubicBezTo>
                  <a:lnTo>
                    <a:pt x="228600" y="457200"/>
                  </a:lnTo>
                  <a:cubicBezTo>
                    <a:pt x="102362" y="457200"/>
                    <a:pt x="0" y="354838"/>
                    <a:pt x="0" y="228600"/>
                  </a:cubicBezTo>
                  <a:cubicBezTo>
                    <a:pt x="0" y="102362"/>
                    <a:pt x="102362" y="0"/>
                    <a:pt x="228600" y="0"/>
                  </a:cubicBezTo>
                  <a:close/>
                </a:path>
              </a:pathLst>
            </a:custGeom>
            <a:solidFill>
              <a:srgbClr val="FF6B6B">
                <a:alpha val="1569"/>
              </a:srgbClr>
            </a:solidFill>
          </p:spPr>
          <p:txBody>
            <a:bodyPr/>
            <a:lstStyle/>
            <a:p>
              <a:endParaRPr lang="ko-KR" altLang="en-US"/>
            </a:p>
          </p:txBody>
        </p:sp>
        <p:sp>
          <p:nvSpPr>
            <p:cNvPr id="15" name="TextBox 15"/>
            <p:cNvSpPr txBox="1"/>
            <p:nvPr/>
          </p:nvSpPr>
          <p:spPr>
            <a:xfrm>
              <a:off x="0" y="-19050"/>
              <a:ext cx="1578737" cy="476250"/>
            </a:xfrm>
            <a:prstGeom prst="rect">
              <a:avLst/>
            </a:prstGeom>
          </p:spPr>
          <p:txBody>
            <a:bodyPr lIns="88900" tIns="88900" rIns="88900" bIns="88900" rtlCol="0" anchor="ctr"/>
            <a:lstStyle/>
            <a:p>
              <a:pPr algn="l">
                <a:lnSpc>
                  <a:spcPts val="1784"/>
                </a:lnSpc>
              </a:pPr>
              <a:r>
                <a:rPr lang="en-US" sz="1275" b="1" spc="36">
                  <a:solidFill>
                    <a:srgbClr val="FF6B6B"/>
                  </a:solidFill>
                  <a:latin typeface="IBM Plex Mono Medium"/>
                  <a:ea typeface="IBM Plex Mono Medium"/>
                  <a:cs typeface="IBM Plex Mono Medium"/>
                  <a:sym typeface="IBM Plex Mono Medium"/>
                </a:rPr>
                <a:t>DECEPTION</a:t>
              </a:r>
            </a:p>
          </p:txBody>
        </p:sp>
      </p:grpSp>
      <p:grpSp>
        <p:nvGrpSpPr>
          <p:cNvPr id="16" name="Group 16"/>
          <p:cNvGrpSpPr/>
          <p:nvPr/>
        </p:nvGrpSpPr>
        <p:grpSpPr>
          <a:xfrm>
            <a:off x="4807553" y="6516719"/>
            <a:ext cx="1184053" cy="342900"/>
            <a:chOff x="0" y="0"/>
            <a:chExt cx="1578737" cy="457200"/>
          </a:xfrm>
        </p:grpSpPr>
        <p:sp>
          <p:nvSpPr>
            <p:cNvPr id="17" name="Freeform 17"/>
            <p:cNvSpPr/>
            <p:nvPr/>
          </p:nvSpPr>
          <p:spPr>
            <a:xfrm>
              <a:off x="0" y="0"/>
              <a:ext cx="1578737" cy="457200"/>
            </a:xfrm>
            <a:custGeom>
              <a:avLst/>
              <a:gdLst/>
              <a:ahLst/>
              <a:cxnLst/>
              <a:rect l="l" t="t" r="r" b="b"/>
              <a:pathLst>
                <a:path w="1578737" h="457200">
                  <a:moveTo>
                    <a:pt x="228600" y="0"/>
                  </a:moveTo>
                  <a:lnTo>
                    <a:pt x="1350137" y="0"/>
                  </a:lnTo>
                  <a:cubicBezTo>
                    <a:pt x="1476375" y="0"/>
                    <a:pt x="1578737" y="102362"/>
                    <a:pt x="1578737" y="228600"/>
                  </a:cubicBezTo>
                  <a:cubicBezTo>
                    <a:pt x="1578737" y="354838"/>
                    <a:pt x="1476375" y="457200"/>
                    <a:pt x="1350137" y="457200"/>
                  </a:cubicBezTo>
                  <a:lnTo>
                    <a:pt x="228600" y="457200"/>
                  </a:lnTo>
                  <a:cubicBezTo>
                    <a:pt x="102362" y="457200"/>
                    <a:pt x="0" y="354838"/>
                    <a:pt x="0" y="228600"/>
                  </a:cubicBezTo>
                  <a:cubicBezTo>
                    <a:pt x="0" y="102362"/>
                    <a:pt x="102362" y="0"/>
                    <a:pt x="228600" y="0"/>
                  </a:cubicBezTo>
                  <a:close/>
                </a:path>
              </a:pathLst>
            </a:custGeom>
            <a:solidFill>
              <a:srgbClr val="34D39E">
                <a:alpha val="1569"/>
              </a:srgbClr>
            </a:solidFill>
          </p:spPr>
          <p:txBody>
            <a:bodyPr/>
            <a:lstStyle/>
            <a:p>
              <a:endParaRPr lang="ko-KR" altLang="en-US"/>
            </a:p>
          </p:txBody>
        </p:sp>
        <p:sp>
          <p:nvSpPr>
            <p:cNvPr id="18" name="TextBox 18"/>
            <p:cNvSpPr txBox="1"/>
            <p:nvPr/>
          </p:nvSpPr>
          <p:spPr>
            <a:xfrm>
              <a:off x="0" y="-19050"/>
              <a:ext cx="1578737" cy="476250"/>
            </a:xfrm>
            <a:prstGeom prst="rect">
              <a:avLst/>
            </a:prstGeom>
          </p:spPr>
          <p:txBody>
            <a:bodyPr lIns="88900" tIns="88900" rIns="88900" bIns="88900" rtlCol="0" anchor="ctr"/>
            <a:lstStyle/>
            <a:p>
              <a:pPr algn="l">
                <a:lnSpc>
                  <a:spcPts val="1784"/>
                </a:lnSpc>
              </a:pPr>
              <a:r>
                <a:rPr lang="en-US" sz="1275" b="1" spc="36">
                  <a:solidFill>
                    <a:srgbClr val="34D39E"/>
                  </a:solidFill>
                  <a:latin typeface="IBM Plex Mono Medium"/>
                  <a:ea typeface="IBM Plex Mono Medium"/>
                  <a:cs typeface="IBM Plex Mono Medium"/>
                  <a:sym typeface="IBM Plex Mono Medium"/>
                </a:rPr>
                <a:t>ON-DEVICE</a:t>
              </a:r>
            </a:p>
          </p:txBody>
        </p:sp>
      </p:grpSp>
      <p:sp>
        <p:nvSpPr>
          <p:cNvPr id="19" name="TextBox 19"/>
          <p:cNvSpPr txBox="1"/>
          <p:nvPr/>
        </p:nvSpPr>
        <p:spPr>
          <a:xfrm>
            <a:off x="1143000" y="7335869"/>
            <a:ext cx="6496240" cy="281940"/>
          </a:xfrm>
          <a:prstGeom prst="rect">
            <a:avLst/>
          </a:prstGeom>
        </p:spPr>
        <p:txBody>
          <a:bodyPr lIns="0" tIns="0" rIns="0" bIns="0" rtlCol="0" anchor="t">
            <a:spAutoFit/>
          </a:bodyPr>
          <a:lstStyle/>
          <a:p>
            <a:pPr algn="l">
              <a:lnSpc>
                <a:spcPts val="2310"/>
              </a:lnSpc>
            </a:pPr>
            <a:r>
              <a:rPr lang="en-US" sz="1650">
                <a:solidFill>
                  <a:srgbClr val="6B7099"/>
                </a:solidFill>
                <a:latin typeface="IBM Plex Mono"/>
                <a:ea typeface="IBM Plex Mono"/>
                <a:cs typeface="IBM Plex Mono"/>
                <a:sym typeface="IBM Plex Mono"/>
              </a:rPr>
              <a:t>박준병 &amp; 최재웅  ·  MCA Final Presentation</a:t>
            </a:r>
          </a:p>
        </p:txBody>
      </p:sp>
      <p:sp>
        <p:nvSpPr>
          <p:cNvPr id="20" name="AutoShape 20"/>
          <p:cNvSpPr/>
          <p:nvPr/>
        </p:nvSpPr>
        <p:spPr>
          <a:xfrm>
            <a:off x="1143000" y="2760631"/>
            <a:ext cx="438150" cy="19050"/>
          </a:xfrm>
          <a:prstGeom prst="rect">
            <a:avLst/>
          </a:prstGeom>
          <a:solidFill>
            <a:srgbClr val="7C83FF">
              <a:alpha val="69804"/>
            </a:srgbClr>
          </a:solidFill>
        </p:spPr>
        <p:txBody>
          <a:bodyPr/>
          <a:lstStyle/>
          <a:p>
            <a:endParaRPr lang="ko-KR" altLang="en-US"/>
          </a:p>
        </p:txBody>
      </p:sp>
      <p:sp>
        <p:nvSpPr>
          <p:cNvPr id="21" name="TextBox 21"/>
          <p:cNvSpPr txBox="1"/>
          <p:nvPr/>
        </p:nvSpPr>
        <p:spPr>
          <a:xfrm>
            <a:off x="16939165" y="9563100"/>
            <a:ext cx="815435" cy="226729"/>
          </a:xfrm>
          <a:prstGeom prst="rect">
            <a:avLst/>
          </a:prstGeom>
        </p:spPr>
        <p:txBody>
          <a:bodyPr wrap="square" lIns="0" tIns="0" rIns="0" bIns="0" rtlCol="0" anchor="t">
            <a:spAutoFit/>
          </a:bodyPr>
          <a:lstStyle/>
          <a:p>
            <a:pPr algn="l">
              <a:lnSpc>
                <a:spcPts val="1889"/>
              </a:lnSpc>
            </a:pPr>
            <a:r>
              <a:rPr lang="en-US" sz="1350" dirty="0">
                <a:solidFill>
                  <a:srgbClr val="6B7099"/>
                </a:solidFill>
                <a:latin typeface="IBM Plex Mono"/>
                <a:ea typeface="IBM Plex Mono"/>
                <a:cs typeface="IBM Plex Mono"/>
                <a:sym typeface="IBM Plex Mono"/>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2504</Words>
  <Application>Microsoft Office PowerPoint</Application>
  <PresentationFormat>Custom</PresentationFormat>
  <Paragraphs>246</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IBM Plex Mono Medium</vt:lpstr>
      <vt:lpstr>IBM Plex Sans Bold</vt:lpstr>
      <vt:lpstr>Calibri</vt:lpstr>
      <vt:lpstr>Arial</vt:lpstr>
      <vt:lpstr>IBM Plex Mono</vt:lpstr>
      <vt:lpstr>IBM Plex Sans Medium</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Detector Deck</dc:title>
  <cp:lastModifiedBy>재웅 최</cp:lastModifiedBy>
  <cp:revision>11</cp:revision>
  <dcterms:created xsi:type="dcterms:W3CDTF">2006-08-16T00:00:00Z</dcterms:created>
  <dcterms:modified xsi:type="dcterms:W3CDTF">2026-06-01T14:57:06Z</dcterms:modified>
  <dc:identifier>DAHLQtnxUC4</dc:identifier>
</cp:coreProperties>
</file>